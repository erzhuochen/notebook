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8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06" r:id="rId3"/>
    <p:sldId id="360" r:id="rId4"/>
    <p:sldId id="311" r:id="rId5"/>
    <p:sldId id="409" r:id="rId6"/>
    <p:sldId id="410" r:id="rId7"/>
    <p:sldId id="411" r:id="rId8"/>
    <p:sldId id="412" r:id="rId9"/>
    <p:sldId id="413" r:id="rId10"/>
    <p:sldId id="414" r:id="rId11"/>
    <p:sldId id="415" r:id="rId12"/>
  </p:sldIdLst>
  <p:sldSz cx="12192000" cy="6858000"/>
  <p:notesSz cx="6858000" cy="9144000"/>
  <p:custDataLst>
    <p:tags r:id="rId2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89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customXmlProps" Target="../customXml/itemProps8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程序故障分析思路</a:t>
            </a:r>
            <a:endParaRPr kumimoji="0" lang="zh-CN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312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故障诊断系列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43660" y="1773555"/>
            <a:ext cx="9373235" cy="20110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  <a:buAutoNum type="circleNumDbPlain"/>
            </a:pPr>
            <a:r>
              <a:rPr kumimoji="0" lang="zh-CN" sz="2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你是否遇到过一些程序问题，没有一点分析思路，不知从何下手？</a:t>
            </a:r>
            <a:endParaRPr kumimoji="0" lang="zh-CN" sz="2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  <a:buAutoNum type="circleNumDbPlain"/>
            </a:pPr>
            <a:r>
              <a:rPr kumimoji="0" lang="zh-CN" sz="2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有一些</a:t>
            </a:r>
            <a:r>
              <a:rPr lang="zh-CN" sz="24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怀疑的点，又不知如何确认？</a:t>
            </a:r>
            <a:endParaRPr kumimoji="0" lang="zh-CN" sz="2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  <a:buAutoNum type="circleNumDbPlain"/>
            </a:pPr>
            <a:r>
              <a:rPr kumimoji="0" lang="zh-CN" sz="2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想使用诊断工具，但工具繁多，不知道现在该用哪个？</a:t>
            </a:r>
            <a:endParaRPr kumimoji="0" lang="zh-CN" sz="24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15415" y="4436110"/>
            <a:ext cx="9009380" cy="1670050"/>
            <a:chOff x="2229" y="6986"/>
            <a:chExt cx="14188" cy="2630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2229" y="8006"/>
              <a:ext cx="14189" cy="16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</a:pPr>
              <a:r>
                <a:rPr kumimoji="0" lang="zh-CN" sz="2400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故障排查分析，缺少体系化的认识与经验，导致遇到各种问题时，没有方向！</a:t>
              </a:r>
              <a:endParaRPr kumimoji="0" lang="zh-CN" sz="24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4"/>
              </p:custDataLst>
            </p:nvPr>
          </p:nvSpPr>
          <p:spPr>
            <a:xfrm>
              <a:off x="2230" y="6986"/>
              <a:ext cx="4839" cy="1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0" marR="0" indent="0" algn="l" defTabSz="8216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4000" b="1" i="0" u="none" strike="noStrike" cap="none" spc="0" normalizeH="0" baseline="0">
                  <a:ln w="22225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原因</a:t>
              </a:r>
              <a:endParaRPr kumimoji="0" lang="zh-CN" sz="40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696595" y="1618615"/>
            <a:ext cx="10739120" cy="4338320"/>
            <a:chOff x="1097" y="2549"/>
            <a:chExt cx="16912" cy="6832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8170" y="6499"/>
              <a:ext cx="2566" cy="34"/>
            </a:xfrm>
            <a:prstGeom prst="straightConnector1">
              <a:avLst/>
            </a:prstGeom>
            <a:ln w="31750">
              <a:gradFill>
                <a:gsLst>
                  <a:gs pos="0">
                    <a:schemeClr val="accent2">
                      <a:hueOff val="-4200000"/>
                    </a:schemeClr>
                  </a:gs>
                  <a:gs pos="100000">
                    <a:schemeClr val="accent2"/>
                  </a:gs>
                </a:gsLst>
              </a:gradFill>
              <a:headEnd type="arrow" w="med" len="med"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7907" y="5739"/>
              <a:ext cx="966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97" y="2549"/>
              <a:ext cx="16912" cy="6832"/>
              <a:chOff x="1097" y="2549"/>
              <a:chExt cx="16912" cy="6832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097" y="2549"/>
                <a:ext cx="7063" cy="4815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0736" y="2549"/>
                <a:ext cx="7273" cy="489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097" y="7554"/>
                <a:ext cx="7102" cy="170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097" y="8349"/>
                <a:ext cx="1174" cy="10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硬件资源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097" y="6760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0736" y="6844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138" y="2549"/>
                <a:ext cx="5691" cy="330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138" y="5286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jvm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138" y="2559"/>
                <a:ext cx="4740" cy="190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38" y="3874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java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0736" y="2576"/>
                <a:ext cx="6213" cy="334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0736" y="5286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mysql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</p:grp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258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软件技术栈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73175" y="4932680"/>
            <a:ext cx="869950" cy="812800"/>
            <a:chOff x="9033" y="7782"/>
            <a:chExt cx="1370" cy="1280"/>
          </a:xfrm>
        </p:grpSpPr>
        <p:sp>
          <p:nvSpPr>
            <p:cNvPr id="10" name="矩形 9"/>
            <p:cNvSpPr/>
            <p:nvPr/>
          </p:nvSpPr>
          <p:spPr>
            <a:xfrm>
              <a:off x="9033" y="7782"/>
              <a:ext cx="1371" cy="12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033" y="7807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</a:t>
              </a:r>
              <a:endPara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209165" y="4916805"/>
            <a:ext cx="870585" cy="812800"/>
            <a:chOff x="9033" y="7782"/>
            <a:chExt cx="1371" cy="1280"/>
          </a:xfrm>
        </p:grpSpPr>
        <p:sp>
          <p:nvSpPr>
            <p:cNvPr id="14" name="矩形 13"/>
            <p:cNvSpPr/>
            <p:nvPr/>
          </p:nvSpPr>
          <p:spPr>
            <a:xfrm>
              <a:off x="9033" y="7782"/>
              <a:ext cx="1371" cy="12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033" y="7807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45155" y="4932680"/>
            <a:ext cx="870585" cy="812800"/>
            <a:chOff x="9033" y="7782"/>
            <a:chExt cx="1371" cy="1280"/>
          </a:xfrm>
        </p:grpSpPr>
        <p:sp>
          <p:nvSpPr>
            <p:cNvPr id="17" name="矩形 16"/>
            <p:cNvSpPr/>
            <p:nvPr/>
          </p:nvSpPr>
          <p:spPr>
            <a:xfrm>
              <a:off x="9033" y="7782"/>
              <a:ext cx="1371" cy="12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033" y="7807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206240" y="4932680"/>
            <a:ext cx="870585" cy="812800"/>
            <a:chOff x="9033" y="7782"/>
            <a:chExt cx="1371" cy="1280"/>
          </a:xfrm>
        </p:grpSpPr>
        <p:sp>
          <p:nvSpPr>
            <p:cNvPr id="20" name="矩形 19"/>
            <p:cNvSpPr/>
            <p:nvPr/>
          </p:nvSpPr>
          <p:spPr>
            <a:xfrm>
              <a:off x="9033" y="7782"/>
              <a:ext cx="1371" cy="1280"/>
            </a:xfrm>
            <a:prstGeom prst="rect">
              <a:avLst/>
            </a:prstGeom>
          </p:spPr>
          <p:style>
            <a:lnRef idx="2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033" y="7807"/>
              <a:ext cx="1174" cy="54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网络</a:t>
              </a:r>
              <a:endPara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611495" y="3608705"/>
            <a:ext cx="1071880" cy="1025525"/>
            <a:chOff x="8837" y="5683"/>
            <a:chExt cx="1688" cy="1615"/>
          </a:xfrm>
        </p:grpSpPr>
        <p:sp>
          <p:nvSpPr>
            <p:cNvPr id="4" name="圆角矩形 3"/>
            <p:cNvSpPr/>
            <p:nvPr>
              <p:custDataLst>
                <p:tags r:id="rId2"/>
              </p:custDataLst>
            </p:nvPr>
          </p:nvSpPr>
          <p:spPr>
            <a:xfrm>
              <a:off x="8837" y="5683"/>
              <a:ext cx="1688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ngrep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8838" y="6646"/>
              <a:ext cx="1687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tcpdump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633855" y="3956050"/>
            <a:ext cx="3369945" cy="414020"/>
            <a:chOff x="2573" y="6230"/>
            <a:chExt cx="5307" cy="652"/>
          </a:xfrm>
        </p:grpSpPr>
        <p:sp>
          <p:nvSpPr>
            <p:cNvPr id="27" name="圆角矩形 26"/>
            <p:cNvSpPr/>
            <p:nvPr>
              <p:custDataLst>
                <p:tags r:id="rId4"/>
              </p:custDataLst>
            </p:nvPr>
          </p:nvSpPr>
          <p:spPr>
            <a:xfrm>
              <a:off x="2573" y="6230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perf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8" name="圆角矩形 27"/>
            <p:cNvSpPr/>
            <p:nvPr>
              <p:custDataLst>
                <p:tags r:id="rId5"/>
              </p:custDataLst>
            </p:nvPr>
          </p:nvSpPr>
          <p:spPr>
            <a:xfrm>
              <a:off x="4274" y="6230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bcc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6"/>
              </p:custDataLst>
            </p:nvPr>
          </p:nvSpPr>
          <p:spPr>
            <a:xfrm>
              <a:off x="5878" y="6230"/>
              <a:ext cx="2002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bpftrace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406525" y="1888490"/>
            <a:ext cx="2119630" cy="1089660"/>
            <a:chOff x="2215" y="2974"/>
            <a:chExt cx="3338" cy="1716"/>
          </a:xfrm>
        </p:grpSpPr>
        <p:sp>
          <p:nvSpPr>
            <p:cNvPr id="32" name="圆角矩形 31"/>
            <p:cNvSpPr/>
            <p:nvPr>
              <p:custDataLst>
                <p:tags r:id="rId7"/>
              </p:custDataLst>
            </p:nvPr>
          </p:nvSpPr>
          <p:spPr>
            <a:xfrm>
              <a:off x="2215" y="2974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jstack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3" name="圆角矩形 32"/>
            <p:cNvSpPr/>
            <p:nvPr>
              <p:custDataLst>
                <p:tags r:id="rId8"/>
              </p:custDataLst>
            </p:nvPr>
          </p:nvSpPr>
          <p:spPr>
            <a:xfrm>
              <a:off x="4063" y="2974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jmap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7" name="圆角矩形 36"/>
            <p:cNvSpPr/>
            <p:nvPr>
              <p:custDataLst>
                <p:tags r:id="rId9"/>
              </p:custDataLst>
            </p:nvPr>
          </p:nvSpPr>
          <p:spPr>
            <a:xfrm>
              <a:off x="3039" y="4038"/>
              <a:ext cx="1914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arthas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406525" y="5248275"/>
            <a:ext cx="3575685" cy="414020"/>
            <a:chOff x="2215" y="8265"/>
            <a:chExt cx="5631" cy="652"/>
          </a:xfrm>
        </p:grpSpPr>
        <p:sp>
          <p:nvSpPr>
            <p:cNvPr id="39" name="圆角矩形 38"/>
            <p:cNvSpPr/>
            <p:nvPr>
              <p:custDataLst>
                <p:tags r:id="rId10"/>
              </p:custDataLst>
            </p:nvPr>
          </p:nvSpPr>
          <p:spPr>
            <a:xfrm>
              <a:off x="2215" y="8265"/>
              <a:ext cx="935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top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0" name="圆角矩形 39"/>
            <p:cNvSpPr/>
            <p:nvPr>
              <p:custDataLst>
                <p:tags r:id="rId11"/>
              </p:custDataLst>
            </p:nvPr>
          </p:nvSpPr>
          <p:spPr>
            <a:xfrm>
              <a:off x="3599" y="8265"/>
              <a:ext cx="1092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free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1" name="圆角矩形 40"/>
            <p:cNvSpPr/>
            <p:nvPr>
              <p:custDataLst>
                <p:tags r:id="rId12"/>
              </p:custDataLst>
            </p:nvPr>
          </p:nvSpPr>
          <p:spPr>
            <a:xfrm>
              <a:off x="5027" y="8265"/>
              <a:ext cx="1239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iostat</a:t>
              </a:r>
              <a:endPara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2" name="圆角矩形 41"/>
            <p:cNvSpPr/>
            <p:nvPr>
              <p:custDataLst>
                <p:tags r:id="rId13"/>
              </p:custDataLst>
            </p:nvPr>
          </p:nvSpPr>
          <p:spPr>
            <a:xfrm>
              <a:off x="6710" y="8265"/>
              <a:ext cx="1137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iftop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929765" y="3141345"/>
            <a:ext cx="1960880" cy="701040"/>
            <a:chOff x="3039" y="4947"/>
            <a:chExt cx="3088" cy="1104"/>
          </a:xfrm>
        </p:grpSpPr>
        <p:sp>
          <p:nvSpPr>
            <p:cNvPr id="34" name="圆角矩形 33"/>
            <p:cNvSpPr/>
            <p:nvPr>
              <p:custDataLst>
                <p:tags r:id="rId14"/>
              </p:custDataLst>
            </p:nvPr>
          </p:nvSpPr>
          <p:spPr>
            <a:xfrm>
              <a:off x="4637" y="5399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strace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3" name="圆角矩形 42"/>
            <p:cNvSpPr/>
            <p:nvPr>
              <p:custDataLst>
                <p:tags r:id="rId15"/>
              </p:custDataLst>
            </p:nvPr>
          </p:nvSpPr>
          <p:spPr>
            <a:xfrm>
              <a:off x="3039" y="4947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gdb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237730" y="2302510"/>
            <a:ext cx="3369945" cy="1666875"/>
            <a:chOff x="11398" y="3626"/>
            <a:chExt cx="5307" cy="2625"/>
          </a:xfrm>
        </p:grpSpPr>
        <p:sp>
          <p:nvSpPr>
            <p:cNvPr id="45" name="圆角矩形 44"/>
            <p:cNvSpPr/>
            <p:nvPr>
              <p:custDataLst>
                <p:tags r:id="rId16"/>
              </p:custDataLst>
            </p:nvPr>
          </p:nvSpPr>
          <p:spPr>
            <a:xfrm>
              <a:off x="14136" y="5599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strace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6" name="圆角矩形 45"/>
            <p:cNvSpPr/>
            <p:nvPr>
              <p:custDataLst>
                <p:tags r:id="rId17"/>
              </p:custDataLst>
            </p:nvPr>
          </p:nvSpPr>
          <p:spPr>
            <a:xfrm>
              <a:off x="11398" y="4634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perf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7" name="圆角矩形 46"/>
            <p:cNvSpPr/>
            <p:nvPr>
              <p:custDataLst>
                <p:tags r:id="rId18"/>
              </p:custDataLst>
            </p:nvPr>
          </p:nvSpPr>
          <p:spPr>
            <a:xfrm>
              <a:off x="13099" y="4634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bcc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8" name="圆角矩形 47"/>
            <p:cNvSpPr/>
            <p:nvPr>
              <p:custDataLst>
                <p:tags r:id="rId19"/>
              </p:custDataLst>
            </p:nvPr>
          </p:nvSpPr>
          <p:spPr>
            <a:xfrm>
              <a:off x="14703" y="4634"/>
              <a:ext cx="2002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bpftrace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49" name="圆角矩形 48"/>
            <p:cNvSpPr/>
            <p:nvPr>
              <p:custDataLst>
                <p:tags r:id="rId20"/>
              </p:custDataLst>
            </p:nvPr>
          </p:nvSpPr>
          <p:spPr>
            <a:xfrm>
              <a:off x="13115" y="3626"/>
              <a:ext cx="1490" cy="65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gdb</a:t>
              </a:r>
              <a:endParaRPr kumimoji="0" lang="en-US" altLang="zh-CN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922395" y="735330"/>
            <a:ext cx="2918460" cy="2189480"/>
            <a:chOff x="6177" y="1158"/>
            <a:chExt cx="4596" cy="3448"/>
          </a:xfrm>
        </p:grpSpPr>
        <p:grpSp>
          <p:nvGrpSpPr>
            <p:cNvPr id="62" name="组合 61"/>
            <p:cNvGrpSpPr/>
            <p:nvPr/>
          </p:nvGrpSpPr>
          <p:grpSpPr>
            <a:xfrm>
              <a:off x="6177" y="1158"/>
              <a:ext cx="4597" cy="1079"/>
              <a:chOff x="6177" y="1158"/>
              <a:chExt cx="4597" cy="1079"/>
            </a:xfrm>
          </p:grpSpPr>
          <p:sp>
            <p:nvSpPr>
              <p:cNvPr id="58" name="圆角矩形 57"/>
              <p:cNvSpPr/>
              <p:nvPr>
                <p:custDataLst>
                  <p:tags r:id="rId21"/>
                </p:custDataLst>
              </p:nvPr>
            </p:nvSpPr>
            <p:spPr>
              <a:xfrm>
                <a:off x="6539" y="1408"/>
                <a:ext cx="111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ps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59" name="圆角矩形 58"/>
              <p:cNvSpPr/>
              <p:nvPr>
                <p:custDataLst>
                  <p:tags r:id="rId22"/>
                </p:custDataLst>
              </p:nvPr>
            </p:nvSpPr>
            <p:spPr>
              <a:xfrm>
                <a:off x="7907" y="1408"/>
                <a:ext cx="1631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netstat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9600" y="1205"/>
                <a:ext cx="1174" cy="10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软件资源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6177" y="1158"/>
                <a:ext cx="4448" cy="107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cxnSp>
          <p:nvCxnSpPr>
            <p:cNvPr id="63" name="直接箭头连接符 62"/>
            <p:cNvCxnSpPr>
              <a:stCxn id="61" idx="2"/>
            </p:cNvCxnSpPr>
            <p:nvPr/>
          </p:nvCxnSpPr>
          <p:spPr>
            <a:xfrm flipH="1">
              <a:off x="6312" y="2236"/>
              <a:ext cx="2089" cy="2371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70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二种分析视角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96595" y="1618615"/>
            <a:ext cx="4509770" cy="4276090"/>
            <a:chOff x="1097" y="2549"/>
            <a:chExt cx="7102" cy="6734"/>
          </a:xfrm>
        </p:grpSpPr>
        <p:grpSp>
          <p:nvGrpSpPr>
            <p:cNvPr id="50" name="组合 49"/>
            <p:cNvGrpSpPr/>
            <p:nvPr/>
          </p:nvGrpSpPr>
          <p:grpSpPr>
            <a:xfrm rot="0">
              <a:off x="1097" y="2549"/>
              <a:ext cx="7102" cy="6735"/>
              <a:chOff x="1097" y="2549"/>
              <a:chExt cx="7102" cy="6735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097" y="2549"/>
                <a:ext cx="7063" cy="4815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097" y="7554"/>
                <a:ext cx="7102" cy="170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097" y="8688"/>
                <a:ext cx="117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硬件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097" y="6760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138" y="2549"/>
                <a:ext cx="5691" cy="330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138" y="5286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jvm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138" y="2559"/>
                <a:ext cx="4740" cy="190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38" y="3874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java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2005" y="7768"/>
              <a:ext cx="1370" cy="1280"/>
              <a:chOff x="9033" y="7782"/>
              <a:chExt cx="1370" cy="128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3479" y="7743"/>
              <a:ext cx="1371" cy="1280"/>
              <a:chOff x="9033" y="7782"/>
              <a:chExt cx="1371" cy="1280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内存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953" y="7768"/>
              <a:ext cx="1371" cy="1280"/>
              <a:chOff x="9033" y="7782"/>
              <a:chExt cx="1371" cy="1280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磁盘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24" y="7768"/>
              <a:ext cx="1371" cy="1280"/>
              <a:chOff x="9033" y="7782"/>
              <a:chExt cx="1371" cy="128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网络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2573" y="6230"/>
              <a:ext cx="5307" cy="652"/>
              <a:chOff x="2573" y="6230"/>
              <a:chExt cx="5307" cy="652"/>
            </a:xfrm>
          </p:grpSpPr>
          <p:sp>
            <p:nvSpPr>
              <p:cNvPr id="27" name="圆角矩形 26"/>
              <p:cNvSpPr/>
              <p:nvPr>
                <p:custDataLst>
                  <p:tags r:id="rId2"/>
                </p:custDataLst>
              </p:nvPr>
            </p:nvSpPr>
            <p:spPr>
              <a:xfrm>
                <a:off x="2573" y="6230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perf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8" name="圆角矩形 27"/>
              <p:cNvSpPr/>
              <p:nvPr>
                <p:custDataLst>
                  <p:tags r:id="rId3"/>
                </p:custDataLst>
              </p:nvPr>
            </p:nvSpPr>
            <p:spPr>
              <a:xfrm>
                <a:off x="4274" y="6230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bcc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9" name="圆角矩形 28"/>
              <p:cNvSpPr/>
              <p:nvPr>
                <p:custDataLst>
                  <p:tags r:id="rId4"/>
                </p:custDataLst>
              </p:nvPr>
            </p:nvSpPr>
            <p:spPr>
              <a:xfrm>
                <a:off x="5878" y="6230"/>
                <a:ext cx="2002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bpftrace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2215" y="2974"/>
              <a:ext cx="3338" cy="1716"/>
              <a:chOff x="2215" y="2974"/>
              <a:chExt cx="3338" cy="1716"/>
            </a:xfrm>
          </p:grpSpPr>
          <p:sp>
            <p:nvSpPr>
              <p:cNvPr id="32" name="圆角矩形 31"/>
              <p:cNvSpPr/>
              <p:nvPr>
                <p:custDataLst>
                  <p:tags r:id="rId5"/>
                </p:custDataLst>
              </p:nvPr>
            </p:nvSpPr>
            <p:spPr>
              <a:xfrm>
                <a:off x="2215" y="2974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jstack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3" name="圆角矩形 32"/>
              <p:cNvSpPr/>
              <p:nvPr>
                <p:custDataLst>
                  <p:tags r:id="rId6"/>
                </p:custDataLst>
              </p:nvPr>
            </p:nvSpPr>
            <p:spPr>
              <a:xfrm>
                <a:off x="4063" y="2974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jmap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7" name="圆角矩形 36"/>
              <p:cNvSpPr/>
              <p:nvPr>
                <p:custDataLst>
                  <p:tags r:id="rId7"/>
                </p:custDataLst>
              </p:nvPr>
            </p:nvSpPr>
            <p:spPr>
              <a:xfrm>
                <a:off x="3039" y="4038"/>
                <a:ext cx="1914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arthas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2215" y="8265"/>
              <a:ext cx="5631" cy="652"/>
              <a:chOff x="2215" y="8265"/>
              <a:chExt cx="5631" cy="652"/>
            </a:xfrm>
          </p:grpSpPr>
          <p:sp>
            <p:nvSpPr>
              <p:cNvPr id="39" name="圆角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2215" y="8265"/>
                <a:ext cx="935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top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9"/>
                </p:custDataLst>
              </p:nvPr>
            </p:nvSpPr>
            <p:spPr>
              <a:xfrm>
                <a:off x="3599" y="8265"/>
                <a:ext cx="1092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free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1" name="圆角矩形 40"/>
              <p:cNvSpPr/>
              <p:nvPr>
                <p:custDataLst>
                  <p:tags r:id="rId10"/>
                </p:custDataLst>
              </p:nvPr>
            </p:nvSpPr>
            <p:spPr>
              <a:xfrm>
                <a:off x="5027" y="8265"/>
                <a:ext cx="1239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iostat</a:t>
                </a:r>
                <a:endPara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2" name="圆角矩形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6710" y="8265"/>
                <a:ext cx="1137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iftop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3039" y="4947"/>
              <a:ext cx="3088" cy="1104"/>
              <a:chOff x="3039" y="4947"/>
              <a:chExt cx="3088" cy="1104"/>
            </a:xfrm>
          </p:grpSpPr>
          <p:sp>
            <p:nvSpPr>
              <p:cNvPr id="34" name="圆角矩形 33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37" y="5399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strace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3" name="圆角矩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3039" y="4947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gdb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5880100" y="1691005"/>
            <a:ext cx="5466080" cy="4038600"/>
            <a:chOff x="9260" y="2663"/>
            <a:chExt cx="8608" cy="6360"/>
          </a:xfrm>
        </p:grpSpPr>
        <p:sp>
          <p:nvSpPr>
            <p:cNvPr id="3" name="上箭头 2"/>
            <p:cNvSpPr/>
            <p:nvPr/>
          </p:nvSpPr>
          <p:spPr>
            <a:xfrm>
              <a:off x="9260" y="2673"/>
              <a:ext cx="1303" cy="6350"/>
            </a:xfrm>
            <a:prstGeom prst="upArrow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4"/>
              </p:custDataLst>
            </p:nvPr>
          </p:nvSpPr>
          <p:spPr>
            <a:xfrm>
              <a:off x="11074" y="3689"/>
              <a:ext cx="6794" cy="4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</a:pP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自底向上分析，硬件资源使用率如何？如发现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资源占用高。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什么进程占用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什么线程占用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什么代码占用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逐步向上细分资源占用，找到问题根因。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15"/>
              </p:custDataLst>
            </p:nvPr>
          </p:nvSpPr>
          <p:spPr>
            <a:xfrm>
              <a:off x="11074" y="2663"/>
              <a:ext cx="4839" cy="1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0" marR="0" indent="0" algn="l" defTabSz="8216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cap="none" spc="0" normalizeH="0" baseline="0">
                  <a:ln w="22225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资源分析视角</a:t>
              </a:r>
              <a:endPara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816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二种分析视角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96595" y="1618615"/>
            <a:ext cx="4509770" cy="4276090"/>
            <a:chOff x="1097" y="2549"/>
            <a:chExt cx="7102" cy="6734"/>
          </a:xfrm>
        </p:grpSpPr>
        <p:grpSp>
          <p:nvGrpSpPr>
            <p:cNvPr id="50" name="组合 49"/>
            <p:cNvGrpSpPr/>
            <p:nvPr/>
          </p:nvGrpSpPr>
          <p:grpSpPr>
            <a:xfrm rot="0">
              <a:off x="1097" y="2549"/>
              <a:ext cx="7102" cy="6735"/>
              <a:chOff x="1097" y="2549"/>
              <a:chExt cx="7102" cy="6735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097" y="2549"/>
                <a:ext cx="7063" cy="4815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097" y="7554"/>
                <a:ext cx="7102" cy="170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097" y="8688"/>
                <a:ext cx="117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硬件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097" y="6760"/>
                <a:ext cx="161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操作系统</a:t>
                </a: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138" y="2549"/>
                <a:ext cx="5691" cy="330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138" y="5286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jvm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138" y="2559"/>
                <a:ext cx="4740" cy="1907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38" y="3874"/>
                <a:ext cx="1197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java</a:t>
                </a: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2005" y="7768"/>
              <a:ext cx="1370" cy="1280"/>
              <a:chOff x="9033" y="7782"/>
              <a:chExt cx="1370" cy="128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endParaRPr kumimoji="0" lang="en-US" altLang="zh-CN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3479" y="7743"/>
              <a:ext cx="1371" cy="1280"/>
              <a:chOff x="9033" y="7782"/>
              <a:chExt cx="1371" cy="1280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内存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953" y="7768"/>
              <a:ext cx="1371" cy="1280"/>
              <a:chOff x="9033" y="7782"/>
              <a:chExt cx="1371" cy="1280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磁盘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24" y="7768"/>
              <a:ext cx="1371" cy="1280"/>
              <a:chOff x="9033" y="7782"/>
              <a:chExt cx="1371" cy="128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9033" y="7782"/>
                <a:ext cx="1371" cy="12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033" y="7807"/>
                <a:ext cx="1174" cy="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网络</a:t>
                </a:r>
                <a:endParaRPr kumimoji="0" lang="zh-CN" altLang="en-US" sz="16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2573" y="6230"/>
              <a:ext cx="5307" cy="652"/>
              <a:chOff x="2573" y="6230"/>
              <a:chExt cx="5307" cy="652"/>
            </a:xfrm>
          </p:grpSpPr>
          <p:sp>
            <p:nvSpPr>
              <p:cNvPr id="27" name="圆角矩形 26"/>
              <p:cNvSpPr/>
              <p:nvPr>
                <p:custDataLst>
                  <p:tags r:id="rId2"/>
                </p:custDataLst>
              </p:nvPr>
            </p:nvSpPr>
            <p:spPr>
              <a:xfrm>
                <a:off x="2573" y="6230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perf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8" name="圆角矩形 27"/>
              <p:cNvSpPr/>
              <p:nvPr>
                <p:custDataLst>
                  <p:tags r:id="rId3"/>
                </p:custDataLst>
              </p:nvPr>
            </p:nvSpPr>
            <p:spPr>
              <a:xfrm>
                <a:off x="4274" y="6230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bcc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9" name="圆角矩形 28"/>
              <p:cNvSpPr/>
              <p:nvPr>
                <p:custDataLst>
                  <p:tags r:id="rId4"/>
                </p:custDataLst>
              </p:nvPr>
            </p:nvSpPr>
            <p:spPr>
              <a:xfrm>
                <a:off x="5878" y="6230"/>
                <a:ext cx="2002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bpftrace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2215" y="2974"/>
              <a:ext cx="3338" cy="1716"/>
              <a:chOff x="2215" y="2974"/>
              <a:chExt cx="3338" cy="1716"/>
            </a:xfrm>
          </p:grpSpPr>
          <p:sp>
            <p:nvSpPr>
              <p:cNvPr id="32" name="圆角矩形 31"/>
              <p:cNvSpPr/>
              <p:nvPr>
                <p:custDataLst>
                  <p:tags r:id="rId5"/>
                </p:custDataLst>
              </p:nvPr>
            </p:nvSpPr>
            <p:spPr>
              <a:xfrm>
                <a:off x="2215" y="2974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jstack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3" name="圆角矩形 32"/>
              <p:cNvSpPr/>
              <p:nvPr>
                <p:custDataLst>
                  <p:tags r:id="rId6"/>
                </p:custDataLst>
              </p:nvPr>
            </p:nvSpPr>
            <p:spPr>
              <a:xfrm>
                <a:off x="4063" y="2974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jmap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37" name="圆角矩形 36"/>
              <p:cNvSpPr/>
              <p:nvPr>
                <p:custDataLst>
                  <p:tags r:id="rId7"/>
                </p:custDataLst>
              </p:nvPr>
            </p:nvSpPr>
            <p:spPr>
              <a:xfrm>
                <a:off x="3039" y="4038"/>
                <a:ext cx="1914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arthas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2215" y="8265"/>
              <a:ext cx="5631" cy="652"/>
              <a:chOff x="2215" y="8265"/>
              <a:chExt cx="5631" cy="652"/>
            </a:xfrm>
          </p:grpSpPr>
          <p:sp>
            <p:nvSpPr>
              <p:cNvPr id="39" name="圆角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2215" y="8265"/>
                <a:ext cx="935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top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9"/>
                </p:custDataLst>
              </p:nvPr>
            </p:nvSpPr>
            <p:spPr>
              <a:xfrm>
                <a:off x="3599" y="8265"/>
                <a:ext cx="1092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free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1" name="圆角矩形 40"/>
              <p:cNvSpPr/>
              <p:nvPr>
                <p:custDataLst>
                  <p:tags r:id="rId10"/>
                </p:custDataLst>
              </p:nvPr>
            </p:nvSpPr>
            <p:spPr>
              <a:xfrm>
                <a:off x="5027" y="8265"/>
                <a:ext cx="1239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600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iostat</a:t>
                </a:r>
                <a:endParaRPr kumimoji="0" lang="en-US" altLang="zh-CN" sz="16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2" name="圆角矩形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6710" y="8265"/>
                <a:ext cx="1137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iftop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3039" y="4947"/>
              <a:ext cx="3088" cy="1104"/>
              <a:chOff x="3039" y="4947"/>
              <a:chExt cx="3088" cy="1104"/>
            </a:xfrm>
          </p:grpSpPr>
          <p:sp>
            <p:nvSpPr>
              <p:cNvPr id="34" name="圆角矩形 33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37" y="5399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strace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43" name="圆角矩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3039" y="4947"/>
                <a:ext cx="1490" cy="652"/>
              </a:xfrm>
              <a:prstGeom prst="roundRect">
                <a:avLst/>
              </a:prstGeom>
              <a:solidFill>
                <a:srgbClr val="FFB35A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ctr" defTabSz="914400" rtl="0" fontAlgn="ctr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cap="none" spc="0" normalizeH="0" baseline="0">
                    <a:ln>
                      <a:noFill/>
                    </a:ln>
                    <a:solidFill>
                      <a:srgbClr val="222222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gdb</a:t>
                </a:r>
                <a:endParaRPr kumimoji="0" lang="en-US" altLang="zh-CN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5880100" y="1691005"/>
            <a:ext cx="5480050" cy="4038600"/>
            <a:chOff x="9260" y="2663"/>
            <a:chExt cx="8630" cy="6360"/>
          </a:xfrm>
        </p:grpSpPr>
        <p:sp>
          <p:nvSpPr>
            <p:cNvPr id="3" name="上箭头 2"/>
            <p:cNvSpPr/>
            <p:nvPr/>
          </p:nvSpPr>
          <p:spPr>
            <a:xfrm rot="10800000">
              <a:off x="9260" y="2673"/>
              <a:ext cx="1303" cy="6350"/>
            </a:xfrm>
            <a:prstGeom prst="upArrow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4"/>
              </p:custDataLst>
            </p:nvPr>
          </p:nvSpPr>
          <p:spPr>
            <a:xfrm>
              <a:off x="11074" y="3689"/>
              <a:ext cx="6817" cy="4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</a:pP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自顶向下分析，接口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QPS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多少，耗时怎样，有多少报错？</a:t>
              </a: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如发现接口耗时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高。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controller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层耗时高吗？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mapper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层处理耗时高吗？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  <a:buAutoNum type="circleNumDbPlain"/>
              </a:pP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SQL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执行</a:t>
              </a: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耗时高吗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OPlusSans 3.0" panose="00000500000000000000" charset="-122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逐步向下细分时间占用，找到问题根因。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15"/>
              </p:custDataLst>
            </p:nvPr>
          </p:nvSpPr>
          <p:spPr>
            <a:xfrm>
              <a:off x="11074" y="2663"/>
              <a:ext cx="4839" cy="1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0" marR="0" indent="0" algn="l" defTabSz="8216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cap="none" spc="0" normalizeH="0" baseline="0">
                  <a:ln w="22225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负载分析视角</a:t>
              </a:r>
              <a:endPara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826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常规排查思路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6" name="组合 25"/>
          <p:cNvGrpSpPr/>
          <p:nvPr>
            <p:custDataLst>
              <p:tags r:id="rId2"/>
            </p:custDataLst>
          </p:nvPr>
        </p:nvGrpSpPr>
        <p:grpSpPr>
          <a:xfrm>
            <a:off x="1559560" y="2379345"/>
            <a:ext cx="1271270" cy="2907030"/>
            <a:chOff x="2456" y="3747"/>
            <a:chExt cx="2002" cy="4578"/>
          </a:xfrm>
        </p:grpSpPr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2456" y="3747"/>
              <a:ext cx="2002" cy="78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看日志</a:t>
              </a:r>
              <a:endPara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圆角矩形 5"/>
            <p:cNvSpPr/>
            <p:nvPr>
              <p:custDataLst>
                <p:tags r:id="rId4"/>
              </p:custDataLst>
            </p:nvPr>
          </p:nvSpPr>
          <p:spPr>
            <a:xfrm>
              <a:off x="2456" y="5615"/>
              <a:ext cx="2002" cy="78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资源占用</a:t>
              </a:r>
              <a:endPara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3" name="圆角矩形 22"/>
            <p:cNvSpPr/>
            <p:nvPr>
              <p:custDataLst>
                <p:tags r:id="rId5"/>
              </p:custDataLst>
            </p:nvPr>
          </p:nvSpPr>
          <p:spPr>
            <a:xfrm>
              <a:off x="2456" y="7543"/>
              <a:ext cx="2002" cy="782"/>
            </a:xfrm>
            <a:prstGeom prst="roundRect">
              <a:avLst/>
            </a:prstGeom>
            <a:solidFill>
              <a:srgbClr val="FFB35A"/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ctr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排查工具</a:t>
              </a:r>
              <a:endPara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4" name="上箭头 23"/>
            <p:cNvSpPr/>
            <p:nvPr>
              <p:custDataLst>
                <p:tags r:id="rId6"/>
              </p:custDataLst>
            </p:nvPr>
          </p:nvSpPr>
          <p:spPr>
            <a:xfrm rot="10800000">
              <a:off x="3090" y="4641"/>
              <a:ext cx="673" cy="862"/>
            </a:xfrm>
            <a:prstGeom prst="upArrow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25" name="上箭头 24"/>
            <p:cNvSpPr/>
            <p:nvPr>
              <p:custDataLst>
                <p:tags r:id="rId7"/>
              </p:custDataLst>
            </p:nvPr>
          </p:nvSpPr>
          <p:spPr>
            <a:xfrm rot="10800000">
              <a:off x="3090" y="6523"/>
              <a:ext cx="673" cy="862"/>
            </a:xfrm>
            <a:prstGeom prst="upArrow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8"/>
            </p:custDataLst>
          </p:nvPr>
        </p:nvSpPr>
        <p:spPr>
          <a:xfrm>
            <a:off x="3648075" y="2061210"/>
            <a:ext cx="7416165" cy="972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有时各种高级命令分析半天，最后发现日志中早以反映出问题原因了，所以第一步一定是看日志。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4" name="文本框 43"/>
          <p:cNvSpPr txBox="1"/>
          <p:nvPr>
            <p:custDataLst>
              <p:tags r:id="rId9"/>
            </p:custDataLst>
          </p:nvPr>
        </p:nvSpPr>
        <p:spPr>
          <a:xfrm>
            <a:off x="3719830" y="3130550"/>
            <a:ext cx="7416165" cy="13728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检查资源占用，如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、内存等，在资源不足的情况下，任何问题出现都是自然的。同时，了解资源占用情况，也有助于确定问题排查视角，是基于资源视角自下向上排查，还是负载视角自上而下排查。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3719830" y="4551680"/>
            <a:ext cx="7416165" cy="972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根据问题线索，使用合适工具，一步步定位问题原因，如接口响应慢可使用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命令逐层检查。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350"/>
            <a:ext cx="10640060" cy="9391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诊断工具分类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839470" y="2348865"/>
            <a:ext cx="1640205" cy="49657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用户态工具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767715" y="4437380"/>
            <a:ext cx="1640205" cy="49657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内核态工具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4"/>
            </p:custDataLst>
          </p:nvPr>
        </p:nvSpPr>
        <p:spPr>
          <a:xfrm>
            <a:off x="695325" y="1341120"/>
            <a:ext cx="3072765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按程序态分类</a:t>
            </a:r>
            <a:endParaRPr kumimoji="0" lang="zh-CN" sz="3600" b="1" i="0" u="none" strike="noStrike" cap="none" spc="0" normalizeH="0" baseline="0">
              <a:ln w="22225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767715" y="3068955"/>
            <a:ext cx="4025900" cy="7785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jstack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等，分析程序在用户态下运行情况。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67715" y="5157470"/>
            <a:ext cx="3749040" cy="7899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perf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等，分析系统内核态下运行情况。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圆角矩形 8"/>
          <p:cNvSpPr/>
          <p:nvPr>
            <p:custDataLst>
              <p:tags r:id="rId7"/>
            </p:custDataLst>
          </p:nvPr>
        </p:nvSpPr>
        <p:spPr>
          <a:xfrm>
            <a:off x="6384290" y="2125980"/>
            <a:ext cx="1076325" cy="49657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指标类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8"/>
            </p:custDataLst>
          </p:nvPr>
        </p:nvSpPr>
        <p:spPr>
          <a:xfrm>
            <a:off x="6377305" y="3371215"/>
            <a:ext cx="1083310" cy="49657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剖析类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240145" y="1341120"/>
            <a:ext cx="3072765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按作用分类</a:t>
            </a:r>
            <a:endParaRPr kumimoji="0" lang="zh-CN" sz="3600" b="1" i="0" u="none" strike="noStrike" cap="none" spc="0" normalizeH="0" baseline="0">
              <a:ln w="22225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312535" y="2630805"/>
            <a:ext cx="5763895" cy="480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iostat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等，它们只能反映一些概况指标。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312535" y="3947160"/>
            <a:ext cx="5191760" cy="657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jstack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jmap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等，它们能查看一些程序内部状态数据，如线程情况、对象分布。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圆角矩形 13"/>
          <p:cNvSpPr/>
          <p:nvPr>
            <p:custDataLst>
              <p:tags r:id="rId12"/>
            </p:custDataLst>
          </p:nvPr>
        </p:nvSpPr>
        <p:spPr>
          <a:xfrm>
            <a:off x="6384290" y="4954270"/>
            <a:ext cx="1083310" cy="49657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追踪类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312535" y="5530215"/>
            <a:ext cx="5191760" cy="6572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lusSans 3.0" panose="00000500000000000000" charset="-122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</a:t>
            </a: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等，它们能追踪程序每一个事件，如调用参数、数据包内容等。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5448300" y="1412240"/>
            <a:ext cx="23495" cy="5064760"/>
          </a:xfrm>
          <a:prstGeom prst="line">
            <a:avLst/>
          </a:prstGeom>
          <a:ln w="31750" cap="rnd">
            <a:solidFill>
              <a:schemeClr val="accent4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60350"/>
            <a:ext cx="10640060" cy="9963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诊断工具分类图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83615" y="2132965"/>
          <a:ext cx="9626600" cy="3352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18615"/>
                <a:gridCol w="3453765"/>
                <a:gridCol w="4554220"/>
              </a:tblGrid>
              <a:tr h="391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诊断工具</a:t>
                      </a:r>
                      <a:endParaRPr lang="zh-CN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用户态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内核态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指标类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ps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netstat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arthas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top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free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iostat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iftop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sar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321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剖析类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jstack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jmap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arthas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gdb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perf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bcc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追踪类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arthas</a:t>
                      </a:r>
                      <a:r>
                        <a:rPr lang="zh-CN" altLang="en-US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gdb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perf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bcc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bpftrace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tcpdump</a:t>
                      </a:r>
                      <a:endParaRPr lang="en-US" altLang="zh-CN" sz="28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88595"/>
            <a:ext cx="10640060" cy="7200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故障定位系列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1BCC2C28-871D-48CB-8BE0-2867F7803ADB-1" descr="C:/Users/meng/AppData/Local/Temp/导图1(6).png导图1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15" y="828040"/>
            <a:ext cx="10344150" cy="5848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DIAGRAM_VIRTUALLY_FRAME" val="{&quot;height&quot;:272.65,&quot;left&quot;:122.8,&quot;top&quot;:162.3,&quot;width&quot;:754.05}"/>
</p:tagLst>
</file>

<file path=ppt/tags/tag64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65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67.xml><?xml version="1.0" encoding="utf-8"?>
<p:tagLst xmlns:p="http://schemas.openxmlformats.org/presentationml/2006/main">
  <p:tag name="KSO_WM_DIAGRAM_VIRTUALLY_FRAME" val="{&quot;height&quot;:272.65,&quot;left&quot;:122.8,&quot;top&quot;:162.3,&quot;width&quot;:754.05}"/>
</p:tagLst>
</file>

<file path=ppt/tags/tag68.xml><?xml version="1.0" encoding="utf-8"?>
<p:tagLst xmlns:p="http://schemas.openxmlformats.org/presentationml/2006/main">
  <p:tag name="KSO_WM_DIAGRAM_VIRTUALLY_FRAME" val="{&quot;height&quot;:272.65,&quot;left&quot;:122.8,&quot;top&quot;:162.3,&quot;width&quot;:754.05}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72.65,&quot;left&quot;:122.8,&quot;top&quot;:162.3,&quot;width&quot;:754.05}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ABLE_ENDDRAG_ORIGIN_RECT" val="682*303"/>
  <p:tag name="TABLE_ENDDRAG_RECT" val="59*218*682*303"/>
</p:tagLst>
</file>

<file path=ppt/tags/tag87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OPlusSans 3.0"/>
        <a:cs typeface="OPlusSans 3.0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OPlusSans 3.0"/>
        <a:cs typeface="OPlusSans 3.0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SHBSTlZtcmhxZmx0Z0VBQURZRUFBQU1BQUFBWkc5amRXMWxiblF1ZUcxc2ZWUmRUK013RUh4SDRqOUVlVS9ybU9hcnBDQkVSVUhpQUtubGVONUx0b2xwWWtldUExUW4vanVPb1VmcmhrdWtLTm1aM2JGMzFrblAzK3JLZVVHNVpvSlBYSDlBWEFkNUpuTEdpNG43dUxqeVl2Zjg3UGdvbllxc3JaRXI1L2MvTGhuRUE5OTFOTEliSXlZeWExaytjZi82T1lFL0FRMjhPQVB3UmdrZGVVa0c2SkVveXNNRUtDQU4zMTFkMzlGWCtpQkZnMUl4WEg5RlRQU2lWZUlXTnFMVjJsckJIZTZDQzFaanhUZytzVnlWQmllRTdGTXVvYXAwOG84bDVxVjRuVW5STm5kUVl3OCtiWmlKRG9MOStFV20yQXZlOEJ6Zk90eFNuV2NTa1g4dkt5SlJIK0VhV1ZHYVZTV2hWZUdoQXJVVXN1N0FWOGIzd1YvYW9lWG12NVJMaWFBdy8vTG1zemZHc1VPV2tCMjhyRkgycURBMHFEYS82QldZNmtkSG9FUzdTMEtQSm80ZmpFZkJtQWE5MWF5RXhLTys0NU94NzQ4RGFuVUFDbHgzekVhL1dMV2cwZVVzdTlMaHdRU2xNK0JLM1RkS3QyQTMvMG5JMVJRMkp2OTBlNU5UWXFzOEM3bGcyYXJqblZnWTQ5K1liYjRDcWJiYnRMQXJ4dG02L0FFMGlkMU1tLzdFc1QzTG44bGJRaENGTnVHUk03VjdGaXpIU3VBRm1wWHZpNmZEd3o3cDNjdlZ2RVJVSFNzZGJ2OEErdU1EVUVzREJCUUFBQUFJQUZOL0NsbmJybm9KNkE4QUFEUVNBQUFJQUFBQWJXMHVZbXRwZDJrMWw0VjI4Z3pYYlhHWEFpM3VFWUlUQWlHQlFBanVKVGdVcVVJTExWS2grcnk5OWIvZk9PUGN3aHg3cnpYWGxRbjJlK3pNZWRheCtiaGZuNVFqNzFFTjRuZVdzbm5DQjBGdHBsQ3QrR0JWd0I5bkc4ejMyc1hsRVllanBBWkgxdEg3dS9JcUhaR3J4TkYvT0JaMHMvNFJneE9yK0Q0OUgyU09qVUZaYVRzV0prOU80a3pDd1hGL2ZuQ2FUbGVmYWhNSkpRUXN6NVgrV3FQaGVXVmpremhYMmQ0UlNJWkQxOG12cUhtNDBIb2JtOUc0bVVLSDBsZTRjSVVwamI1UzVEMVhGempCcVJWVVhEWHBUaXdiRkFSUHpTTEl1Ti9kMERDUTVicFUrNGQ2MkY3d3l3SUp6V09YS0p0VGhwRVo0MnFhMDl0WVN1K1lubHBHRlNJNWduaTJoQ2hyT29tTDlJdnh3Ujk5a3hTd0dTZDl3R3NwdU9scWRkZHR5cEJoSyt5NWhHSUZRSDVHZkZva1phV25UOVNZdnBNbmdWRkl5L29hdW1PVmpaZy9EczBubTloTkRlYitWVjl2cjMvdUc3cFBacE8xSnRZUFI1ZzYydVVBWEt3VTFKaDdmeDFiVFFSK2VnMTJyaTdpTmI1ZzhBZjBjZEMxVXdheTJzZzFwVUhxVkNRK2JEZVBpcTJIOVllaFlxR0ErRlBNZ01pR29KUTh5QStsbUU0eHIyUjkrbU5xZjlEQnM2WE1jNzh1WHhHVUZFSDJyMWdrcTlnNVJyM08vQVJGSnhlejJMSFdpUW4xV3Zka1Y2N3dWZXBKMjErSWZYdnhFQzg4Zm13ZnZIb3gyVjh4YnpJZk5kTHhIeXJMbTJxSTBvS2hBb0I5UjFGOXFDY0F4dFY2KzFsRXRYd2lzZDRnUU1pM1hNUHVEa1hlWHovbmdWSW5oalc0Zmlzdnd4YjJkN3loTWpUZHNsK3ZnTkVQVHNKaG45K2lkQk9GT3BmUGZNNTI3NW1nZmt4cDBZblFFcW1qSkdZbTlDamFzckNUM2ZPL2lMMjFITnR5YUluVE9pWnFjYmhCT1ExR3dLTnU5Wm85NUJSOXQwT0JNUEg3ZVpVM3VnYU44ejc3YUZlYkl6NTk3TWxsc2hBUWVyVS9JVVR4Vkpvb2pQM1hnemVWVzI4VnVEN1BOMW5lWEttZ3ZKdm80WmFtd0ZCSVk3Zi84Yi91S0h4NElBZmZCTVpwbUQ4Tm5JMGNnOXE2SzRPUVlEQVRDQ1J6aDgyUm8wNWlXVXMvTjJhYkFzenBjbm9OUTh5SnBIUE14dTBoMlJ6emNlRlhtV3I3MTMybE9oYi9qLy95LzkzL0FZK2hZVFo4Y2RITm5hSjRKOUdIakFpdloxWHE0ckhIYk8yb3NCWW1VOG4rNDN6VXNnR0FvdjFUZjlhQUpCY2pYWTJaLzFjekF2bE9aekF1c3Fzai83Q1A0a0lUYndmWjluazJ3QktHZ2s4Y01VUmV6c2x2NVE1TGhtWm5yMThvMlBuamZ5NEFOTVpZQnQvZjNLVFU0RUtlVU8yZnptOURJeUlkcEN4U3gwK3Blbjh6ZFZBcE94TGovdXJlYjdCYlN4cHJQSTB4eW1iRHcxdDJZVFV4U21Qcll1Wjg3cUhicW1NQVJQUE9mc21XNW9FYVgwd2FJUzM5MkM3akdkRmZIN3FwUGR5YmlZVHNZMy9pOUR1a2VNT3RFb3piNkNXRzIvbDA3RXc2NkxmdWVoOWNJaVVrWlovVlRaNHpVQ25lbHBzRW4rZXpjV3VsWlE4NTQxODZDcHpTZU8zbmNtcDREeWE2YWZ4cHMyanZSR1lhaGtJV2VkeHZXVjBmdGhhSmMrb1pCMHhzbzFSQ1F5RElaY09uMVd5dWJnTURnYi84Mlo4SFJiejIvbnVmTGZkNUFZNngvRmpyV1BXaWdlYVpSZUY2UXh0TGZrV3VGNm5CMUdGM1EvSDFsd09ZYk1wMXU0TGZqVHNaWEE2aVFibVpVTVZGOWZsTHhVNXFyUXFFL3JCcmU5VHVxdUVrT1gvOGY3RVhkc3dKTnphOWNaT0l0ZU9hbjRBeVpqajJ5MGxLYzMrV2dncVlSYjhBMlE1R2VvUmFnOEFOT0UzYUcyS2RiOXZFV29mREl2RjFZVVZ4ZE56UzlUTlFmUEp0bjJ5UExVQStUdjd4dnpQSWdkbTBPQmg4c1BJZmZveXlIUER4OFdKWVVSUzRFM0h5RUdtMXNScmtCOU5FUUFHekJiWW9pNVdra0R6TjJqUTZiRjlCK3lFTTU2WDgxVjc5VVRnT0M0VjBKcS82dUtrYjZaZ0FUYVQ4dHhrTk42QVZOQjgvYTdLQTlFTDA4UE4wWHpSS1QzdU5XbEdmaVhudjBrdFVob1ZFSlVwRXpJaUdkNEs0WGdSZ1d2NzNMK2RPR0YyWFdubXV6TW9WbjVTajcxRXdSS05uU01xWHo3R3BLQm1CUFBuTGV0bWQ4WWJrUk83NlpXSkFIWEEydDJuZXI0VlNLQ21nT0ZuVHNGQXNScUZlRThkWGtVVnFPaFVjSzUyRTlNemhqRDBXYWk4Q1RxZGRqTWNPbFNra0R3UkJWQnpRV2V2VGJZR244RWNYS1gwK0xGS2VWeWJQQUpoTmREajloWVZCTjRPVWt3NE1LTEtGQzMyeTQxY0pQZlgySk00NnZ2OW5ucXZHbVRuVDJ1ZWUzWmczVHNwNWM3VmdZQ1V0Z3Z2bUZkaU9QcFRHN3haNkdnWHZ0K1IzVk9id29TZjQvUDJPRVZnMTRTeUpEL3IydUtNa1JzYTNoNWpQeEhhSlI3eHp0TGh0bmVTUVFTaG5WTzJ0L0xiYVlkQ2xqK1FlTy9uSlJCMlJEcTF3NHkvL08wNmVJdUNrblpreElPT051eW1WU1F2djJQWWhPWm9YRElQbGZkVmtEQmhveUpITEppN2xKcDVrbnBBUnZiZGFVWjFNNDVMc1VuU1hKeHo1aktneFZ0UWVjNGlyNTQ0aTY4NW56ZWNDVWdDRTV5NDNuM0tCRUtsbmVrbG1VRHdQSWxSQ0VzOHl0V3BlcjRNOEFYZXltUC9IZXZtYUdhbVgxSkRJR3VFbzQ0R1FhL2R2RnhHWFdOajlEUlF2Y3VnbEdrRm5RMElId1BHYnoyZURMT1NIZEtKdERMMXdsa3hjQ3QwMngvZVl6U2RKaFlQYjBuN2x4RWE4VEQreXV6M1BVU0k4TUhQTVJBemV6RkpPa2RLSEJjanV2NXhmQk4rK3ZaUVg1aWpCZHFwbDNwbGtDM2JnTVZZK01ncEJnbzdxcFpyZWVrdXVLWlZOWU9IRnM3WHI0bFNrQk1ldWpOVEF5aWI5OTNyRThPN21TNDhtU3hxYWtwSEJ3T0FTNVhrMHRYdERXZFBvaWxYbXFEY1pLQ2drb3g1L3I3VUFNNVN0MWEwUUdUelpGMGM5SS9MclExSlNndXpBeC9RM1E5U1hnUERNU0wvNUhYZEdISVBheG9HayszWUNYM0JDblB2M3J6ZUZSdW1WK1BnZHBlMXQ5M0J4SXZQMldyWHNhZFJMY2h0TDdLNWdzVjlnbkhac0J0cXZYSGpiTWVnOFVHYTN4eFJNUnBseWJzblRpb1VrVWd0RjZrd1hqTWFkQVgrVS9jaTJ1SkVvZk9ieGhmLzQ3d2VRV2tkOFB4K0FlbVhUdU45aTFpUzErOXlob3U0VXhENlJYaGxQcnVJZGZGQnYvR3NPU3paTEFzall5OHgrSSt1V0t0aE1RcUV3cDlaNUdKNWdLbzdQeXZFNDdzb1R3Q0Y0QzBwNXlXRG9kVkFub3pYZXNHQkNCaHdlNmd2OThYOHZlWlRCbUlsakovOHJrU29VbkRzdDhzcy8vOEV1RWlLUFREZzR5NzVBaXA3WU16VDNQbzZpa0F5Sk1ROEZ5cUtrZTZYeS9WM1Q2clljUytOVkIrZnpzZVZ1U3JHellvWTk5TjdMS2lJakZxTHRmZkJ0S0xoQUoyYWJxZU1IOHQ2Qkp5NmtqWWEwdERscWZsTjlQcWxMMUlIUExmYnRIL2JkSU8yQVI5eHhKUm9aUVc0am5VR3ZYbldJZFhDeEg1V3pPUm40K2xULzROQXllMUtGMmhMTGg2Tk5WZGJ5M001aW5ya0dReHBEMXQzWEFKT244RkRJSmxpU2QwUTg3UTNiZmtRVk5KTDJ3d0ttbXJ1ME83aU9oeXo1TzBZVmhCZlF4cDFCa0NXWmdqT3BkNTg2T1ZnTWpGdW5oWnRqMU1RRm9jcFFIREkvbHU2WXRFd21tNTc4dnVKbHVrbGREYnZ5M2o0eDd6ZGVpODZKSThIM1RSN0tkUjJQOTVFdE1laEhMZVBrd1dhaCs2MzVkYUFqK2pnbXpVeUN4NWRSS3FnQW9NbmJzRlZ3MUVWWEN6VkkvUFZqS3VSc3NyL2hQQmVXbUtPKzlnbEMzSGJ5dHhyOTZiUVp1K2hNM2E3LytZK2JlVnRkMTRYeGd6eHRNMXFwVlNWZUVRWVNPaC9kOHpXMnE2UUQ0NXRWY1QzT3ZsK1hCWWFBcEZkSDIreS9OUGRKa0U3djl1akNOTHF1U1VhZWdwbzZIU2VIT1g4bm5PVGpjS1RWYVk1RERuTGlHQ3JIcU0rb3UvQUZGMFN6QW1taGRIVlJYOFdLdmhTUHk3cHV2Z1NBWEFSNng1NG93cWRGRnBvVTBGSXZoZVgrUzZ6VVZvZVJpZW95eEZuR3VDeFAzdlNzOEVMdU50bG5tVDl6SXlicldCSWZDSWlZMXlWM21kS1c2aGRUallqVVJwdVJ4SzdlbmJrcUFMcVJHS1dMU3dpMm1UVUJDYlVSaG0yQnFKSW9MUjExek80Z2E3MU43ZjRwcEJmZ1hoMS8vcHFJbEVOMTN1SnpzZUNoMFE1YURmSWdibHN0TzU1ZDNDdHN0RnJRSFN3WVhPR2lxZysxa2MwckRIMGQ2a016cHBIVFZFRmdSbTkzbDk0UVlzTHB5Qkk3bHJyS09ERmtweW1RbnFjMU15V2N2em0rdWV0Mlg0L241TDN1WHo0eW1ieTd4NGlqdWQvakhBb0JPdDNVS1ArMzdYNTlxdElTNXovVlEyNzhZeVFQdk1adUZaVkZWU0pFZG5LZTBpNWpWemQrbXVuM0xCRTUvWXhzcGo2ejdoclZYSFFQd1dJUDIyV05CVE1CTmtnL3VHNVgzajF1S1FEcXlhNTltQnNoT2xsNFlnc1M1SG1iRUVVbHNMOSt4NUtJV09mS1hCdTRTbVRYYjkvRUIvWENpZnQxVjk5YUExWjkycUdSNTIrMmJ4L2lua1JDT3JrQXR1eE5sbkpHdnRMUXVEbzh2QWtubWg1NFNPUGpUYmY5VEp3QUZnUjJPcUt0K3VyWkt0V2w0Sm05aURLajRqUWFENkh4a3dIc0NsVHIrUjhDZGtNK2pCZ0FLaDN4K2Z4STFyb08wSnh5SzRLbzVXc1pmU2oyWVd5WStXbTNpeXNDYXpEVDhOL25yYmgyT3phNUsvZnRSbjZ2UGRiMUZjRlJkcnVPU2R4YTl5bTNQdDVlYW1WazdKekcwUE1kRTNEaVJpSlR3TjY1VWZUMWVtS0tKQUtBdlFlOW9vV1NTODYzdWRjODhBQzQ2b2tEYXhtNUp1bENXU0lJbnRGYXRyVFB5bXF3ZnlnM25aMHF6NWROWFlDVDhQSEM0REJPRTdxcnorNXU3by9vaTBEc2RLcTFTdWdya2hoOHlGRk5WaGczMit3NW4zT3hKUzd4LzhyeW9IM3NPMFVMY0Zwa2wxUU9yUytTQkUyWmtSU01qTkN2UHBmUlE1dDJDSTI1TmFQV2FLbk5mTUF5RVdWOHUvbTl1ckZnaUVDV3I1YzVnL2Y3V3gzZnhPRlNpRTg5RmlnMFQrczRjK2IxS0VMa3NqMWg5QXlubzhoTXJzS1h3cUcvVDR1NjFWRjhsRUtObVVRQURPUnk2emNBT09QZ1pvRTFRZjVFM2dPUlJGQUhVakxJUzVTYXYxeVJXRVM3SmZFMDh4L3hJaWMzTVozQXYrenA2cnZIWHprVWxIMngwV1ovZ2ZobTdrTDhCNTIxeTNCM0FoN1ZIWldUSTNJamo5eGF3NlF1enEvREhVUGx0TnJORUhMcXBPNTdma3VwQTJkLytYK3FNTTZoM2ZxY1M1a0FFU3NkUGNmeEdNNnFJZlE4Ti9vbU5TVkFscmo5ZlJGVzdjamw2cUwreXJIcC81Zi9yLzkvLzVyKzl1K3Z5VlhuRW5xblZiOHF4SlF1dmRlZ3BnZXV4dFBxRUpZNkRLR0lqQjArTDc4a1Zubm9vamtIVDA3VFo4eW1QWWFFNDcrbS9mMTV3SHEvMXJCeEhDQmkvbmJMckU2RWJFR28yV3NtOEltZDcwLzNIUkVBKzZrY1oxNlBrQitKQnpUcVpjL1BkZWhjMEozY3BrQmdiZnR0dkdMeVp6eXJFbmFRMHJ1ZlNoSVhkVlNLbEVMVVBqdzJSQUZTSTRWQ1BNRk1HN3N0U2ZuVFUxa2pPS3h0b3Jaa2ljalFOcTdlRjRJODFRMWo4WjhTSnJIVjd5U1BrVk1VQ0NCeGkvUFArZE9NR1RYN1lCNmRMN0Uyd3RkMmlYbkUrN00zMmNxcXlEUXZwS25OZDA1SFY5RE5hVU5UWWhTblVZcnB1SWQxZ1E2TXo2eWZ2MldSTlE3WVRjQ3czRUFtOGtxdmlwRnhUdXpFcURXRVhOdUhmU29ZYTVpMUtMT2owaUIrQmloelovUFVzZmhXSXVVQUJmZ0NUNW4wSm5GZHVET2NlUG9XYjFObjkxVWRYTVUvc05EQnNZQURUZkhBdEVZQXlVY0NhQ3JyZmUvbFhoVmR6dmhRdjVseVg1YUs5L3pGQ1dMbHFZTDZpWmhQWS9lN05ER2J6SWw0eXNuSnB5RHU3Z09sK2EzK1VOd3haSzF1Vjk0d3JQbWpYa3hJQlJVVWdiaWJvZDVjR0F2ZzkyY3krcy8vV1RZUW9sTkovOGtvdDB5TjNEenQzLzJmZkN3YkFocWdpTlpzcmpHWU5mWHZ2VXNoVTVnQWFWdWtmSHZjakxScWlIQVJvR1NvT01obldsWmluM3lGMDdJRzFkZXQzVlZnNnNEU2FjcEd1cXFkcWdWSmVtVEFLVmZ4TjBwWGtRamlWb1loVUJFSVE3TXdXYTNrSWdJd0ZBRDlpSkpSd2tkNkwvby9VRXNEQkJRQUFBQUlBSHBSTlZreW1XSE43d1lBQUNFU0FBQVBBQUFBYlcxd1lXZGxMM0JoWjJVdVltbHVuWmRyYkpObEZNZlA2VHBZY2RrSFFEUUtDZ1JOVkhES0pZZ2dJbXhSdk1Bd280Sml0R3d0VzhkZ3RJeHhTV0QzWHJaMWRLeU1kSGUyc2RGdDNRaVg0VVpaSk1hTXU4QlFvNkNHOUgzYkpZSkV2c2dIRTUvbnZVRGJQZlJkL0xJMCsrZjluZk9jMjNNZTlIOWZXb21xS1pQajNoMXBQamxTZjNqT20vQWVMcmNEd0FvYlFFWVMrUVBKVnZMcmd5VXJsM3lJSDZWK3JGb1Z2em8xSlhWTjZxZko2U1pkSHFTaUZ0ZmhldnlpRktCMWd3WGdsUzJyY1pOcWxqckdBSEg2ZUp5a21yMlBRSktzN29jL0V0SzZWd0V6cVpvSmNjTkk1U1RycGRucmlUSThGekNMcVJTL0QyaVdpQVpSbUZtNE90bmkyWDBkTUk4aGFKUC9BTndsc1RKRUFacW1FTlEvendMdVlRamEyeThDN21NSW5uTXZBeFlnaTlVeEI3QklWb3loc0hkV0FwYXdGTS9NRkVBTE1rOTVhdzJnVFpBMnN3TFgwUVpZSnN0V2ZIeGFjcWlmQVN1WWt2YjI3NENWVE1sempnZDBzb0VkZHdFUENOTFdNRmRzODRzbWt5KzN6QU4weVhLVitLVXRxWG9WeVVqL3Y0QTFnbVJpZkFuemt3QnJCVG1YSmFkbkF0YkxzbHNDMzF1Nmp0aThrd2JZeUpTMDNkc0FtNWtTREJrQld3UnBKOE9lOW1FcVlKc2c3Mkc1YzZJWXNGMldXMlh3V1FOeHA5QU5lSlFwUVVZellDZFQwbjdTQWRndFNIdFo3ampyQUh0a3VTc2tybGJvdlF4NGpDbHBYY09BNXdXcEFGbUZBL21BRngvcFE0OFN2Wmw4dThBT2VKbXRlWjV6QWw1bGF3Q0hBSzg5Z2NrMUFONTRBdk1DS2VLYmN2bVBkblgyV2tDOTZubTFxZ2hqaWhGaVZlTXRHRmVLbWhLRWNVajd4b3BxVkpXaW1uZVZqTGpyT0svYjc2c0lIQi9nckRXRUF2RlBKVXlvd29ONEdOM1lpbDFveFNFY1JzTWsxZE54TTJaTm5UWDE4VFFETktpbXFtTnNnbzB5akxQTE5zb2tHM1pVYzBjSy9UNFgzOTBTYVBZRzZzcjRtalp1VURBVHA5ZHNpbzlOVUpsMlRGSk5IajhGWmt4UG1KNlFaUDF0V2hHWlBHdUhBRE5VMDlReDVUSzdJcEpkZ2VwQWM1ZC80RlR3WkRIZnZ6L1lYc2lmTEJQQXc2akpKR1QxenQxNzgxR0NKNmdUMUVsV0E3K1FoRy9DQzRCR1JYalExL01FZUJaMXV4Q0xXV3dqR2JJbXlyWkZZMi9XbTgyYzArY2ZhQldZQm8wNVBwYkNIcUhta3lFdzRWdkFIWW9vTWFDY3RaUnYyQitHekF0RG5sbjhlcklGbW00QjdsUThlVnBPcnNESTBPd0tZN2pYcThrSlA5Y0E3bFprY0tVbFhQY2hDYk1uREhQUHF5TDEvZEl6Z0h1Vk05eFNFS2lWTWZ0R1krRCtMTUI4Vk9iNG5JR0JPb2xUZ0tOQm5uNXlieGFPQWRRL0dPZ1FLOEdvS1dLQXRDWExnSlNHY25rTk52Q09OZ2xVd2dCQnlpckFVbVZRWW81cGE1ci90Q1BSdk1zY3FQVnlQcGRjcHhhSkdsS2ljK2xFMmdDa3AybmpPcUkxcmxqNVhFVlRvTHBqcFBPUVdHRlM0OXFROXBjZHk5R0IrM0ZVLzVJSjlRdWdYZkRkRWMzM0ZTbHJDVnFBV2xGVGhoRmRzSWlXMjNrZ1poUkpZcjJGd0Nvd292N2Zva1gzRXhDUEZXRmkxWVhBS2hrd3VPOEhjbmhsbUZCNklUQW5BK2JwL3h1d1NraEtaZFNrNU5md05hY2kwM0dBcGdPcmFTTEdpV213bmFsZFJQcTk5MDhnLzZZdVZrYWRJYTRUZnQrQlIyeUJXb1VhbCtqb09ORlIyNlh5THdueWpRZEE3Z2JxNkg2V28wNTU3QmVjQ2poNlIycThJNGNsWC9uOCttQmZqK1J4all5V3ZQMTFHVjFPeUVod0MraXFhREVRQXlyT09sTDN2S09LWEdJU3Q1WkdJcVlPbTdBaE5Cb1R0eTBsL09VYkFldUVhRlFwZE9aSXZwdHZ5WmRIdmhzMTlaR2gwSk1DT1AwWkVEUEt2TjRpMGtLQnpoNis1REJmVjhIWm04bHZickR6cnpPTk1yNHhIRC96VGpaZGM4eEF6cUdJMzU2V2s1NmJuZk5hWHFaSmI4N1FtYkprYUhPRXovSFpkT1BTQTduWWFZd1BSSTN4OFlIQVFHUHdSR1BRNTR1c3RwYnczQW14MVdZdkFySXNVRzUxTkc3b3hoRXM4bkgyV3I2U3pCZ0xOMWpFblpYWGdqWWhpVWV3QXoxaFNUeVdUSXVFN0V4SGhLaFVSNTBId3RyQmRSL3hmOU1rQjdvVk5lM2hNZG5abDBzZlV3NGd0c2FLOURZRSswNkdJSTh5a0o2WlpBZjFqQm5aV2tIR1RRaXlrNEhVM2owS1pCbWpFWFpGalhDejFYKzJqUFFGY1hURVV5NkZ0SnVHVk9YRjNzZ1pZZFhXazFYTEs3anFVaGpWZnQ4Z0xXU0hKUVRkaFpxZXlEcjdtajZtdmdOaVRKRXFqbTN4a2dtbkhvdUl3Y0t2NkdPTHZGU0hoQmdjakRvbGUrejh3VzZ1cjQwcjZaTUNjSjRHSVBZQ1hzSXIrQU5lajdpejZwMEV2cnNTOElMZzhrRUZsL21tMDRIKzlsQXJodTBtWFpvK01VZHZNZ2dHaDFCek1mTDJuZWhjUUsrZ1BDQk8vRDhyRzlQU0VqZm1pTFprTTVkSFgvTHo2T1ZFSGwxWHhtREcwUmlvYmlRYkRkZGZTZVpVc01jbFdqS0w1OW1VdmxHMmM1VnB4OU5mQlNTZWluYU02Vm1oQnpHYXQrdlNzaEtOMmJxY1FMZE5ObkV0MHNTWnhRdnBRdFVFSkdIS0puUTdkTko0RVpkaHdaTE90RDFEWjVZdDNCaWRrN2ZwcHVVRjhzS2haVld1dkJHSmI0R3c0cm9wREt3TVkybDRXYzEvWUNFUnVyNEk0RDlRU3dNRUZBQUFBQWdBZWxFMVdWU0RaNmtzRndBQVVuVUJBQTBBQUFCd1lXZGxMM0JoWjJVdWVHMXM3VjFiY3h2SG1YM2ZYOEZpSHJmWTdQdWxLQ2tsa3RiR1ZWWkthOG1Pdlc4UUNFcXdTQUlGUXJhMVQ0NGRKWTRWS2M2dXRYTEppcS94cGRZcnlWV0piSzhWUm4rR0lLbW4vUXZiYzhOdHBnZURtUVl3RUR0VmlnRU1wNmVuWjg0NTM2MjdUL3o4emUydGhkZHJyZDE2WStma0lnSndjYUcyVTIxczFIY3VuVng4NmNLWkpibjQ4MU1uemxVdTFSYWVYeis1U0tEM1B3VDFuMTI0MXF5ZFhQU09MQzc4c3JLdFB6Lzk3TkhUUDMrK2hCWVgvcTNSMk5hdExTNzg2OVY2OWNyWnl1NFY3MXZRenJsV283bDc2c1N2Nmh2dHl3c3ZuMXpFa01yRjVWTW5mbEdyWDdyYzluNUJsRUx2bDdWWC9HOFEwOFdGVmIrNWN5Y1hneU92ZWtjRWh2NEIzRHR3dnRwcWJHMzU1MEZBRlVlNDkrdXI0YThTcStEbjViN3V2RkM1MXJqYTFyMDQzNnhVOWMxN2YwdjhKbCtPL1JMOHJmZmQ3L2o1V3JYZGFKM2VxbC9hOGZ2ck54MjFkNmErdFhXbTBkcXV0UFd2NTFyMW5mYjVXdnRxYytGTXZkMXVuTDljcTdYOUcvdEY3K1BMdlkrcmxlcVZTNjNHMVowTi82cy9aUHAya2I3dFlMVDBGeVVXRjE3YXFldVAyOXVMQ3kvVU50dG5LNjFMZGU5aGVnK3AwZXovK3FKM1V2OFBxdzNkamUyK1gzUXZMMXl1YlFkUG0rcVJmYkZTMzduWWVNUHZ3SE9ibS9wZXZhRU9uL2h6RzYzS0c0dmhLV3VOclViTEd3SGViU1U0d2Z1TjR1NlBGMnB2RHY5MC9uS2xXZXY5dHV6L3FFZlcvOW5yQ1lJa2V1UE9ubDFyN096NFkrNWR1VlhaMmQzVUE5ejNSc0hCMTZudlhWSVVBY1dTM3lhbU9PQlNEcjlSeTMxWDhQc1RQTTMrTnhzdURqM25GK283NFo4Rm4zL1Y3WXQvZXk5NlR6UjZveGJEdjErck5MM3YvckhvTjYvUjhLN1BON2JxRy9vNndTRDN4dHRyd1R2dlo1dWJlRU9wV2pWNCs4S1RvNDloWDViN2JrQmZvZlo2Yld1OTBxN29HN3ZhckxVQ3NJV3ZiKy9ZdjlRYTI3VjJxMTdiN1g2K3RyQzIxZGl0YlFTM2ZyYnhldTFDNDlRSmY0UXBBMUpBTlR6RS9nZ3JBaEJsOFJHT0dsaTcydXByYVVsaUFHUFB5bTlvQ1dFQ0NDTERMWjMyRDBJQU5hVndBZm53eWF2K0l4Q0FZS21HejEzejMxeEFkTy9sOEhucmFSZGQ3blo3T1JxZTNrZC8xUHhSUDkrK3RsWHI4c05xVFFQdVhIdmhsWWpmWGczb1RCOTZibWNqT0NDWkFzby9Rb1crc21EZTBiNjNmK0hNVnUzTmh0K3UzNkVMbC9VYnVWUGIzWTA0eUwvdUlJcVlEUlJ4QlFFeG9JZ2pBampqYzRjaXJRZ2hqSmpjWUJ1c0dJeHdLREM1WVlRRVlNbnZQdEVhbmZRV0drQmtibWpKMEZJQUlnSXdsakFtdktzcFhmQVJKSUdBR0NVRHlOVDFnZ0FTVUlRNDRaVDZGTjZQSWk0d2tQNVJwZ21GNHpGUUJFMG9FaE5IRVdQZVVEa1VUUXBGUzBnUFBpV1p0Y2pja3FFaEgwWDZmVmVVNFVRUW1YcXdGaHpVUXFTbEtCRkhwcTVQQ1VhY3MvSEV5QVFqWkVlTWhCNWxGQnVwQUVlVWMwQkZUT3RManlQTE50M0VZTVNCVkV6YUVDTkRTeUdNcEVJOGR1SnFTZy9XSWhIVFFJbWR1SjUyeGFJdzBzQUJqSXRodTYwSEpFWUFqWTVyQzgvclFuRW9xY2xEU1VLQXhmeEowcnhBeWZnK2pvMmx2RkF5OVdBMGxzb0FKU2tBMHA4TFE4a3pYb3REaVRFQnNDblF3QkZRQ2ZwZGRpVFpOZTZRZGk0bUJDVU10ZmtpbUFWVk1yUjBPclRSa01Jb0dVdUdFMzBvRWFBWTRvWWdnNm52QmFIRUJJMTdRVjBnTWFKQUFDTkdFYkRoSW1FcjRicFVGQWtHQko0LzAyNXVVT1JzdS93bzRoSklZc0d1dzFZaURha3drdG9FeGZObjFzME5qSnhkbHg5R1NudnZ5SVpOWjhVOVNvTVJoOG01QVFjald6Q3ladFRsdHVsTVhSaHAxTTNZcHVPWUZvY1FtYmhieEptY3kxaWRiUWh4WjlETndLRHJpMm9uUVlnaE80RTZNbkcveUF2VXoyT2NibTVnNUF5Ni9EQVN5azZRamt5K2pzRUxMNkRqcmthVHpNQmFLMlRJWGNkZzZzS29Rb1laMXpFSXlJR04vQ3V4RWx4SUs2bVRkRTY5SWhpQmFMTWlHZU5GdFdpQ05YVkwxb3JxaXRUVUxlVXRxcHRkVFozaWZMeHFJRk5OSFpsODdsWHBOMkF1TTBaMmNVUW1adE81akZGcThyVVBLNG5KVjRXWmxhd1J0UkprU0llU0pvQzVUQnZOQzVSY2xLRVlsQmkya3pxaVZpSU42VmdTWkQ1elIvT0NKUmRxS0lZbENlM2tqK2prSzFXVkZNNVZtaWlXWEFLcENKWVFoTklDa0t5RUhCQ0NQTUdMalNZZ1VTQjVmS3pLRGlUYXhkR21ZS0p3K0x0Z3lHR0pFczFWY1dvUDV0MVNvSkptU2lZaktXMGFIMlFBa1dRa1FTQ1FSSUlrSWdscGRVRW9abm40UU1KZUFObzBCY2x3eFluRkd4RFNHRU5Ca2hZR25rZG1FSmtDRHRSS3dBRVJJZ0dKelUwSnE0TGdmSHBKZGtGRUM0cFJpb2JFSnE0YndETkdDMUc4bThWZS9kWEV2L2ZCSWdDTXZRTHJ5UjBzQ2hHaVZVeUlZU2owa0VLWUYrYk1CeFdUM2pBckFZVjB2YUVTVURoL0UxNVpOMCswZVZGc29sbnJEYUZBajNMTS9BbW1uaUJBazFMYVkrdU5Oc0NaSWlJUk9kcHFJSnpFT3JBYWhyK1pVUHB3c3VCQWdLRUJScVpMVGtWd2hLZVNZNFFTVElMRHJMZy9xU2dTR0FNaDV5K1VJTHFDZ3lwa1k5YUxMeUFKSkJVeC9nOFhQaEdFTTVyVi96R2p5SDlRT05sbzAwamwzbkl1aVRhYjdodm1ORGxGcEE5aUVjdlNycWRjYnhvSUVwaHBCOGtHZ3V6NFBVUWpXc1ZHTjBRUVFscGVqenVDV01FQzFMU0ozZ1FJaGVKTVBxN2h0bVJvS0VxMEVvU0VZYzY0NGN5MThFeEtNUk94TlBGNjJrV0xXM1ZNQVMvVVBJaVdQcXRPVWNDQzQxd0pvSVFOcTg2U0E1U0dKcUlBWVRHeWNtaXloU2JqQ3prdW5QS2p5ZFNGREhBcUFab0U4d28vZUhFMGNUcytVaXFhd250eGFITGhoRmxBWlZ3enpnZ1ZLem5WOUhDQ1JFRFIrU3YxNGIzSVczV0R6VHg4clkxaFJsSHNYUXpZQ0VqSktDNGVUaUJTSDRybnYwK0hyaGpuY2F4MWhZZnd1SzN1UTRoaW9OOHpRNEdDNFlyVDhJVTRKVUNxTWZURzVBdnhLVVFUaEpqTG1KeU1RTVNyVlZXYk9ZaXdIa1ZwVEtjS2dJbUtqL0c0S0dMK28wcXVUTkFZWWtqR1RMQ3d5a2MvNVhoZ0xZakllZUNMNXpiV1U2NDNEUWhKUXUwRTVMaWRjQUxWL1RHWmJCSWpBT2V3dHNjdWhMZ0xKMHczbkVEMWpZWldYUjlhZW1DaURFZFduWVNhZ1d3a2liaWRjRUlxbXNKN2NXaHlEdEFzb0RLdThKaWdJdXpFQ2xLaFFxV1hRM0JRbVJSVVhPU3RLSm80Qm1RY1Q4aUlwc21IRXlST3JuY3FPNXBVaENZSnE1c0N6dG9UU3F1R1c3SlZEcGU3R200cGJ6bmNES3ZoRkFtV0V5M3NDd2s3NFlTMGFqaUZnN1VuanplSVJNR3A0T1BQVGhqZkYwcWI1ckNVZDg3UUxLWU05VmZMOVVFbHNWcE8zNVMvY0U1eFBiSlVwWkFHSlJJczArcWdOQ25yemhhV2NrTXBkY3JRREdZTWpRVWxTZ0cwa0NuQzBJcWpsTGEyZ3VEemx5VHlUSlFBUmhVbEt6VXhZN01PSTRBa2pWV2R2UnBCVEJLU2VlcWQyYXlMSi9OQ0RHbUh3aENYODV3bm1sd3B0K1E3Snp3NXlKQ1FONXo4UWdxNk40V3RPR3huZXkrQmxYbUduZEMySjAzd0hJOFhhRENFeFVDVE1pOU9lR3VrMlpqNWJXZ3B3STJHamFSeCsySTFwUXRoYUU3ZnUybHZMMVBmaXk3cFEzbDNobDJJa3k2Q3ZJTE5hSGFkNE5ES3JHOXNaNE92VkJ4SmlQVklIbmZ4bVNDT3hvdlA1WWowaFJHRm5KbWhtU1NHTWdNcEpQbmlRTExpQzZVRENjMWZoY0xjZ0NoclFpZ3RRd3NRNFZMVWxneUxZbzJaR2xveTVvWlNMalF0M0l4bHhCa3hZeVdSbW80WmZWQ29lTzJXdzQydFpSS3NxVTl1OFVuTkRzMGlPWlFaUkpSWVdTVVlJeXZSZzNRZ2hYMTFRSm9Va0t5NVE3bTlJVk1YUnJwRE0vYUdwRUJXbGduR2FPS2Jobk9KQVltSGFzb1BJMngzdGUyaUUxY1JnQnduei83MmlsQlZRc0htK0x1R0UrRnRUUjB6SHNKd25BUktHQXc2VDVHb2dJWlZzQ2pXUFl4bFp0ZjdMam1MOVUzNzFoQXV1R2Q0VDR3cTlaM25OMm9WQTRLd0Z4Z1lSQkhYUWsrQ3VFYVlIUEk3bmhpZXczR1RmVndValg3dGU3TVV2UC81RittZG5vWkJPaDY4RXE2VENWMFhhbSsyazBjWHNhR3g5WmJjSFJwYlRhSEpnK3V0V00zVDAyN2VsVmUzR3RVckM5Nm5vRCs5TVk3Zm92ZnkxSGZhZlRNL0tLUCsvUElYYTV2Nk93eWtkZTF5cFZXcHRqVlBQUCtLN3htZHFXelh0NjZkWE93OHVMRy85NStMQytmci82NkhFbW5zaDIrbDdueDRpWitGTGVwbXp1bFdMclVxemN0Uk02ZTM2cGQyL0FWZnpqZTk0ZlJ1Mzc5Z01JTE41c0s1NEEvWFhnbnVvTjJNUGg3Y3Z2NzA3cjNPZzd2N2V6Y1AvL3E0OCs2ZEU4dnRwaDZOcHZkL3dmbkwzZUhvL2pSQWZCZjliLzZvVTc2Q0dGeEJIT3YvVXYxZi9VL296NFN2YUlWZHdVaC9IblBiVURUTWp3UnFRUXlmSHd1ZUgyQVpmRjF2WlBwc0ZVMk5vYXJ6REkxRUp3OFNiSUR5M2x1R3VpMzBkeEwzdHg5T2lKR0FLenB3ZFl5OVhHQzYyNXg0dmNqYVo1RHhnVUhwdHRoajJPR0VaOW9nUkh6VjZ3anEza0JpUi95T2E3TkdZaEhjdUJqdXlOckltMTlQdVhMdk5nWWVaZnI3WUdvcitZSENSTEVjOFREVGhuNDFwUTlyaVZkY0h6bUtwc2M1SmpCT0oxNStkZVF0clkzOEMwdEZ2djRndlZDNTFyaXFHZWY1N2NxbDJybkdidGNDNklsMzF5d00vdGIzNkhwZno5YTJHNXBPb2gvUFZscmFjdGhkZUtHMjJRNCtCNFI3b2RIc2Z0WHY1b3Vlc3ZRZlgyMjAyNDN0dmoveFg2S3djMG1XQXU2M0ZIVHI5YXJCVkVEYXdnKzFxeWRvaEFJbyt3Vk5DQW93aVZsVzRYN1VqSU9rL0t4OXl6dXo2dWZlYWpwRjliMTFDSVlIQ3FNaDVaZXNGL2VJRFpSMkxNV0lrcHNaYXovTnAvMG9oL1ozdm5wN2YrLzJ3ZjB2RGo5N2NIanZ4c0dkTHp0UGNzai9vTjl6b2RIM2kvOVlCZ3dFcEEwQ0pNYzBBQlorMlFodmJkZ1dTT2JyekRZQTZxSm1XTC9ORmtEbUppSUltNVJub0NHRDhCUnZ3bndqZlN5YzRKVHFNZmVnbW5uTVRWMGRlK1JIM1hNMjhXRDV0VVAwdnE3WFc5cFRyRGQydWxHUVJQbmdBL0loaHRXREQ2dUhHQ2tlTkJJUERaNDA3VkF5eG9hRHNzRXhBWWJKSmN5ei9xWVM5WnhDSk1hc0dwSU9EaEZpUTRKQkZVQ21EZVM4V0V4U0VMMDhlZ0VuclJLSG4vM1AvdVB2ang3OTV1Q245NCsrZnZ2ZzBZM2NFaEh1b0RVZ0VTd21FVmo3ajFqN2lWajdrcmdrVWpFd1FXdHNsVENjSFlHMUFMdGJhR0phQW1IcTZqampQZXAyeTZjTllrQWE4SkEwaUdGbHdDT1ZnVTlCR1RpaklDbmw0WlRCS1VPZk1oenRQWnlrTW9pWU1oQ3RER1RjNktGVEJLY0l6N0lpb0t5K2d1aEZTdEprd2F2MU4wU1pOQi9DaExXaW5xMG9FeE1Kd3hTVEJwSWFaWExhc0ZYYjNlMzhhVy8vOFY4S0JKUmltb0JZT2NnL2dsSUJCVWhyd3NsQXJwRXZoeFpNaGZPbE5TOEEwcURVS0pId1JiQVAwck5OK000TktFYjFRZDZnOCs1dkR6NStmd0tVcjhwQitjN2VkL2IrVkRuZUt3SEx4UEZrRk1jemI4NjNJUWRBOUtHcHpGK2JhYVFIajZKNDVDZytqZUtyemFzRk9KME9jem9lcjBKMllweE9Dbkc2NFd6SDZlT085ekhpZEp5UjA3MTZaUjVVL2FjUk94TGUydGtHYW1jUzRLbk1EcHNwdFdzQmk0OVVqTjh4QnBURjY5SWR3VWVsUUwrOTNybi9vVldPSitYZytBaEpCWWcrclFuSDlybEcvaGhSZnRhRXJRM0tsOTdpVGFXSzF6aktMeXZsSDM3eDY4T1A3RksrY0pUdktOOVJQczRhbmJkQStkeWJqY21lK1FDT28zd3JsTC8zcDhQSDk2eFNma21pODQ3eUhlWFBrdkpKMW1DOURjcW5xR3hsT0k3eVMwdjVQejA1L0NaL1hhWlhienhFK2FRa3dYdEgrWTd5WjByNVU0emxjeTdMVm9qaktMK3NsSC8wNU9PRFcxOWFwWHdYeTNlVTd5Z2ZrYXlsOXVFVTk5UXllL1BzSzhXbnRLYjBUTWsrakNha0VEMXpSVGxwUEwvY2JEV3Erei9lV3Q2OXRudjQwWVBPM20yYjA2OUlTVXJ0L1Zybi9IeHZPdDF4L2RnalhnNmVuK1ZVSzlMTjVVNWhUUjlGMVpRV3BjMHVBN0M3bEY5Rk1zYXR5SUJiMU1ldTllOVB4KzNjL1BUd2cyK2VmdnRoVUpadmMxRWZrakF2VjY0Z0N2VS92T0p0MVZNTzNYQ0wrN2pGZlN4b2lQM0ZmVWpXOURETE5tRVhHeWZzS2tSTFY5MC9BUWtobVdic1lqZGpOMVU0MXM2OXBQVWl2MUtRZU5pb0pNbGhWbnkyYmxvVHpwWElOZkxsY0NlbTRUYlFyTWxoTm5yTm5wVFp1b3JpMGhYOFQ0RHQ2YWl3RVhaaG85R2wvcGFwbnBZa0tjd0tCWXNNWnp1Q0gzZThqeEczWjgwQ0YrUjJya3BYMmUrNHZYVGNIdFQwMitiMmttUi9IYmM3YnA4dXQyZE45eGJrZGlWS1Y4THZ1TDE4M080WDc5dm05cEprZVIyM08yNmZMcmRuVCtVU0RHSkZpYkZVcm1ZdVRmR203VmtVOXJlZkt4SEQwOTZtYklJSlN3VTlNRDVRc1V3dTUyblZteTZUMjVmSmZldk93WjN2SjVMRHBmRWNMaTNKU3ZzUjNJcmtiVk9hY0huYlhDTS84N3d0TndtRC9md3N6WnFmbFprSyt4RlJjbUN2dkFGaDBEYnZNeThNSWxOWlAzVmwvU04yNnZ5YnZsNVhGUExMQVkxN0FTVkoxTXJpOWYxcFRUaC9JTmZJejl3cE1ISy9iYWVBd2N4T2dVcXdkUk9jQWttTVRnRmpDZ2lCeXNUOXJGdmx2M2xSYlBhZWNxR2RtbVVHcDBBeDV4UmtVNEhPcjc4L3ZQWGQwenNQbm40ZStnVUhiLzM1NkllSE5yMERWcEprYmdTeUlxNUFTaFBPRmNnMThzZkpGV0RVYnNFL3dvSUFZY2dEQ0NnQnc2VVNCTkYxQmxDRmJMaE5mRXNvQ0VGYUlGaDNmLy9IV3dlMy91UHAzU0pML01UVklMNURJK01yaU1NVnhNb1NNM0sxL3E3V2Y3WkNrWFdWejJ5YmNDRktvQ2xteEtYUVBrV3BZa1lUa0FtM0M1ZWxwU0Nldm5YMzRJdTNpdXpONkZsQnc1cFFrcFUrM1Q1Y2JoK3VtUWFNc3FZSzBNaE5XaERsQkRCRENFUlFETGkzS2Z3enpmbG81RFl0M0pVSXBkTDlkKzhjZnZETjRiY1BENjUvZm5Edlp1ZTl6L1RuenBOdi8rL3ZuMWhsLzVLa0MxQ3gvVnRNcHp2V0gzdkVqdy9qODZ4enVSQkpDQWdsc2I3UjBCZWEvdUN6SHc5Q0lqNU9jZUozaG40cTg3ZXJ6WTJyMjgxL2ZxUGVxdTNxVGwyeHlmZThMUGtBVWp6TWs5S0U0LzFjSTMrTXVCOVBNUnZBTVFlU2xjcms1NzNTb09vR3MxTXo2cklCZHJNQmYzMTgrUGlUbzc5OWNyUzNONUhLVVY2U3lXQXU1TzlDL3JNTitmUE11V0dNRTBndXJnWUVZcU1hU0kvbHlsVXNKQ051NU5XcXF0bFJBNVhnQzhUVUFIbXJHaW1EMCtUVVlLQms5UHJUdS9jNkQrN3U3OTA4ZW1ldjg5NUhCMzk4djNQemQ1MG43M1QrY2NlcUxNU1R4TnhMRXNzVkpHQTVGQ05DWVFIRlNHdkNLVWF1a1Q5V2lwRTFTWnh4WWdGVkZFaFRNWkhpWlp0eU5nSEJjRE1Mck5TVWZ2WDIvdDd0enYydjl2LzMwMEtwQWg0UEhaVWtVZXhtRnJpWkJUTU5IVm1lVTVaRy9SSlRnSjk1WDhGUnYwWHFmL0R4MFErUGJGTi9TYkxFanZvZDljK1Mra1hXakxFTjZtZW9iRWtEUi8zbHB2Ni8zRHo4NkVQTDFDOUtrakIyMU8rb2Y2YlVuejFoWEh5UklZVUl3RmlWaWZ0VnhJUVNWamRGNytWMGl3eVZKMFh3MmJ2Ny83aXgvK010N1FNOC9lOC8yTXdKQ1ArQkRPUUVCRjFCZ3BkREhOeENRMjZob2RubUEwVG03U1FoVFNTOVljOEFHaGNhVXBBQlZhNUpZeE1RQjVYSk1XRE9NUmkxRWN6KzNoTnZJc0d0M3hWVkJSSGJWekphVW1ybTlCOWlxZ2o5cHpUaGZJTmNJMytNZklPc3lXQTFldVlZTkVlRUZDRmxXMVJpQXNRdlIwMGNvMjdpMk9nOVlZSk5JeWRBK1NWSkFxdEMwOFVNWnp1aUgzZThqdzNIWXdnengzOFF5VkFpS2lFeDd4Y3NsQVNxWk5zSW9JaitLa3BXYXNJSzFSc1cwQml5OGJtYk1aQ04rbzhldm5md1gvYzdQM3padWY2RHhlZ1BEbjdwai81Z2lGY3dwUG9mMS8va0NrWWxxUXlOd0ZmRUZVaHB3a1dDY28zOHpDTkJzOThxV0NNbWE0Uklab2tRY2FUTllLTitNRmk2N1NNbm9COUlKQ1FRWXY2Q2NqR2lVUTdEd2FjL0h2NzBkYjk4YkxaMTUyckxXZ0UyY3lzSkRudlFyeVJsbVhJbWkwZU1VcHB3amtTdWtaKzVOekcyVEZqM01qS25FVlNXSlNtNEprUERmdkpDaU5MdFFqa1JpY2l5SklWeVMxS01MeEVYcTlYbGk4MUFLS3hxUkZteUNxcjR0T1NVSnB4RzVCcDVweEV3YTdhaHNFWkl5RXEzbTZYVGlMSnF4SzFQRGovNDVQQ2JHNTJmL25qMDNUdEhEMjhITXJFYmVCS1hOaTVhRlltUzVDR2NTRGlSS0tWSVpGN05WSXplOEJpYk56eldmd2tnZmZZalRYeFVWbHE2ckhTYU9yeTJjYVhmZDNodHQxMnBYbGwrYmJ2U1BMei9lNnZDVUpLcGFoNnVpb2lDNFhRbkNHT1B1Qk1EbEhYYW1xYTVMS2tIbkpKNmtCd0NqcC85dUJMTGtucVFMdldRcmdxVjF5dmh3a2IrNm5hQk9GUmE3Y3VWWFp1aWdFb3lpUzNDVnhGaFNHbkNpVU91a1hjQ2diSlBibU40a1BOaWhVMUNFcUNTR1k5akFUamxwZElHM04wblUyNndEVHRMMzJFWVU5QkJYUkE4eFZsd0ZVMTlGVTJQZm5QdzAvdEhYNzk5OE9pRy9ib21GSi9WQnVrS2dud0ZFVm9TeFdDNGtGb1lUbmQxVEdPUCtMR3RZVm8rcDN0NTZwLytIMUJMQXdRVUFBQUFDQUI2VVRWWkkzakxaSllDQUFBVURRQUFGUUFBQUhKbGJITXZjR0ZuWlY5bWIzSnRZWFJ6TG5odGJKMlgzNDZUUUJURzcwMThCNExYMm1IK3dKQlFOMXJUWkJNVHpYYjljNHN3YllrVW1tN1hXRi9CUzk5ajM4QzMwZmR3aGdKbEp2MDJGYmdwSi8xOVp6am5ZemdrVjk4M3BmZE43ZTZLdXByNndRdmllNnJLNnJ5b1ZsUC93KzM4dWZTdlhqNTlrc3pyM1NiZDYxK2VQcEpaWGRhN3UvYnFGUEd1UDJzTnBqVnUxMnFqbXBnTytON0hxZjlzMlI3K0JISE01cWkrTEtyOTFBODdBUzdNNlhzM2FxbXZDU0ZRaXpocllKMEV6ZU5ZWlppTGJZNmYxaDZKU0VBdW9EWW5PazRzdjBUTEFIUFM1c0pUdml3WGorUVROaGYxWEpDeUhOOGZEV3hPZGx5WVpiSEMrU2kzdWJqakpNbVcwU045Q0IwdmtINmhxUlFpeEFrakIreGRsTVl5VlJITzZMaklkS1p0aGN4RmZyckZaR0s1T0prWFpUbmY3QzFYbTFncmF3cDMyS3FwdjZqTEl2ZTlCcjUrYy9UYUJFQWNRd3hDRVlaQ0JKbTZJaWlHRUlPUXJocUNRZ3dKQ01VWWtnaWlGRUkwZ0pEQUVJZVF4RkNFSUlZZHdjakFaWTZ2a3JkRnBWeWZtVmlycXJ2L1NSV3I5YjdaQUExODdLSnp4eWVDRTBCd1NGQkFSSkJnNTRtQVFJSURna0VpQkVRSUNWQ3JJSWFFUEU5UUNva1lFQUlSQXZTRFNrU3dRVC80Z0dDdzU4VHU0RTE5WHgzZjJMcFA1bCt6ZER2MW0raEZGaUppakJ6MEY1Rmo1S0Q1ek5iLzMzTFltUUVmSXdkdEcwUmo1S0NuS1JrakJ3MVAyUWc1L0RUUWNJd2NmRlJvUEVaT0RqWlhaek5OWnV0MDUyNnVKdFkrYUhyNWkrS0hhdWFYZWJvcHlvUGV2WXZONHI1eTVva2U0VUdIbUZkc3gveDkrUG5uOTY5Mnk5ZkRSVHVZSWczUmEyanZMZmFIVWpWVHNhTUdhQ1l2b2k5Y0MrTzltaHlocG9jbXU4TEo2N0xPdnJvbGI0SnRRbDNxeGRiMHFSM0xYNVhGeW54cTJDc2NFdUk4d1FlcmNMTW03OU9WZXJmZDY2K1lvYXFKZXNZMWpKaGpPS29sRXd2UjcrbnVDK2NmVUVzREJCUUFBQUFJQUhwUk5Wa2s4TnY0T2dBQUFEb0FBQUFTQUFBQWNtVnNjeTl3WVdkbFgzSmxiSE11ZUcxc3M3R3Z5TTFSS0VzdEtzN016N05WTXRRelVGSkl6VXZPVDhuTVM3ZFZLaTFKMDdWUXNyZmo1YklKU3MxSkxBR3FLYzdJTENqV0I0b0FBRkJMQXdRVUFBQUFDQUI2VVRWWmZ3cjlpZmdEQUFBdE13QUFDUUFBQUhSb1pXMWxMbmh0Yk8xYjNXN2FNQlMrbjdSM3NMS2I3YUpOQWcwRUtheHFXWkVxdFZOWDBIWnRFZ2VzQmhzbFlXMzNDcnZjSzB6YTNkNWdiN08reDJ6bkJ3cHhvSDgwbzg1VmN2ejVuT1B6K2VmWUdHZi9haHlBcnlpTU1DVnR6ZHcxTklDSVN6MU1obTF0R3ZzN3RyYi8vdlVycHo5Q1l4U3hOOENlNUFzYytUNXk0N2JHNmh4L2FHdDdOUTE4aEdQVTFvNjhFRjVxNEJ4aU1xQ1hUSzJXVnB4Vjd0Q0FocUphSTZ0MVJnTWNqZWFoQWk2UVBWZFlQSEJkUk9KR1czdlRjTjBXc3JSVTBtUVMyM0Q5cHBGSmFremkrMDJybVdQMmhNVDFyRnhpY3dtMExhdVJTZXBNWXZtRHBtOW1raGFUd0pZTlVUT1RtQVlIMlo3bDVZcE1KcWw1clJaeU00bkZWWnV3N3JtYVB0OTJmZGI0cFpBazRTd001V0pNVHVFa1FTOFVpTUxlQ0U1UWw0WmpHSU5QVSt4ZW5NTG9vcTN0bUl0cThocGRIQVJwaGY3MWhGbnRNU284R1h6R0N2Z3NZcG84R3BpMWpWT3V5NnpwTTNNeXlBa21xQlNSbzc0Z1BCekYzSkU5cWNXWlNtWjQzUlkrc0pWSlN6T2owbENVTnRUUjU2aDhiS2FsOU53bjlyVm5pTDJsWXE5aXIySy9XTDNLc2IvWDZwS3V2cHRlVGxaTTdlZDBTbmlTdEltVlowVUVCSDdyYUU4enJCZE0rNG9JQ1B6VzBWNk5YSEpGTDNpU2ViM3hvcGcyck9vUGNGc044QUtEVDVSSzNZRVgwOW8xVFZ1TjBVcm52UjA0NFVqQjIvclUxbFZDclVoVnBDcFNGYWxMcUR1bHAwOUM2aEh4RHNLUVhvSWUvb2I0QmtnY1ZxOWc1V2tPWHAvdjVOWFJaYWZ2VGdlSGJvRFdPNWsvSmlNVTRsaEdablU2MjNPY2NhM1lXbTl5b04rRnB4S3NvNWQwRHVkd09oaFVvZVBjYjhzKzhGMS9zUEdOM0F2dmw0cGFsVnNvYXBlYlZTbHFIYjFrWm5kNlRFWkQ5VU4rQmJySWlzUzN5cVAvY1hjV3UzWCtxS1gxQlRMd0g2K0Fpb0U1d1AwV3FwTEZ5T21qcTFpNEdCV3B6VXRsYmlYTjdtTVNpOXQrdDl0L2p2ejgrM1kwaXRjQlJ5K3pwNXpaS21kdStiQWhNMnRrUDFzWTZjU1ora09kRVJvUG9YdXg1bFpEN3Z4Y3llS3NJd3dNUTM1dUNVNnBoemhONFBCaTJNVng4bWtVemNUcjdINVl2cDZybml0S3IrMHVUWTdKdlYzdTU4S3QzWnZmMy8vKytRSGUzdno4OVc3cDhtNlhramk1ejN3U0ZjN1RNd0Rnci9NcU5TRkpqbDlObTMwRmNDanRwZXZxMlhza1BVYW14NmlHbnRxV3RxdEVEOXVUU1hwWDJvZDVaMTNxd1NJdldPdmllWWVTVEgzeEVDTkU1QkdnRjE4SGlNOFNiTkpndVJ4QlVTVGxZVVV0U2JUdVhNdlI1ZDRuMmFlOFlYMDZ3UzdvNG1qRVltU3c2YWFQZVpCTTlwWmFsL3dpa2RaTTRGYU9MczcwVXZERE1lY29nREdtSkJyaENUaUQ4WWpUTHY2b2tYbHJTTnc5NUZNZkRLL3pvTXFBdmVsNFBJK3ppdTlHT0IwWUJIUWFaN2k2VEY4M29NeGxNaXdQY3FrdnR5SlR3RWVhQUMreG5BNE5VWmlLVXhIN1N0LzRHdlFQVUVzREJCUUFBQUFJQUhwUk5WbjE3elFjZERRQUFHODBBQUFOQUFBQWRHaDFiV0p1WVdsc0xuQnVad0Z2TkpETGlWQk9SdzBLR2dvQUFBQU5TVWhFVWdBQUFRNEFBQUNZQ0FJQUFBQ2FtNUFZQUFBQUNYQklXWE1BQUJZbEFBQVdKUUZKVWlUd0FBQWdBRWxFUVZSNG5PMjllM1FiMTUzbithM0NHM3hUSkVWS3Qwb2xRYkt0aC9Xd0pkdEFiQmcyWXNmeEk1TzR1OE9FU2F1M3crNlprejJiNlRNN2ZjYXoyVG10NXV3NTZmRTVzN016MDNPMko3MWhUMEpQbUREcEpKMG9iU3Vkd0laaHA4cXhiRm1XTGNtU0JhbFVkU1ZCSXNVSFNBTEVxMnIvS0FDa1NKRGlBeUFBR1o4L0pMQ3FVTGdvMUsvdXZiLzcrMzEvaks3cnFGR2p4dTFneTkyQUdqV3FnNXFwMUtpeExHcW1VcVBHc3FpWlNvMGF5NkptS2pWcUxJdWFxZFNvc1N6VzIxUlVWWjMzb2thTnFzQmNxaE9ycXNweFhQNWZBQndIYVVoVWVQRG9KcUNVQWh6SHJmaThra1FCNG5aenVUOUZSUUhQODRxaThKNXRoS1lwQUNqS0thZWpLM2IyYkZDV0JaL1A2L0VRU2tVbEpNc1F2RjZQMjAybElVVUJ6ME5Sd1BQZGJqY2dTUklVaFhnOHEybFhqVHVka3BrS0FLZ1NwUVNjU3VuSlliU0JJd0RQRXhDQUE2SEFLdTVIVlZRVUJQdVBIQUVBbC84YisrV1hUMElRQkRrWUNLRFg0d0dvTWhEQ1lTOS8zNm5RcStOeUlCeEdPQXo1dFBPem40M0pRVmtXZkY1RkVRRUhlSjRISWZrVHF5cWdLQUJCelU1cUZLQmtwc0p4SE1BWnovN3Nmd0RYbmI4TDg5c01wbE42bllWWnpvbmxZQkF1RjhKaEFHanI4Z25qd1VBZ0FBQXVBSUFpaHlFQUl5ZmVEZ1J5WTd3dzZ0cTZsTkFyZ0NCQUFYamlCcFVBY0J3b0JRQVZvQURQODhicm1ySFVtRS94VGVYZGE2bDNycVZYK3E2eEdZMXJOQW1ON0VQRWFscGlBc1YxZTMxQnVUK2MzOEI3dlllOVBRVGl0NDRFNXg2NGYrOWQrTW5zZEdoNjVCcGt3ZWNUOGxzVVJjbitEL0FJOVI1QmI1OFhVRUs5QStqNzVndnVtclhVdUFXbWNtTEFwbE42WkNvVHZKeTZyOHR5WU9NaU5qekhHOEJ4WE81dmpvUHhQekJySGRrSlIrNGR1V1BtN2l0NDZ0cEVwVVloS3NoVThyeDNQWDNpV3NwRExLME9kbU5kbWQzWm1vN2htTlprWSt6bVpZMFBhOXlwRk0xVVZGVmQ4bm1jM1crNHhKRHprQzEyZEViRHo4NGxQaHBKZlRDY2ZseXdGYVdGcXlPWjBhd21kaktobXhuZHcxbnU3MXB5ZkZqanpxVkljeFZWb2hTei9tQlB0eHVTQ2xCSzNHNU9IUm9TZVo0blpQbk80bDlkVEhDTjdBT2JISHlUcVRndFhDMmFEcFpCTXFOUEpQU1hMeVIrZlNubTVjMFBiTGJZVExWTzVwTkZzYWIxQklRU1FLWGdQUjRDRlJ5QkNrSTRBT0FORnpHSFpUaUxhVFFUVXBKZTNrb2F5MndrQml3REFGWVQwKzVrL21pdll6S3AvL3hjL0ZVNStkaFdpNWNyWjNkWFk1MnBvTG5LUkVLL1BKNmhrNW1udDFmNkxUaVYxSDk0ZXVabVRQdmZEam5yckhkODl5SU52UmlTSVFpUTVXYW1vK3VSZTlvSlFBRVFRaWlsaGkrUjUzbUF1RUdIbEJENEhnL2hPRTZTSklTT2hOQUxMKzhseEYzVkRwTzE5aXFyY3cwdkpKclErQ2JUM2EybXlyY1RBUFZXNWs4T09ONkxwUDd5amVtdjdySHQyMmdwZDR0S2lRckRUR1RnL051WGh0VkxOM3B6VG5lM0c2Sm92RlJBdXQxVWtzRHpQUVNpS0lMZkJrVUJJTXZ3ZVFFS2xhdm1CYXRLNlZVbUVucVRyZm9lejJNejJuOStPM1ovcCtWemQxV0JoYThTVlhweE1HUzhQSDkrd3FxK0V3WUFmMitmMXdObE1DUUxnZ0JBbG1YQjIrTWhvamdvQndNUStyd3ZJUFQxSXdIajRMNytIcklpTDd5cXF2UG1zb1VkUWJuVmd0TGJZS1Y0YzZyUlRnQzAyTmwvOTNEOTJadXBuNTVObExzdHBVS0Znb0FzQ3hBRVlYTUtkWnk3dDYrdnI4L0xBNEFjQ0FDOExBTnlJQ0NEQStWNXI5Zlg1L1dDd08zMStmMnUxWDJvT0Rnb2lrTVNWRW1TaGw0Y2tsUlZIQlNIaGlSVkJhQU9EVW5xa0NTcFVLa29pclNJMzNaeEtxVlhxV29TYWYzZnZ6bjEzQTc3UTV2dnpKRlk5aEdQMlNlNE9uZkpsK000VlpVb0pXYUNUZ0NnaHV0ekxZOThTUnBTUXVCZjZDYVNSS0dBZUl3UUpFTGNIS2RLRXR3RUtnY01pWU5BajZlNzlOMUt6VlNLdzQyWTluKzlNZlh2SDYxdnNWZEtSNzBhRWdtd0xFd21zTlg4TFVwRHpWU0tocWltamw1SS90VmpkZVZ1eU1xSlJIRG1EQ1luWWJGQTAyQXl3VkxpN25Gc0RDMHRLOTYxSExadHc3WnRxMy83NHBRMENQK1RoWWV6L05PbG1UZlU1Q09jdGR4dFdUWVRFd2dHWWJWaTF5NTBkTUJ1aDZhQllXcTl5a0pxcGxKTXZucXY4NitQeDl5YnJlYkt2OU1TQ1lnaWJ0NkV6NGUydHRudHBvcFkrYTFBYXFaU1RMWTJtVmdHSDQyazluUlU5dnhlVmZIbW05aTlHejRmbUtyMFBhNC9sZi8wcXlaTUxMNjQwL2JTQnpQbGJzaVN2UGNlM25vTFgvZ0M5dTZ0MmNueVdkSlVWRldGcWtxcUNsV3R5VVlzajcwYkxlTXp1anFSS1hkREZ1RzExM0QxS3A1L0huWjd1WnRTWlN4aEtvWnRjQ0FVS2dDS21xMHNnem9MODZoZys5bEg4WEkzcEJESGppR2R4alBQMUNZa3EyQTF6dUpZSnVPc1hldkZ1VHFwL2J2ZzVILzlUR045UlVWU3Z2WWFra2w4NWpQbGJrZTFVbmhhZnpZV096czl2ZGg3SmpPWlRxdjFZRVBEaGxKNzM2dVROaWZqc0xBWHg5TjdLMmR5Zi80OHJsNUZkM2U1MjFIRkZEYVZuVTduVHFkemliZkZNcGtUazVNUE5qVlphdlBDQlZoTnpLTzg1UmZuVTVWaUt0UFRlUFZWL01FZndGeHplSzZlVlhyQW5DYlR3ODNOUHgwZUxtNXI3aGk4dlBYc2NHb2lVUm1SRUsrOGdvTUhzV0ZEdWR0UjNTejFtTWxGUFMrTWg4NnlxNjd1NDNoOGg4TlJ1dlpWS1J1Y2JJdURQVDJjOHBCeXI5ekxNaVluc1cvZkdrNmhTcElZT3RJZmNMbTQ1UFRkLyt3Wi9aVWdmRDR2ejJkVHVaU3NnQnJNd0VWRkFlU2dESi9nOVhqY2RMRk1yNDdoVTg2eko0TnlXUEQxQ2s0UHpud3JLQU9DSUdUVlB5c3ZzV1hSWGtWVkpVcXBwS3BRS2FXVVNnWDhYM2M1SE9kanNWSTJyMXF4c0hoTXNCdzlueXh6T3pJWnZQNDZIbjEwVFRGZHFqaHdwRDhBSUJ4V3JSMEFFQTRIK3Z1UEhCbFFJa09oQVJrOEZDaEtLQVFROElBc3k1RGxvS3lBU2dEUDkzZ2dpdUtRZEZ4UkZBV1FaUWdBUHNLNEhBNkhJUU5vQTJRQVFDQWdBeUNWWnlkWXFsZWhJRzVDSmNEUUtpVUZEckd4TExIYjFaa1pydWFrWDhERG5QVUhIODZNeHJWV1IvbldlU01Sek15c1ZWbVc4eHoyeXlFQVhnRUQvelRGT09ZR2hNcGhlQ0dINEVVZ2lKMkR3VmZrY0RncmFPaEREeUdpT0JnYUNFRG84M2FuUXdQOWdUQ0FmZ0g5Tys5UjRycmZMMERnZWQ1TXM2bGpMaGNDL1FQZ1NRVktGaTVxS3B6YkRZQXovcm0xMlhGTmMrVEM2VGliN2RUVTFIeFRtU2RUbDFlcnk2bllRVVZPNnNqWXVPZ1lyM3JaNEdBM05aamV2cHAreWxXK01kZ2JiK0QrKzljZUprd0V5RUVJa005UHQxalBYdHZkNjNMMUF5NGZEOGZoWGk4aHBBZFU3UFU1SVNNTWw4c2wrSHlRWlZBQVBPL2xmVjd3MlV3dklCQUlBM2p2M1ovM081L3M4L0pFVVFhVjhZNFl3bUZrNVhWZFFrVjJLd1hXVlpiMkZBT1l6R1EyV3EyOHpiYXJyZzVBWUd6c1lFTkQweHp2aWlwSm9oS1M0ZTNoUVJYQVF3Z1ZxY0xEazgzTEVSVkY1ajA5dVdRZEFrcEZSZUU5M1pYM0xGa0wvM0J1Sm5nNS9aK2VxR2ZMNGlhOGVSUGYvejcrNUUrd3BETnpXY3pONUlvQW5ZQ2hUcFdYbHJnbDFjdllCNWdKV1NyVEt4OEFNcnRGa2lqbTFEbW9LRmFacnhMWHRFZ3krVkVzZG45RHczUTZQYWxwZSt0bXUyVlZrcWlpd05QdGhxb2Exd21xQkVyZzVqaEkwaEFBdzRBb0JZaWJ3SkFScTh4THRIcHV4TFRlbzlIdmZxNXhRMW5HWUsrOEFwTUpUejY1MHZjWjBtYzE1ckdtMUs2NHBwMmFta3JwK25BeXVjWGh1SysrdmxqTm1raW5tNnAvRVNDUjFyL3hxOG51WFhiLzFuVWZnOFhqK051L3hWZStja3VBL1NKa2RNeWs5YkVaN2VOeDdXWmNNNEV4bVNyRHpRM2MzV0srdTdVaVFrTVd2eDNuQ0dRc0pwcnFZTmtIR3h1SFU2bWJxZFJQaG9mL210TG5pdVM4ajJsYWw5WDZZR05qZlRWSDBOak16UDFkNXRmVlJCbE1SWlpSVjNmYmRNTHhoUDdXdGVTTnVNYUFhYkF3MjF0TUJ6cXNqVmFtMXFzc1pGRlRVU21sNHFESTkzaEFSU2c4TGV6cnZwNU12aFdOcG5UOTZkYldUelUxRmJGbEUrbjBteE1UbjI1cE1WZHpRTUNuT090ZnZENGRUZWlONnlsSm8ybDQ1eDNzM2J0WVdHUmFneExOdktxa1RLeSt0OTNzSlZhSGlhbm15N3dlTE42cktJckNDenpBUVlFQ2hlZmNDdzc1S0JZYlM2Y1BOalRjU0NZUE5EUVV0MlZOWnZQOURRMVNOUHBJVVMxd25lRWFUWnFPeTlIMHZlM3JHT1F5UG81SUJKLy9mT0dkTS9xUHppWE1yUDdVVmx0bkhWc0ZDWnVWd1NybktsT1pqSnhJc0xxK3E2NU9qRWEzMmUyZDFwS01NVjRiSHo5UVg5OWN0Zk1XSGZqbXE1TjhvK25yQjlmc2hsbytyNytPSzFmUTA3Tnd6N25SekM4dkpyNnczYmF0dVlwSHRtV2h3QzE0VzJmeHRLWjFXcTA3N0hiQjZVenArbWdxNVdsc0xGSDdOcGpOTjFPcDZqVVZCbkFUMjgvUHo4eWs5WFdxMEpKSTROUXBQUEhFd2ozSEl5bnBXdXFQZGp2YUhMWEIxb29wY0F2ZU5xeDRLcFBKejdZdno4end0aEpxa0c2d1dLNGtFcTVxRGpNNzJHWCtmOTdPak1SMDByZ3VOK2lWSzBpbHNHWEx2TTNIcjZmZnBPbmVleDNyT211Nmcxak5RSFd1VjBxZW1kbGF5dnU0eldJWlNhVktkLzUxb01YQkNFMm0zMTFkcjNpd2Q5N0IzWGZqMWgvbDNHajZONWVUZjd6SFZyT1RWYk80cWFocU5xRis4Yno2a1ZUS3lySU5wZlRuMmxqV3hERFRtVXBOVlY4R0RqT3p2OU1zMHJTMkRtc1ZrNU80Y0FINzk4L2ROanFqRDUxTDlPeTBOVmUxOG1XNVdUeXltSXFVZ2xKVnBTS2xZcUhBWW9UamNWZnBBeVc3YkxiUkt1OVlIaUdXVTlmVDR6T2x0NVdQUGtKckt6bzY4aHZTR3I1N091NGxsaTBOdFhuOG1saDh1a3o0YkRBeDVSVkZBZFI1aFdSU3VqNlpUbThxMllRK1R4M0xqcWJUaTBTOHFOTFE0RUMvREwvZzgzcDVNMEt2aG1SWkJvVDIvUjFidTVJM1hqa0pueUJBZ0pQSG1ZR2dERUVRWk1DMzYzRyt6U2dMb3lnS2VFODN4Q0dqT0RkNHZ0dTkwREcrSnJhM21pMG1mSEFqL2VpV1VycU1VeW04L3o1Mjdab2JIL2tQRnhKT0UrdGJrK0NscWtyaVlFaUdJSGc5MjBEVHVVTG12TWZqNXVqUWl3TkIrQTU3UFc0M1ZJa09EaHdKaEFHWHYvZnc0eDZrRnl0VVJDbXRzaXBGaTBjVzU5ZFJPRzdoclRPVnlidytQdTV2YVZtSGtXK0x4YUltRmluSklJa0tJUGdoQjJUWjI3TXRMU0lRQ01QbDl3TVlQdjMzdnprVmdSR3QrdENYZSt2a2NEaU1jRGdNdUFSdlo3ZWJreVFKNEx1NzNRQWtBTGxmdE9oZm9kSEc3T3N3aDVUa0k3eWxoQXZodzhOWjRhSWNINDZrUDdpWitUZHI5bE5UNHlraXk2ZGlaMDYrTFlYRExwZGY4SGw1UklaZUhKQmxDRDQ1cEFBakhzUVV3ZWYzK3dUSVFWbEplM2dsKy95Wlg2am81ZmN2WTE5MVZTbGFwYk40bzlYNlpHdnIraVRXdDVqTlkrbEZDb081UGJ3Q0dSRDhFQlRhMmMxN2UvMXl2eXhERnNiYnJYdjgva2dnQUxoYy90MmY1bkhENWNyblVpeU9BdW91d2MvbTRTemZlejgyR25lME9VczJZWGp2UFFnQ21wdU52NmFTK28vT0ozNS9oNjJ1Q0QyWkRCa1FjT1gwalpZT3Z4K0JRQUNDSVBEZDNkNzBpemdTNkEvNysvb0FLQVBCSUFRSVFVRVdCQy9Fa0p3clZCUWFISUpScUNnMEVJRHc1YVQ4Zy81YzdvcUhWSDZmc25abjhUckFBSTBtVXpTZGJpeTB1a0k4UFByN0EvRDM5aE5PR3V6dER3QkFBR0dNMVhlT1RnRUF3b0R2dldOQkdXR1gzeTlBaGlBZ2tuTlZLS282MjQwb0FBK282bHF6b1JiaTJXejkxbStuTDA5a1NtVXEwOU00Y3daUFBwbFg1djdwaFFSWFo5cmJYcHdsS1RrY0NJZGQzRU4xZDI4U2RLY0x1VWNPSVlMZzkvdGxLSUFIdkU5QU1CQU9JSXl3WDlrWkN3U2N2WDJ5ckFoeUlBRHZDeDZhVDE4WkZ2enQyZHlWS3VFMnEvVXFZT1JmVWFDTXc4a1RrNU1iTEpZdEMxMElSZ1VjNHM1bWlSVW1tMWx4NjdqcTF2alBkU21UOXFlL25Oalpidm16UTA1VEtZemwxQ244OHBmNHN6OURYUjJBRDBmU0w1MU52SERJMldvdlRzOC9lNFd5VjVwU2loSHpjRnU2M1pocDVNc1ZTZG1zQ3hXUkNEbzdGeWxVUkxBT1Y3eW9MR29xUnM2SnduczhFRVVGS0d2ZTFVZ3FkU1lXODFaek1CaUFIM3c0OC9jZnpmejNweHZiaTk2eFpETDR3US9nZEJvVGxhbWsvbGZIWTUvZFludVlyS0pMMGFGcllHcnVzdmtzZFNrSnp3T0lnT2M5UnUzbHN0Rm1zVFN3N0x1VGsvY1hPeWp6dG1nQUF4VGx5ZXpmYXYxdjc4Wk9EMmQ4VzRwdEttTmpPSDhlZi96SHhsOC9DeWM2N0l4NzgvTHNKRE9OeERYRUZTU3VRODlBMThCYXdKUlZhS1poRitwM2xyTUJoYmhkYmoxdStjZGduZWNxQmwwMjI0K0hoNzl6N2RvVGF5bnB0SEtTUUNxVDBYV2RaZGtHazZuRGF0M3BkRGFhVnhPUDIxN0hIdXF5L1BwaTRtSE9VdVI0M3BNbjBkYUdUWnNBZkRpU1BoRkovL2toaDJscCs5WlRtRHlMc1RlZ0pXRnBnV01MbWg2QXBSRW1KMWdIbU5waTVYeldGaTY1V0VqTGJDNllXaFFaaW92eGVIQjhmTGZUK1kzTm01Zi8zWXFDQmlRMExhbHBVNWxNSkpXNm5reCtMeEpKNmJwZ3R6L1MxTlJtdFM3L21jRUFmc0gySDM4M2RUT3ViYXdyM3IwWWorUHNXZXpjQ1p0dEtxbi84TnlNZjR0bGMvM2k3Y3JFTWZvbXhpWFlObUxEazNBUW1LbzR4RzdkV0kwSERMa2cvRFBUMDd2cUNwUStORmI2UlhnOG9GUUJQTWpKVUlEak9GV2lXUm1LckZvQnNLUU14ZW5wNmZGMGVsOWQzZjJsWCs1Y0NBczRXTmJCc2sxbTgyYWJEVUNxcFdVaW5YNDNHdTJQUk93TTgweGIyMTJPNVVicWVqaXo4d1QrOGVQRTEvWVg3KzRNaHpFOGpDOTlDY0RQd3pNT00vUEVsc1dIVDVNZjROcmZ3MEhBL1Nsc0hiVTV5ZkpacFNleDNtVGE0M1IrRkl0SjBhaTd3QjNNQStDejNuSkt3WEhFUXdrbDRBQlFLRHdQSGdBeHBrQWNRSFA2aFBNNUY0c0JzRERNeGxMR0w2OElDOE8wV1N5ZjJiRGgwWmFXQy9INEQyL2NhREdadnREV3Rod3h0QTBPOXRudDlwK2VtM251TGx0eEp2ZnhPTjU4RS9mZWkvYjJ0eU5wOFdyNlh4MTAyQXFPdlpJM2NlMUhtRkd3NlN0bzJGT0VqLzZFc2FTemVMR2MramtZQ2NOM09aM3RGa3RiVVlYeEp6T1pzOVBUYlJiTE5vZmpWNk9qanpRM095dXlsdWVNcHIwMlBoNFlHOXZ0ZEQ3WDFuYmJpekFTMDd0L092NmxQZlkvTFVySGN2dzRqaDdGTjc1QkhhMy84WjM0azFzc1QyOHQ5RXk1R1VMa1oyamFqNjdmaDZrS2F5QlhBSXZuMXFzcUZVVjR1a0VsMFFpVEtqUTYybWkxZXBxYXhJbUoxNVBKeXpNemg0cmtvWXBwV3FmVkt0anQyeHlPaEthbGRiMHk3UVNBbldVLzI5cDZzS0hoNXlNajMxS1VMN2EzUDdUa1FMSE55VHkzdzNiMGZPTFo3YmF1K3JWOXFha3BTQkwyN1l1M3RMMzBibXhySS9zWllZR2RaS1p4NVNWTW5nUC9OVFRjdTZhUCsyU3p1QWVNVXNyemdNb1I4SUJTS05ZakwyNTBvTDdlWnpZWFVZNW9NcFBKeC9hUHBkT3RGVi9JcGQxaStaT3VycmVpMGNIcjEwOU9UWDI1bzJPSnE5RnpyLzFuNXhKSHo4Lzg4L3ZXRnAxMThpUkdSdkRWci83b1hHSnNSdi9uZXhkNHZXS1hRTDhEMW9FZC95ZXN0MWM1cXJFRVJaRE02eWp4Zlh4bWV0ckVNSGV2WFNKeFhiaVNUSDQzRXBsSXA3KzZjZVBlUWo0UGcvLzB1OWl4QzhtL2ZhWkJXSFdPKytnb3Z2TWQzSFhYR3dlZmVlbnN6TmYzMlEvTUsrZHk4MVZjK1FHYUQ0SDhFZGhLbWVsVkwwVVFZaTAxb1ltSlhVNW5jU2RDSlNXaGFVUER3OEh4OFNkYVdyN1ExbVl2TkhRY245Ry8rSk54N3hici8rR3BXMDJjaTY3akY3L0FCeDljN3Yyei8vc3NIdHBrNmJsbmpsTWhNd1g2RWliZVF1ZVgwUEhaMVgrVEduTllqYk40cnJ6M09qQ1NUTFpWVlVpTGpXVVBiOXk0M2VGNDZmcjFDL0g0NFkwYkYwYXZOZHVaUDl6citHL0hZODlzdHg3b1hQbFRRRlh4emp2VGp6MzUzY3RzVngyZTN6R24wNGg5RFBYdmtKN0cxaisvWXljbnR5emM1ZUlUc3h0TEpSVy9tanQrWGUwa2xXb3JqV3hTcWZFME52NWJqa3ZwK2w4cFNuQjhmT0VCejk5ajI5TEVmdWRrUEpGZTRSZzRsVUlnb0xlMi9tRERmVGRqMmxkMjJlMzVPY3JJYi9EeGkyQWRjSDN6VHJVVFZWVWxVYVNxOFpyU3dkQWdWZFdoRjE4VUtaVlVWYVZVRkF0bjdhNk5OV2tXTDRQYnhMUG5Id1FTUmNGTXVMT3hHSURiTG9sV0xCbGRqMnRhTEpQcFdNVGdkUjJyeWZyUmRUQ012akE0TFhFRFppZFk1NTBjbVNKSkVySWkvS29xVVFvRnBKdEFBZ1ZLS0JWZkpGTlJqeCtubloxdURxb0V1TE54TEJ6SEdWVUFDSEVEcWhISVlnUzVSSUJEK2IzRzExT0FBbHF2VlRkUnFYR25VaHozcm9yT1RrS2hjZ0RoT0ZWVlQwWWkrenM1bzlnR2daSDNZdWdnZ3lPVVJvQzB5bkhabmRubCtvVjF6YVl6bVl5dTEreWt6R1NybmdCUUZHVjgzTG0zK2VXUTdCTUVudmU0M1J5a0YxOE1DWUkzdCs2bURnMkorWndOb3dOd1p4UE9qVnFRUndMdy85NDNtcSsrZlBLR2tTRUp3ZHR6bXd3UFBaRkpYNGxsYnNTWmxhZDBtamZhVFIxRldPMHRqcWx3SEplTFBlYU1QN05qS2U2V1FSVm45QnF6VmNEeU9mc0Zlc3RvT2kxRm83NWMrbXVOOHFFTUhPblBsZFRDeHM2VDlYVkFFTUpobmxPbG9VRkZFQVFnTlBoaVNQRDI4QmlVK3dNQitHV2dwenY3OCtiVDdwUmNxdjBWVEREaGNEZ2Noc3NsQ0ZEb2ZKR1R1ZWdwTFhWcHlpTFVXN2F0ZHdyR1hOWmtLcmQxSzY4YW8yaUV1Nm5KVnFtTDlKODBGb2dTeU1FQldYNTZ2eHc0Q1ZjNEhIYjE5aDEyRW9CNnZYMENRaktnUUhXN0NabE5tUndPeVVFNWNNdEpYSUxQSndEOGtoWHRraDlOMk81ZDE4eUxncXpKVkpZVGc3dzZGc3VrcjFZa2FVaFJBTWd5dkQzZEJFUGlJT0RsWVFqL2VEekU2SVpWYVdoUTRlZU1SbFJKb2xBVThIeHVHSk9keUlaQ01nUkJnS2U3MjVnWVVvcHNGYlQ4ZUtkb2VMN1p4MU5DQ01TWFg3NXN0VzV4M2dnR0ErRXdYTDdPWnRuUXdJRUFZRC9IY2FCRGd6SWdlTHU3ODduRm9NckFrYUN2LzdDMzNZc2pSd0xBWnJRMysvMjdCTWl5TE1zQytFVjdsWlF5YmVFckltaXQxQjZ3R2xCVmlZcWhrS0Y1SWtDQTRJeWRlZmtIVHFGUDhBS2hnYUFzK0w3NU9BYi9UaFlPZTNrQVVFSWhXZWg1b1p0VHBTRlJtUk4wVFlpYmd6UTBHSklCWVhheU1QUmlTSVlBT1JnSWgrSHYrNmNYaW13cWM3Nktla3QrUFRkWDAyQjJLVU9WSkRwWDJpdGZLRkxLWmwzTUx5RzUyT0JMbTBobUpsTHpURVdWSkxqZG5LcXFIQ0FCUkJTcHgwT01EemdaR2Q3ZitUa3V2emRpUnVlaCtkNG1TQkxjYnFocUJMUVRia0Jham5MRUhmVGtybFE0emcwZVhsNFJnT0FSMmR2SGowQUdBb0VCUDN5Qzk3QVBJWmwyOXZRYzVpbVVnWUdnNy9CaHI5ZERPRUFhSE9nUGhPSHY2Kzh4QkE2STJ3MFZ2REVaNW5sQ0FLZ1NnRUFnc0VRTEFEMmphUk1weG1aaVdBWXNHQk1MRTFidXBjN2YwN00zZDZIYm5KczM5Y3dmcytCK3ZNMUtZVXFaTGpEMElnUzVWRUdRbzVHSThTU2hVQW5RRnVtaW5XcCsyanlVaHNkNGorRnZOUThqRFk0UWhVcUVnRWJNNU5BaHc0NlcvdUpBelZUV0EzWG9XMGY2YzBOOWZ3aDQzSGdabGlGQUFlU0FMUFJ3QkZsZFJvUVVueGNFSE53OWgvdUUwSkgrSTcwQndPWHYrMlkzSUZGRmdRd1pjbENXQmNIN09LK0VaTmwxRzRremZUb3ovVElGQThiQ3NuYVRibWRabTVsMW1KbEdzOGxoWVpyTmpNWEVzQXhqWW5RR2pJa3RqcGpBYXRIVEdvRFVoVW5yUFFXaU5MTG1sVFdINS9MV08yY2ZZS3ptdWJ1NXVYL05HbkEzeCtXMjVuTGpiMHZOVk5ZTmw4c0Z3TkFhOHg3dUV3RGVjQWtKZlY2ZUhzOHFPTUxsNitudW5uM1c4a0p2Yng4UWttV2ptanNCRkVBV0JEa1FCT0R0N1BaNEZRZ0NmL2d3SVlvb29tQ0dIR05obkU5c0JnQWRTR2UwTkpESzZJbU1QcDFPanlWeFdkTVpnR1VZTXdzVHc1b1p2U1Q2UzhzbEZZN0N6Sm82N1BwSEUzTzM2OU9wVlRpTFY4UVNudVhhWEdVOW1DZFNGb2xFT2pzN1o4ZjgzUHcxVytRWG8yK056ekJLeG5PZ0VzMHRSODhkN2F2UzdQYVZvdXN3YmdRZFlKa3k5eW9waldHWjFNVXAwMllINjZ5VXAzbk5WR3BVTHFud3BIbVRnM0hNczVZNWp3ZjFGbjJUM082NTAzUWp0RXBWMVFVVG94V0tpRmFLeWRhb3NSQ0xxeUYxYnR4eTl5M0wwS3BLcWFpRXdML1E3VmF6U2lZUktsNVVBUERiZUtRVkpTVHo1QVdPVTZVaEVUd1BjQVJVcE9nR0hSSU45M3kzbTVPb1NDaFBDWEZ6dUgxbS9Pb2lpK2NQQzNJMWl4YnVYbERLU0ZVbGFYSEYxQm8xNW1QbTYxUGh5VnUzS1FBdkdEVk5DQUZBU0NmaHdZTUhPZ2toSGw0dzVuVWdQQTlqQ2tqQmc2cGM3akRqclI1QUFiaHMyTlh0V1BFQXpGZ0NBeUZFRkVVZVBEd0VJZ1Z2eEhLcXFncEtLU0dFRG9xS2wvZGtSOXk1NUFKcGlDbzg2U1pVaWdDZGJuZk9VVGZIUzg5eFhDNzRNaGRlS1VYZVErZm55cWNEVzZPc2FMRjA1a3JNek5jeHRuSktNYTE4QUVaQjNJUksyVm9rSUJ3b0R5Z2doc2N0TCswbDhObENKVWFRSk1jQktsV2dRSUZLQ09uTUhrWTRUbFdsa3lmTisvZHpxa1FwQVpjTHZvVHhKMEE2RDFSODlZM2xVQ0JvZnBWUitEcjAvTlM3NEZudkpGaW5HVjNPRkkxcHc2c0psMXdwaXpuQnFtOWFuNHhyVmtlVkJZYWRlbjN5L0x1eFBaK3F2K2ZCT1F2UHlYajZwU05NZmF2cDkvNDF6Q3U0QTlKYSt1OHZENHdtaHIrMjQxL2FUWTVqVnllUFhabDZsalI4dXF1KytFMnZrV081dmNvd1RRNnI2MVVqZDBsU0NhMisyYng1aDkxZVJDM1RVbkx5MWNud3Fkait4eHEySDdnbFhpNXpJcUNQWGpOOTVtc3JzaE1BWnRiczIvakV3TVZ2aThPdlBkNzU5Rk9iR25Rd0wxK1pORE9NcjdNaXdxWHVTSlpyS3UzRTJrNHFKWEUzR2RmbytVU1h5K1pZbzQ1VzZYbi90YWxMSDhZUFB0bTBaZGV0NmZYVEUvcnhsOWw3SDJVMjM3V0swM1k2dVlNYlBNZEgzdHpYZlA4Rys4YlBicW8zQVVkcDFHcUNwNzFtTFNXaDBtKzFnbGdkN0xaOWpxc1hFK21rVnU2MkxNV3AxeWN2bjVsKzZKbm0rWFlDWk43NmhjNkFmZUNaVldmMlB0RDJjSnUxNHpmWGZtbjgrZVNtK2ljMzEvOU1pWjRlWDZSdVpvMjFzYkxmcVVCcHJMbWU0dmx1WXN6eEZCZmZUZHpZYWhxN3ZraU55QXJndERSMTZjUFlnOCswZExrVzlNYlJtOXI3cjdFSG5tQmF1MVo5L25wTG83dkQ5M0gwN09XcEM4YVd6M1ExdU51ZFEvTFl0VmgxMXk2dlRFeC8rWmQvdWN4RFZWV2lORW9CSER0MmJQTDBKRzNpdUNiMXpERWFaYUlVUURScXJBZWQrZS9IUkJQRE5YSk5UVUJUTkJybG1wcWduamtXVlpqR0pweUpScm1tSmxWVm85Rm9VMU9UcXFwTjBhaDAvanpWTks0cEtrbFJqb3RLMG5sUUxjcEZvMnIyR09QZ1c5dGpzVEkzbEdSclZ5V21FNTg3UG4zaDNkaER6N1pzRkFxTVdqT2hIMk42M1BUcFAyUnNhOHIyYWJRMGo4eGN2emgxZmwvclFjTU5kbmVqL1hJczlidVIyTDVXaDdXRXRZdy9pYXlrVjZFZ2JnSnF1SW56cWZDR3A1Z3I1Q2FHNFNsVzgyNWlHZ0VvVktOTUlJRDg0azhhWmdvVklFWklJREdjeUtDVXFxcUt5SHVVWWtHUFpMV3pyQWt6MHhVM0Jqdi9UdXo4aWRoRHp6WjNGQ3plRUIzUlRyL0o3SDJNYWRpd3hnK3ltZXdQdGoraVRsLzZPSHJXMk1JeTZObmFiRE94UDVUSHRTcHpiVlk2MWVjc3pxUjBreVg3dkJ5NWt0SXllZ2RmS2Y0R0FPZmVuZzYvSDMvZ3M0MXRpM2hCTXE5K1gxbEpZTjhBQUJRVlNVUkJWTC93anZrclIxQlhCTmtBVGMvOFFoMGFUNDUrZGR1L01MUFpEblk4bWZuMitadTdtKzNQa2pKVXBMbFRXWllIckhJOHhRQm1ZbHA5azZtbDA5Sk9yTTN0SnZWY0JjMWlUNzg1ZGVWaTR1SG5teHMzTEhKaEowZjFEOTlnSG5xdUtIWUNnR1ZNRDdjLzNuL2h2MzQ4ZVhabjAxNWpZN1BWOUpWdExkODVQOWJwc0J6Y1VLdklWUnlXWlNvVjVTa0drRW5wbzlmVDZ2a1o3aTY3cHVtSm1HWXJVTlpIa29hVVVMQS9FSGIxOXYrTmg3NzRMU054eXVYeSt3NzNiQ00wYlF3WUZhTWlCc1NoYk1JSXozZXZQRGxkMTNBeU9EbHhJL25JODgyT3hZdkxhUmRPZ0lGcHQyZWw1MStDRGZhT0hZMDdUNDBldjZkeEQ1UHpweEduNVl0QzA0OHZUN1RiVEZ2cUsraTNXMjhXMUZya0FCVXFsdzMvV0lGcTZ3cW05WlVEYTJMcUdrM1E5R0dhY2phWVVqT2FzM0grM2FtcU5NcE1NQk90VWJZWjZtL1ZlQ3p5b2EzVjFkb3FDTTNqektTYmUycjNia29wMFBUVVUwOXhUYUNuVDA4QVBNODNnWERjeWlTUzQ1UGE4VjlGTXludG9lZGFiRXRFRXVpYUZ2b1IwN0dWM2Yzd3FpUWxDOE13aklXMS92WkdZSGZMQVlkNWRsR2wzVzYybVBDUGRISlBxOTFlMWxTdE1xS2VPVWJGU1hFU1RaVFNhR01VVVp3NUpvcnE2Y21tUFZ3VEVJMUdnV2kwcVNtcXFnc2NSN2V5a2l1b3FsTE85enMzVmxoVlZTbTNVYzF2VXVlK0Q2WHdHamUxVzJ3T05wWFVKc2N5Qy9keUhDR0VCeUFJZ3VEMTNuZVBFd2lIdytGd0lCQUlCSmNJSlZWV1dIZjgrdVdrZUhTc2JiUDV3V2ViTGRZbERXQmlSRlBPTXJzL1ZVUTdNU0IxUXF1dDdmMng0L08yZjZxOWJtK0wvYVVMNC9HVnlpTGZLWENFejczSWJTSTh6L05HWExLcVVoaEZGcGNSWEx3Q1UxRkJJWW9paFNwSmxOTHNqVTlGVVJRVkNsV1ZRRVdxR3VrRTRxQW93VEFMYVVpazJZWnd4aHVnVU9RQzlDVkpCVlJWT241OGpnbXF0MXFrK3Uxdi80L0N4dFhCVzFNeit0UkVPcE1xY0N0UXFzZ3lBRGtZQ2tXR0FWYytaeGV6ZGcxbHJtVXJBSi9UT0xndE0xUGEyOGNtemgyZnV2L1RqWGNkckx1dFlsbm1qTVMwRTdhallFcnZtckNiSER1Yjk1MFpPNVhTNWs4cG55YU5YTDM1ZTVkR2s1OU1qeGpuZG5lN3U5MGNPTGZiemJrNWp1UGNicmZiblUydWQzTWM1K2E0NVl6QlZoWlpUSGdlQkJ6bmhpVGxySkRuUFlaaDVzMTJOcDJBQTBUd0hvSjhmREh5d2NXZ0ZCd2h4cnZNbldsS2N3dVpFcVZtTXpuRVFSSkZlRHpBcGsyZ3M4UExXK0YzT1U3OE9ob2RUYmRzbkxmQXdybmRIa0k4eUkxRm4vdmNDN001QklZZUpzZGx0VHBVRlhreHJ0dVJTdWpSMGRURlUvSDRsTDVscDIzTHJ1WE5tM1ZkLy9nNHMzVS82a3BTQUdOUDgzM2lqVmZseVFzN21uYk4yL1Y1cnVrZjFJbi9lWEhzZjNHMWZoTFdXc0tUeVVnOGRYazYxYnFHb1AzdERiYnREYmZNOGFyUFdieVFWRUk3OFU5UmJxZDkwL2JiMS9oZEticU9kRkxQcFBWVVVvdFBhWkdMaWVtcGpKbGhoVDMyMWk1TDNtMTllOGFIVS8vZm41dS8raGRNbCt2MkI2OGNUZGQrSW4vUHhGcWUzL0xWZ2dmOFZKbVlUdUpMMnhvdEt6Y1hTWktBRU9BZEdWSE92QnlVWjdXR1BjU1FqZ1NNcHg2bFl1aElFSDZmME9QcDV1alFVQ2pZSDRETEJjRjN1S2ZiemVWVmpDRkpDQjBaa0YyQ3orZmxQUVRpWUVqT250TTlxeFJnNlArcGtpU0dCdnBsdUFENHZ2azMzWXMvMGs2T3pUU1ltUTY3cGNGUzVPbFo5VG1McDZPWnVnV1RlS3VUZmZmWFVmSG8rSzZIaWh5SXJtVzBkQW93OUV5YzdDYVhyYm5EWWw1NlRsS0l6SVVUVEFmSE5IVVV0M2w1V0liZDIzcndsK3FQNCtrcGg3bkFSWGllYnpxcVJyOTNjZXlMVzVvYlYzSWJxYXFrS0FQQi9uQVlBYURWaGRGWnJlR1REc1RpQ3MvemhzRVFaZUJJUC95OVBnRVFxYlFOZ09EcjlRZjdBK0d3RU5wMUhEU3RLQW9nS3dyei91VXRUUWlISWZoNEVJN2plQzk0S0lRUVNsV09neVNKQ2p3ZW9xb3F4MUZGa2VVd3dnakQ1Zkl0M3RUM1J1T2REbk9Yb3lRQkhGWHBMSjVIS3FHOTg2dm9mVTgwYmQ1ZS9JcUhxNngvc3VBMGtEOWd1SHZnTEtGQTlaWjZsOU5TZHo1NmRsL3JvWUlIUE1jMUhoK0pEWVRIbitQcXQ5UXQ5d2ZsS0FCQjZQV2hQOWorVUV2c3JkRlpyZUg5QjBCRitjaEFzTmYzVFk4bkF2aGNybUNndngvKzNqNmVwQlVGc2d4QjhQc0ZDTjc5aDl5Y3BDamdlZS9JUno5SmZuaEpkdm45QXFDQWtweERnbElLNHBaZWZQSUkrdnA3d0VFY0VzZkhMNC8vSklEZXZqNkVCb0pZYkE1K2NTcFpiMmJuMjBsQlovRnNLdjN5Y29VQjNBRXlGSnFHOTROVDl6eFUxOUpSa21kSmNaeFYwMUg5eW5uVGc4OFU0MXlMWWpjNTcybTY5K3pFKzN0YjdtY1dDVmcrMU9Za2RaYWZxNU91ZXV1bk9weE84M0s2RndXQWtaRitCYzBQK1AySFpyV0czNE1peXhBRW51YzRqZ05OSHo3c1V4UWZlQ1B3eVJCK0RQWUh3dkFMUFNvazhEeFBpQklhUU1lbmZKZCswaDhJdTNyN2VnakhVU29CeEdOTVhia1grdnNrU3FsSXdmTzhwNXVuZXgvQmtZRUJDSWY3dkFWbFZzYVNtZUdaOUlOdDgyUHFWQ3BTa1JkNTRnR2xJSUJxbUtOUkZFK1ZSS3BBNFQzZDd0c3JVUlNyRk5FdEg1U3ZPSVNsUzNJdC8rVEFZZ3RGOG9meHFmSDB6Z2ZyVnpCdFdIZjBqOS9MdlBaOTgrRSsyRXViVERLYUdQN3UrYi8rMnQzL3F0bTZsSFM4cGlNWW1ibzRuZUtkNW9OdHptYUw2WGJ6bDF1OC8zTjB5M0o3cFRuemxUd1I1Tlo1QVdERVRQWjM1bVNPSXhHYVRoTTM0VlJxbEtOYVVqa2hMM3E4cU1MeHI2OU5QZDVaWjFyNFlGTWxTVVJXejRFU0VCQlFLaXJnUFc0M3AwcERGUHhzcWF3bEw4R3FUQ1VyRmpFMFJMczlSSXBFU0dlYUduck9xdlRpZlBXSm5QU0VPNi9heEhHUXBBZ2huYk4xdkNSRUNBN2xWWmxweEV3NkQyVmxsNkZLb3Fqd25nTFZhbTRveVZSU1M4YjFyZmRXZFBoRzV0aDNvR1ZNVC8rTFVuK1FwbWQrZk9sL2tMcXRuOXJvdiszQmlZeit3WGo4bzRtVWljR3VKbXVudzJJM3NWWVRiQ3hiTFk2eVJFWUhBM0U0OWxDYncxSGlaZFpWRGNDeU56M1BBNkJBdGxhQndYejFpYngzMk0xeDRCRDVCVTJESThTTXVXK2lpQkFjUXY3Qk1SSzVoclRxSmtSQ1ZxcTVRTFdhaWVGVUlxN1pIS3l0K0g2dm9qSXpyVis1d0Q3eWUrdndVU3hqMnJ2aEFmSEdxNGZhSDdiZXJsYTl6Y1FjM09BOHVBR1RhZTM5MFpuTEl6RU5nQTZUQ1paaUw1S1dDR2s0WmpleE94cXRyMStmWCtkbk5KR3BPWXVSVHVrM3I2ZVRzUXgzbHozOGZvenNzQmVLQWFzVTlPSEw2Ui8rQjh2WC9rT0pWbFRtRWMvRS91N2ovL0o1N3N1YjY0VFZuVUhUVVMyOXlreEdaeG1JdzdFSEs2MVhxUVN2c1JGWjNOcHA0ZTZ5cDVNYXd6S1ZiQ2NBdFBBcHRtczdIT3NrcCtJd09lOXUzUHZlMlBGVm0wcTEyQWtBb3dxNWIyUGQ0bk9WaFI2d1cwSWsxZVVJU3dKWXFhbFVndGM0bmRMTnVSbjgrSENtdnFtY01tcTNKNU9DY29iWmZoL1k5V3ZuL3RhRFA3ejBkN0gwdE5QOFNaR2tPTGpCOGM3TitMSThZRlFVUXpLOEwzUzdjM04rNm5Fdnd3TlcwYy9qZ3BqbmVMcWlOMU9MWm9aVUNQRXBmVmhodHUxYno4OXNzYlcxV052Q2t4K3Q1NGVXbHhhcnFkMXUvamc2UDNscFliZ2tSM2dJV1JsWERzWkVlbGxhckNXYXE4d1JHUy9RdzZrNWRmSjhQN2dhaDNKeVJsUE96c3dUMTZvMHRIUEg5ZU12bTdyL0xTekZYeDVkZ2cvSDN6czFldnhMVzN0WnBySjczYUpTL3RYNnBWRFY0MEJuN3NZSDFLd29PZS9wZGh1MURHV2dwOXREVllCU1FoUlI1SG1lRUE0Yzh1NHRsWXBRZUxoekN2OVprZUo4elQ2Z2dEdDlZaVRkMUZiWlhRcWdoMDlpeTY1MXRoTUFydnE3Zm52OU4rUEpzVlpiMnpwL2RCazUwT280T1RZem5kWTJsaXNHYkNtNENINlJwdUFJcFhBYlN5S0dtdkhzalMwRDRBaFVRMlNDNXdrSXVFSmF4c2NKMGhRY0FlazhBQURJMWV3N09ZeTJCYllTSGMxc3VXZTliOEdWTVRPdFJjTG0rMHUrbkxJUWg3bHVhOTJPRDhaT1BOcjU1UHAvZWhuWjMySVBUeVpQamMxY25rN1duTVZJeExVckh5YzJ1V3lWcnNWNlEwbi80LzlyL3NwZndGcUdVZUxJelBWL1VMNy9oNjcvMVdhcThJV242bUNWdlVvWnZjWlZwRm1jT1NNeS9PNnkyQW1BTm50SHMyM0QrZWpwZTF2dUwwc0Q3akJXYVNwbDlCb2JLL1JsK2VpVmtZaHBsejh3UC9XbjVXc0I0KzU0UEhEMTZNNm12WG5kb3hxcnBocnV1VnVwRGpzQjlCR1ZOVnZXSXJXNmRycnNteTJNVloyK1ZNWTIzREZVeDIxWGpXZ2Z2SW50QjlmZjl6VVhsbUU5SGI3ZmpieWg2eFdud1ZsMTFFeWxOTVNuOU1oRjlwNEh5OTBPYktuZmJvTHBmUFIwdVJ0UzlkUk1wU1Jva1l0TWZRdlQwRnJ1aGdEQVUrVHpiNC84ZGpJMVVlNkdWRGMxVXlrSitxblhtZDBQcjJmYzF4STBXSm9QYkhnd0dEbVcwU3UzeGtibFV6T1ZFakE5b1U4TXMxdDJsN3Nkcyt4cFB1QTBPOThhZnIzY0RWa3o2bHlSdUFYMWZJemk3Nlg1NUVvUERLbEdOT1VzMDlwVlVzV0pWZUR2ZXZhWDZvL2ZIbm45Z2JaSFYvWk9WWlVvTlpSV0FDWTJ2dVhHU1JrQ0lBZ0M3K0ZCa1pVZ01vNVZaN1dPSWxTOEdKSmxXWWJnRTNxNmw1QWtLdkNSNE55Y0tuMDdZbjY2czVNRGxhaWlLTHpIazZ0TndvR0tJandlRGx3Mlg1a0NoSXFVOGdwUUlHTjJ6WlNyVjVrdjFub0hvV1hPaWN6K3g4dmRqSVV3ejNKZm5FcE5CcTRlWFNoQ3VTUVVvVkF3R0F3R0lWKys4ZHJiL1lGd0lCQUlCUHFEY3U0STQrYzhmbHdTQndjSEJrSUFLTWR4blVxd1B4QUlBTElzeTRORDBrcCtid0lWQUxtdnN4TUFPRUxBOHg0M0IwSUFFQUtWQWxEeU9vdFFEQUZkSGdwNHNzZzUxOGI2OUNyNWg4UVFpQWNBSWxTOHFQQ2VGVHhucWdWOStBcVRTTENkMjhyZGtNSTgzdlhzZXpmZmZvWCs1TEd1Wnhvc3k2dSt3aEVJRUNESU1vU2RIZWQvYzh0T055RXFrTlhOSTRUM1FnaEFBWGhWVlNQODRWNy9nQXhCRUNETFBGbityNTJMOStQeUtrMWNOdXljNDdqY2kzekJBbzV6YzkzdTNNdGxmOGdLV2E4QldQWWg0VEZDa0NOUUlFUHhxTzVscXpCVkM5cmJ2MlFQZkhxbDliWFhrd01iSHVEcStOOWNPYnFqNlo1N212YVoyZHZmQTRTSDNCOEl3eVZjM1FvQWNQWDJIZVlCSUtLaUV3Q29NbkFrNk92L20yNTNEM3JGMEVBSWgzdk1CTXFyUUNBZ3UxdyszK0dsTFdVc09YSWpIcGxLVDE2WnZ0eHNMWnJuY0V1OWEwdDljZVE4S3laY2NtYTYxTUkvNjRBK2ZpUHpxMzd6OC85N2VWY2VsME5hVDUwWWxpS0pxN3ViOW0xcnVIc3gzVERNcjVVYmVZK20yNG5iemFsejlZM3k2a05TVHJwbnJoeFJsa1d5REtPcDhVdVRINXRaYzV0dFk3MmxvYzVjV1hPOFBDVTNGVjA1cXl0bmJuOVlmSXBwMmNqZWRSQ05WWnhma1FuOFQyYWp3TzU1dU53TldTNHptZmlKRVdrOGRmUHV4bnU3bkpzZHBqb3dESFI5Q2NzcENvbk1ETXV3VStuSnF6RWxyYVczTnV4b3RCU25qRm5wcUpoZUJjRE10SGJoQkh2UFE1VThlbG1LOGV2cFgzL1AvTS8rSmF4VkZ2UWVUMCtkSGpzNW1yckpndFdnV1JrTHk1UjJaQjZlUE9jMDE3VllOOXpmOXVBR1cyZkJZM0xwczRVRVZPZW9LT2JrNWxSd1VBc3FUeGFKU25JVzIrdllQWTlrWHYraDZkRXZsYnNwS3ljUlR3ZUhUQS8vZnRYWkNRQ0h1ZjVnKzhNQUVwa1pobUVzaktYVXZZcTd3NmZwMm5oeTlQekUyZTJOYUxmUHQ1YTgvOWR0T0F3b09EY0hTaVZEUUhWV1JJNnVnNXZZWUoyY3hibng3cHphWFlzNGkxbCt0MzdsL1BxMHFuam9tZDhkWlRadlo3b3ExUEcxVEd3bXU1VzFsZHBPQUZoWXE4MWszK2pZNU81NDdHWmkrS09KRCtZZmthLzhia0FBVmFMWm1qM0l1NHlCOVhBVEc2ekhBQ3hYL29lNFFTVUtnTGdKSFZwRVd4V3BoSGJpMSt5RHp5NTJNbWxvY0tCZmhsL3dlYjI4R2FGWFE3SXNBNExnODNvOXhNMUJNa1J3aWZqMWJ3VUJRZkRCeTN0aEprZ2I2MmhHUGpOeGd3NHBJZkE5SHNKeG5DUkpDQjBKb1JkZTNrdFdLSWlodmZzclBUcGlldXdySzcweU5ReUdaeUlmUjg5dWR2TE4xdGFtSmRXV3k4aTZETUFvaUp0UUtWZllpMEJkd2xsc3NhR2R3N0NLOWtKM3F5UXFnT0NISEpCbGI4KzJ0SWhBSUF5WDN3OUFBWFdETTdvcXFrYkdrK0d3Q3NBbmVBRjBjaEJGNHh3S1NMZWJTaEo0dm9kQUZFWHcyNkFvQUdRWlBpOFdMeEcya0ZSQys5MVJQUkV6K1Erdi9MclV5Tkp1Nzl4Z2ExZW5aWG5xd3VXcGNGR2N4VVYwRXh0VXpMUStHWWMxSzlHdFQ0N3FsMDZ4ZTMyRmpsT2xJVEVreXdBRXdldnBCaDBLRGZUTDhFT0FJSGk5dktJbzRIa295dmpsZnp4NUtSSVcvTDN3OGw0TUs2R3oyV3BUc2l3TDNoNFBFY1ZCT1JpQTBPZDlBYUd2RzZXNjRlL3I3MWxtcFR0OWhHcHZIV1UyN1dEdiszUXhMa0dOaXFhRXZjb3kzY1RaZzJOUnBtVWpObXhtaFQxTVE2dWVTV042b3FESUwvSHc2TzhQd04vYlR6aHBzTGMvQUFBQmhBRy9keWZQODd3eGlIVTYvK0RwTDhjb05VcEJZVGdVQ0tDM1Q1WVZRUTRFNEgzQlEzbmV5L3U4NEVIZzl2cjhRTUN3bG1XUW1za2Nmd1ZqTjB5ZUw2QzFzQU9ueGgxR3hmUXFBSkp4UkVlMGo5OEZ0NU14V1JDZllyYnRuWCtNcXQ2NnlIVUxzM1UvNXRiL3lMN0ZrQlBrT09OUE04bXVNbE5LM0c0T3R5eW9MY1gwaEhiNkRXMzBPcnZqQU91NmI2MWZ1VWIxVUVtbWtrT2o1NkNlMVROcGRQQ211eDRvYzJ0MERReUw1SXcrU2pPbjMyTFNLV2JIQVpiZkJYUGxWdnlyVVFyV3hWVG0xdDZidTY2MHhGTmN5MlJPdmFhZkN1S0d5ajcwdVpLM2NISDBkQXJRa0VtanJzbTArMkUwYkNoalkycVVrWFZ4RmtzU1ZVSUszK09CSWJqcVdjcFpEQURRVHIrcGoxQzBkSm4ycmpDNW91am9HaExUc0RvckpLV3hScmxZbHlWSVJWRjRnWjhqUEo1MUZxUEFHcVErZmwwN2ZneDFqZXptdTh0dkp3QVlGdmFHbXAzVXFLUzVTbnhLRzd1S3NSdnM3b2UxTXlMVHRZMXBxVG1YYWxRS0ZlTXNqazh6clozTVJwN1ovVERTS1V6ZVpIWjVTdGUyR2pWV1NzWDBLdkdwZkFrNC9lb0ZKR0xNMWdXZTRobzF5a2ZGS0xiTUtaV29SeTR4RzdlV3NTMDFhaXhrWFdMQTh0a0ZtSnQ2Z0lMT1luMWlHQlpicGNtZDFLaXhIcjJLU2tWS1FhbXFVcEZTVVZJQmxZcWlTQXNkckY4TE0xM0ZqSEtyVWFNb3JNc0FqUENFR0lGWnZLSkFvZXFpenVKTUN0TlJwbTNUZXJTcVJvMlZVREhUZWdEeEtlMVVrRDN3NldwTUpLeHh4MU5DVTFtNXMzZ2p1Lzl4bUtvenNiN0duVTdGOUNwem5NVTFhbFFnRldNcU5XcFVOaFd6cmxLalJtVlRNNVVhTlpiRi93L285U1hRZGswL3lnQUFBQUJKUlU1RXJrSmdnbEJMQVFJVUF4UUFBQUFJQUhwUk5WbXJocWZsdGdFQUFEWUVBQUFNQUFrQUFBQUFBQUFBQUFDMmdRQUFBQUJrYjJOMWJXVnVkQzU0Yld4VlZBVUFCMmdyN21aUVN3RUNGQU1VQUFBQUNBQlRmd3BaMjY1NkNlZ1BBQUEwRWdBQUNBQUpBQUFBQUFBQUFBQUF0b0hnQVFBQWJXMHVZbXRwZDJsVlZBVUFCNjRkdDJaUVN3RUNGQU1VQUFBQUNBQjZVVFZaTXBsaHplOEdBQUFoRWdBQUR3QUpBQUFBQUFBQUFBQUF0b0h1RVFBQWJXMXdZV2RsTDNCaFoyVXVZbWx1VlZRRkFBZG9LKzVtVUVzQkFoUURGQUFBQUFnQWVsRTFXVlNEWjZrc0Z3QUFVblVCQUEwQUNRQUFBQUFBQUFBQUFMYUJDaGtBQUhCaFoyVXZjR0ZuWlM1NGJXeFZWQVVBQjJncjdtWlFTd0VDRkFNVUFBQUFDQUI2VVRWWkkzakxaSllDQUFBVURRQUFGUUFKQUFBQUFBQUFBQUFBdG9GaE1BQUFjbVZzY3k5d1lXZGxYMlp2Y20xaGRITXVlRzFzVlZRRkFBZG9LKzVtVUVzQkFoUURGQUFBQUFnQWVsRTFXU1R3Mi9nNkFBQUFPZ0FBQUJJQUNRQUFBQUFBQUFBQUFMYUJLak1BQUhKbGJITXZjR0ZuWlY5eVpXeHpMbmh0YkZWVUJRQUhhQ3Z1WmxCTEFRSVVBeFFBQUFBSUFIcFJOVmwvQ3YySitBTUFBQzB6QUFBSkFBa0FBQUFBQUFBQUFBQzJnWlF6QUFCMGFHVnRaUzU0Yld4VlZBVUFCMmdyN21aUVN3RUNGQU1VQUFBQUNBQjZVVFZaOWU4MEhIUTBBQUJ2TkFBQURRQUpBQUFBQUFBQUFBQUF0b0d6TndBQWRHaDFiV0p1WVdsc0xuQnVaMVZVQlFBSGFDdnVabEJMQlFZQUFBQUFDQUFJQUNVQ0FBQlNiQUFBQUFBPSIsCgkiRmlsZU5hbWUiIDogIuWvvOWbvjEuZW1teCIKfQo="/>
    </extobj>
  </extobjs>
</s:customData>
</file>

<file path=customXml/itemProps8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WPS 演示</Application>
  <PresentationFormat/>
  <Paragraphs>254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FZYanSongS-EB-GB</vt:lpstr>
      <vt:lpstr>Segoe Print</vt:lpstr>
      <vt:lpstr>Helvetica Neue Light</vt:lpstr>
      <vt:lpstr>Helvetica Neue Medium</vt:lpstr>
      <vt:lpstr>Helvetica Neue</vt:lpstr>
      <vt:lpstr>FZYanSongS-DB-GB</vt:lpstr>
      <vt:lpstr>OPlusSans 3.0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1129</cp:revision>
  <dcterms:created xsi:type="dcterms:W3CDTF">2019-02-26T11:09:00Z</dcterms:created>
  <dcterms:modified xsi:type="dcterms:W3CDTF">2024-09-21T02:11:57Z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