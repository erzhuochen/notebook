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72.xml" ContentType="application/vnd.openxmlformats-officedocument.customXmlProperties+xml"/>
  <Override PartName="/customXml/itemProps173.xml" ContentType="application/vnd.openxmlformats-officedocument.customXmlProperties+xml"/>
  <Override PartName="/customXml/itemProps174.xml" ContentType="application/vnd.openxmlformats-officedocument.customXmlProperties+xml"/>
  <Override PartName="/customXml/itemProps175.xml" ContentType="application/vnd.openxmlformats-officedocument.customXmlProperties+xml"/>
  <Override PartName="/customXml/itemProps176.xml" ContentType="application/vnd.openxmlformats-officedocument.customXmlProperties+xml"/>
  <Override PartName="/customXml/itemProps177.xml" ContentType="application/vnd.openxmlformats-officedocument.customXmlProperties+xml"/>
  <Override PartName="/customXml/itemProps178.xml" ContentType="application/vnd.openxmlformats-officedocument.customXmlProperties+xml"/>
  <Override PartName="/customXml/itemProps179.xml" ContentType="application/vnd.openxmlformats-officedocument.customXmlProperties+xml"/>
  <Override PartName="/customXml/itemProps180.xml" ContentType="application/vnd.openxmlformats-officedocument.customXmlProperties+xml"/>
  <Override PartName="/customXml/itemProps18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8.xml" ContentType="application/vnd.openxmlformats-officedocument.presentationml.tags+xml"/>
  <Override PartName="/ppt/tags/tag182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9"/>
  </p:handoutMasterIdLst>
  <p:sldIdLst>
    <p:sldId id="406" r:id="rId3"/>
    <p:sldId id="360" r:id="rId4"/>
    <p:sldId id="715" r:id="rId5"/>
    <p:sldId id="679" r:id="rId6"/>
    <p:sldId id="689" r:id="rId8"/>
    <p:sldId id="690" r:id="rId9"/>
    <p:sldId id="691" r:id="rId10"/>
    <p:sldId id="688" r:id="rId11"/>
    <p:sldId id="692" r:id="rId12"/>
    <p:sldId id="693" r:id="rId13"/>
    <p:sldId id="700" r:id="rId14"/>
    <p:sldId id="694" r:id="rId15"/>
    <p:sldId id="695" r:id="rId16"/>
    <p:sldId id="697" r:id="rId17"/>
    <p:sldId id="696" r:id="rId18"/>
    <p:sldId id="698" r:id="rId19"/>
    <p:sldId id="699" r:id="rId20"/>
    <p:sldId id="701" r:id="rId21"/>
    <p:sldId id="702" r:id="rId22"/>
    <p:sldId id="703" r:id="rId23"/>
    <p:sldId id="704" r:id="rId24"/>
    <p:sldId id="705" r:id="rId25"/>
    <p:sldId id="706" r:id="rId26"/>
    <p:sldId id="707" r:id="rId27"/>
    <p:sldId id="708" r:id="rId28"/>
  </p:sldIdLst>
  <p:sldSz cx="12192000" cy="6858000"/>
  <p:notesSz cx="6858000" cy="9144000"/>
  <p:custDataLst>
    <p:tags r:id="rId4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gs" Target="tags/tag182.xml"/><Relationship Id="rId42" Type="http://schemas.openxmlformats.org/officeDocument/2006/relationships/customXml" Target="../customXml/item10.xml"/><Relationship Id="rId41" Type="http://schemas.openxmlformats.org/officeDocument/2006/relationships/customXml" Target="../customXml/item9.xml"/><Relationship Id="rId40" Type="http://schemas.openxmlformats.org/officeDocument/2006/relationships/customXml" Target="../customXml/item8.xml"/><Relationship Id="rId4" Type="http://schemas.openxmlformats.org/officeDocument/2006/relationships/slide" Target="slides/slide2.xml"/><Relationship Id="rId39" Type="http://schemas.openxmlformats.org/officeDocument/2006/relationships/customXml" Target="../customXml/item7.xml"/><Relationship Id="rId38" Type="http://schemas.openxmlformats.org/officeDocument/2006/relationships/customXml" Target="../customXml/item6.xml"/><Relationship Id="rId37" Type="http://schemas.openxmlformats.org/officeDocument/2006/relationships/customXml" Target="../customXml/item5.xml"/><Relationship Id="rId36" Type="http://schemas.openxmlformats.org/officeDocument/2006/relationships/customXml" Target="../customXml/item4.xml"/><Relationship Id="rId35" Type="http://schemas.openxmlformats.org/officeDocument/2006/relationships/customXml" Target="../customXml/item3.xml"/><Relationship Id="rId34" Type="http://schemas.openxmlformats.org/officeDocument/2006/relationships/customXml" Target="../customXml/item2.xml"/><Relationship Id="rId33" Type="http://schemas.openxmlformats.org/officeDocument/2006/relationships/customXml" Target="../customXml/item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4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image" Target="../media/image7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image" Target="../media/image8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image" Target="../media/image10.png"/><Relationship Id="rId5" Type="http://schemas.openxmlformats.org/officeDocument/2006/relationships/tags" Target="../tags/tag50.xml"/><Relationship Id="rId4" Type="http://schemas.openxmlformats.org/officeDocument/2006/relationships/image" Target="../media/image9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4.png"/><Relationship Id="rId14" Type="http://schemas.openxmlformats.org/officeDocument/2006/relationships/tags" Target="../tags/tag55.xml"/><Relationship Id="rId13" Type="http://schemas.openxmlformats.org/officeDocument/2006/relationships/image" Target="../media/image13.png"/><Relationship Id="rId12" Type="http://schemas.openxmlformats.org/officeDocument/2006/relationships/tags" Target="../tags/tag54.xml"/><Relationship Id="rId11" Type="http://schemas.openxmlformats.org/officeDocument/2006/relationships/image" Target="../media/image12.png"/><Relationship Id="rId10" Type="http://schemas.openxmlformats.org/officeDocument/2006/relationships/tags" Target="../tags/tag53.xml"/><Relationship Id="rId1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9.xml"/><Relationship Id="rId4" Type="http://schemas.openxmlformats.org/officeDocument/2006/relationships/image" Target="../media/image15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19.png"/><Relationship Id="rId7" Type="http://schemas.openxmlformats.org/officeDocument/2006/relationships/tags" Target="../tags/tag67.xml"/><Relationship Id="rId6" Type="http://schemas.openxmlformats.org/officeDocument/2006/relationships/image" Target="../media/image18.png"/><Relationship Id="rId5" Type="http://schemas.openxmlformats.org/officeDocument/2006/relationships/tags" Target="../tags/tag66.xml"/><Relationship Id="rId4" Type="http://schemas.openxmlformats.org/officeDocument/2006/relationships/image" Target="../media/image17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image" Target="../media/image20.png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image" Target="../media/image21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22.png"/><Relationship Id="rId1" Type="http://schemas.openxmlformats.org/officeDocument/2006/relationships/tags" Target="../tags/tag12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image" Target="../media/image23.png"/><Relationship Id="rId1" Type="http://schemas.openxmlformats.org/officeDocument/2006/relationships/tags" Target="../tags/tag13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60.xml"/><Relationship Id="rId6" Type="http://schemas.openxmlformats.org/officeDocument/2006/relationships/image" Target="../media/image25.png"/><Relationship Id="rId5" Type="http://schemas.openxmlformats.org/officeDocument/2006/relationships/tags" Target="../tags/tag159.xml"/><Relationship Id="rId4" Type="http://schemas.openxmlformats.org/officeDocument/2006/relationships/image" Target="../media/image24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7.xml"/><Relationship Id="rId4" Type="http://schemas.openxmlformats.org/officeDocument/2006/relationships/image" Target="../media/image27.png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1.xml"/><Relationship Id="rId4" Type="http://schemas.openxmlformats.org/officeDocument/2006/relationships/image" Target="../media/image28.png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高效</a:t>
            </a: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debug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排错技巧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调试思路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6554470" cy="40233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之前讲的更多是线上故障的定位技巧，但程序员有时也会在本机遇到一些问题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，需要调试排查，一般有两种调试思路，如下：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代码，适合比较熟悉的代码，一步步调试代码，找到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原因。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代码，适合不太熟悉的代码（如框架代码），常用于熟悉框架代码主体逻辑，以找到调试入口。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472170" y="1341120"/>
            <a:ext cx="3351530" cy="4824095"/>
            <a:chOff x="13342" y="2112"/>
            <a:chExt cx="5278" cy="7597"/>
          </a:xfrm>
        </p:grpSpPr>
        <p:sp>
          <p:nvSpPr>
            <p:cNvPr id="12" name="矩形 11"/>
            <p:cNvSpPr/>
            <p:nvPr/>
          </p:nvSpPr>
          <p:spPr>
            <a:xfrm>
              <a:off x="13342" y="5136"/>
              <a:ext cx="4864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业务代码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3"/>
              </p:custDataLst>
            </p:nvPr>
          </p:nvSpPr>
          <p:spPr>
            <a:xfrm>
              <a:off x="13342" y="4191"/>
              <a:ext cx="4822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spring mvc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13342" y="3246"/>
              <a:ext cx="4762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tomcat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5"/>
              </p:custDataLst>
            </p:nvPr>
          </p:nvSpPr>
          <p:spPr>
            <a:xfrm>
              <a:off x="13342" y="6081"/>
              <a:ext cx="2381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mybatis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16" name="直接箭头连接符 15"/>
            <p:cNvCxnSpPr>
              <a:endCxn id="14" idx="0"/>
            </p:cNvCxnSpPr>
            <p:nvPr/>
          </p:nvCxnSpPr>
          <p:spPr>
            <a:xfrm flipH="1">
              <a:off x="15723" y="2225"/>
              <a:ext cx="56" cy="102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7" name="矩形 16"/>
            <p:cNvSpPr/>
            <p:nvPr>
              <p:custDataLst>
                <p:tags r:id="rId6"/>
              </p:custDataLst>
            </p:nvPr>
          </p:nvSpPr>
          <p:spPr>
            <a:xfrm>
              <a:off x="15837" y="6081"/>
              <a:ext cx="2381" cy="1678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httpclient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7"/>
              </p:custDataLst>
            </p:nvPr>
          </p:nvSpPr>
          <p:spPr>
            <a:xfrm>
              <a:off x="13342" y="6988"/>
              <a:ext cx="2381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jdbc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8"/>
              </p:custDataLst>
            </p:nvPr>
          </p:nvSpPr>
          <p:spPr>
            <a:xfrm>
              <a:off x="13342" y="7895"/>
              <a:ext cx="4877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socket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034" y="2112"/>
              <a:ext cx="1987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调入请求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3" name="直接箭头连接符 22"/>
            <p:cNvCxnSpPr/>
            <p:nvPr>
              <p:custDataLst>
                <p:tags r:id="rId9"/>
              </p:custDataLst>
            </p:nvPr>
          </p:nvCxnSpPr>
          <p:spPr>
            <a:xfrm flipH="1">
              <a:off x="14703" y="8666"/>
              <a:ext cx="56" cy="102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4" name="文本框 23"/>
            <p:cNvSpPr txBox="1"/>
            <p:nvPr>
              <p:custDataLst>
                <p:tags r:id="rId10"/>
              </p:custDataLst>
            </p:nvPr>
          </p:nvSpPr>
          <p:spPr>
            <a:xfrm>
              <a:off x="13569" y="8894"/>
              <a:ext cx="99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SQL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11"/>
              </p:custDataLst>
            </p:nvPr>
          </p:nvCxnSpPr>
          <p:spPr>
            <a:xfrm>
              <a:off x="16800" y="8689"/>
              <a:ext cx="58" cy="102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6" name="文本框 25"/>
            <p:cNvSpPr txBox="1"/>
            <p:nvPr>
              <p:custDataLst>
                <p:tags r:id="rId12"/>
              </p:custDataLst>
            </p:nvPr>
          </p:nvSpPr>
          <p:spPr>
            <a:xfrm>
              <a:off x="16858" y="8802"/>
              <a:ext cx="1762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调出请求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自上而下调试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4585"/>
            <a:ext cx="9921875" cy="734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以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IDEA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调试为例，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在启动程序时，需要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以调试模式启动程序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99740" y="2133600"/>
            <a:ext cx="4254500" cy="8636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767080" y="3061970"/>
            <a:ext cx="9921875" cy="734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在需要调试的代码区左侧，单击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鼠标左键添加断点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83840" y="3933190"/>
            <a:ext cx="5518150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1231245" cy="9575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断点上，单击右键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，可以为断点设置条件，通常称为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条件断点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如下，只有当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userId==1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时才命中断点：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2348865"/>
            <a:ext cx="7594600" cy="287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015365"/>
            <a:ext cx="10361295" cy="734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断点命中后，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鼠标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右键菜单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也会出现几个简单的调试选项，这在后面的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Debug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视图中也有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135505" y="1860550"/>
            <a:ext cx="8315325" cy="4648200"/>
            <a:chOff x="3363" y="2930"/>
            <a:chExt cx="13095" cy="7320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363" y="2930"/>
              <a:ext cx="11240" cy="7320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>
              <p:custDataLst>
                <p:tags r:id="rId5"/>
              </p:custDataLst>
            </p:nvPr>
          </p:nvSpPr>
          <p:spPr>
            <a:xfrm>
              <a:off x="14476" y="8252"/>
              <a:ext cx="1983" cy="146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执行表达式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运行到光标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监视变量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6"/>
              </p:custDataLst>
            </p:nvPr>
          </p:nvCxnSpPr>
          <p:spPr>
            <a:xfrm flipH="1">
              <a:off x="12549" y="9028"/>
              <a:ext cx="1927" cy="11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57080" cy="6489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IDEA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下方的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Debug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视图中，可以看到如下调试界面，主要用来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控制调试行为，查看变量与调用栈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46405" y="1988185"/>
            <a:ext cx="11214735" cy="4104005"/>
            <a:chOff x="251" y="2679"/>
            <a:chExt cx="17661" cy="6463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2570" y="3132"/>
              <a:ext cx="12940" cy="6010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6064" y="4266"/>
              <a:ext cx="1848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查看变量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5" name="直接箭头连接符 4"/>
            <p:cNvCxnSpPr>
              <a:stCxn id="4" idx="1"/>
            </p:cNvCxnSpPr>
            <p:nvPr/>
          </p:nvCxnSpPr>
          <p:spPr>
            <a:xfrm flipH="1">
              <a:off x="15497" y="4564"/>
              <a:ext cx="567" cy="4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8693" y="2679"/>
              <a:ext cx="846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单步调试、调试入函数、调试出函数、调试到光标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7" name="直接箭头连接符 6"/>
            <p:cNvCxnSpPr>
              <a:stCxn id="6" idx="1"/>
            </p:cNvCxnSpPr>
            <p:nvPr>
              <p:custDataLst>
                <p:tags r:id="rId6"/>
              </p:custDataLst>
            </p:nvPr>
          </p:nvCxnSpPr>
          <p:spPr>
            <a:xfrm flipH="1">
              <a:off x="7673" y="2977"/>
              <a:ext cx="1020" cy="49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>
              <p:custDataLst>
                <p:tags r:id="rId7"/>
              </p:custDataLst>
            </p:nvPr>
          </p:nvSpPr>
          <p:spPr>
            <a:xfrm>
              <a:off x="9374" y="7895"/>
              <a:ext cx="1848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调用栈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10" name="直接箭头连接符 9"/>
            <p:cNvCxnSpPr>
              <a:stCxn id="9" idx="1"/>
            </p:cNvCxnSpPr>
            <p:nvPr>
              <p:custDataLst>
                <p:tags r:id="rId8"/>
              </p:custDataLst>
            </p:nvPr>
          </p:nvCxnSpPr>
          <p:spPr>
            <a:xfrm flipH="1" flipV="1">
              <a:off x="8693" y="7895"/>
              <a:ext cx="681" cy="298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251" y="4153"/>
              <a:ext cx="165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继续运行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0"/>
              </p:custDataLst>
            </p:nvPr>
          </p:nvSpPr>
          <p:spPr>
            <a:xfrm>
              <a:off x="251" y="4846"/>
              <a:ext cx="1625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停止运行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1"/>
              </p:custDataLst>
            </p:nvPr>
          </p:nvSpPr>
          <p:spPr>
            <a:xfrm>
              <a:off x="251" y="5705"/>
              <a:ext cx="1983" cy="86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查看断点与断点失效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12"/>
              </p:custDataLst>
            </p:nvPr>
          </p:nvSpPr>
          <p:spPr>
            <a:xfrm>
              <a:off x="251" y="6668"/>
              <a:ext cx="198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查看线程栈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9" name="直接箭头连接符 28"/>
            <p:cNvCxnSpPr>
              <a:stCxn id="11" idx="3"/>
            </p:cNvCxnSpPr>
            <p:nvPr>
              <p:custDataLst>
                <p:tags r:id="rId13"/>
              </p:custDataLst>
            </p:nvPr>
          </p:nvCxnSpPr>
          <p:spPr>
            <a:xfrm>
              <a:off x="1904" y="4451"/>
              <a:ext cx="613" cy="15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9" idx="3"/>
            </p:cNvCxnSpPr>
            <p:nvPr>
              <p:custDataLst>
                <p:tags r:id="rId14"/>
              </p:custDataLst>
            </p:nvPr>
          </p:nvCxnSpPr>
          <p:spPr>
            <a:xfrm>
              <a:off x="1876" y="5144"/>
              <a:ext cx="613" cy="14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22" idx="3"/>
              <a:endCxn id="3" idx="1"/>
            </p:cNvCxnSpPr>
            <p:nvPr>
              <p:custDataLst>
                <p:tags r:id="rId15"/>
              </p:custDataLst>
            </p:nvPr>
          </p:nvCxnSpPr>
          <p:spPr>
            <a:xfrm flipV="1">
              <a:off x="2234" y="6137"/>
              <a:ext cx="336" cy="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8" idx="3"/>
            </p:cNvCxnSpPr>
            <p:nvPr>
              <p:custDataLst>
                <p:tags r:id="rId16"/>
              </p:custDataLst>
            </p:nvPr>
          </p:nvCxnSpPr>
          <p:spPr>
            <a:xfrm flipV="1">
              <a:off x="2234" y="6761"/>
              <a:ext cx="335" cy="20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57080" cy="7721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一定要牢记这几个按钮的快捷键，不同设置下快捷键不同，调试代码时，使用快捷键比鼠标点击这些按钮，要高效得多！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19830" y="2277110"/>
            <a:ext cx="1625600" cy="1365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35505" y="2348865"/>
            <a:ext cx="1320800" cy="8001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39470" y="3789045"/>
            <a:ext cx="9657080" cy="22561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我这使用的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Eclipse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的快捷键，分别是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单步调试(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F6)：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控制调试进程，向后运行一行代码。</a:t>
            </a:r>
            <a:endParaRPr lang="en-US" alt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调试入函数(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F5)：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控制调试进程，进入当前函数内部。</a:t>
            </a:r>
            <a:endParaRPr lang="en-US" alt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调试出函数(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F7)：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控制调试进程，运行完当前函数后退出到上一层。</a:t>
            </a:r>
            <a:endParaRPr lang="en-US" alt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继续运行(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F8)：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控制调试进程，继续运行，直到下一次断点命中。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35635" y="4418330"/>
            <a:ext cx="273050" cy="2667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5635" y="4837430"/>
            <a:ext cx="247650" cy="254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635" y="5229225"/>
            <a:ext cx="228600" cy="260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35635" y="5595620"/>
            <a:ext cx="241300" cy="26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57080" cy="7721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Debug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视图的调用栈上右键，可以有如下菜单：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470" y="1844675"/>
            <a:ext cx="3943350" cy="238125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839470" y="4469130"/>
            <a:ext cx="10010140" cy="11912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Reset Frame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用于调试回退，回退到上一个函数进入处，常用于回退后重新调试代码。</a:t>
            </a:r>
            <a:endParaRPr lang="en-US" alt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Throw Exception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抛异常，常用于中止当前调试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en-US" alt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Force Return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强制返回，常用于调试的某函数，期望它返回一个特定值。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57080" cy="7721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在变量区，除了可以查看变量外，还可以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右键修改变量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的值。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125" y="2061210"/>
            <a:ext cx="4679950" cy="3346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657080" cy="13417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有时，需要在程序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抛出某种异常时命中断点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，这时可以设置异常断点。</a:t>
            </a:r>
            <a:endParaRPr 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如下，设置了一个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SQLException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的异常断点，当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执行异常时，断点就会命中：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2495" y="3352800"/>
            <a:ext cx="533400" cy="1428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93080" y="3045460"/>
            <a:ext cx="5772150" cy="2305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08530" y="3425190"/>
            <a:ext cx="2730500" cy="1390650"/>
          </a:xfrm>
          <a:prstGeom prst="rect">
            <a:avLst/>
          </a:prstGeom>
        </p:spPr>
      </p:pic>
      <p:cxnSp>
        <p:nvCxnSpPr>
          <p:cNvPr id="10" name="直接箭头连接符 9"/>
          <p:cNvCxnSpPr>
            <a:stCxn id="2" idx="3"/>
            <a:endCxn id="9" idx="1"/>
          </p:cNvCxnSpPr>
          <p:nvPr/>
        </p:nvCxnSpPr>
        <p:spPr>
          <a:xfrm>
            <a:off x="1445895" y="4067175"/>
            <a:ext cx="762635" cy="5334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>
            <p:custDataLst>
              <p:tags r:id="rId9"/>
            </p:custDataLst>
          </p:nvPr>
        </p:nvCxnSpPr>
        <p:spPr>
          <a:xfrm>
            <a:off x="4872990" y="4145280"/>
            <a:ext cx="72009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019030" cy="37611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这些调试过程，大家一定要都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实践一下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才能理解，另外，这里演示的是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IDEA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，如果你用的其它开发工具，如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vscode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eclipse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等，它们也是有类似功能的，思路基本是一致的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这种调试过程，我称为自上而下的调试，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适合调试比较熟悉的代码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，如业务代码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，然后一步一步的调试，以找到问题关键。</a:t>
            </a:r>
            <a:endParaRPr 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但如果是我们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不太熟悉的代码，常常会不知从哪里开始调试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，这就需要自底向上的调试方法，以找到一个合适的调试起点。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自底向上调试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917065"/>
            <a:ext cx="7387590" cy="24447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自底向上调试，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一般思路是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在代码栈底层打条件断点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，待断点命中后，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从调用栈逐层往上看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直到找到合适的调试入口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后，再使用向上而下调试法。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这种方法，一般适用于不熟悉的代码，比如框架代码。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472170" y="1341120"/>
            <a:ext cx="3351530" cy="4824095"/>
            <a:chOff x="13342" y="2112"/>
            <a:chExt cx="5278" cy="7597"/>
          </a:xfrm>
        </p:grpSpPr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13342" y="5136"/>
              <a:ext cx="4864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业务代码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4"/>
              </p:custDataLst>
            </p:nvPr>
          </p:nvSpPr>
          <p:spPr>
            <a:xfrm>
              <a:off x="13342" y="4191"/>
              <a:ext cx="4822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spring mvc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5"/>
              </p:custDataLst>
            </p:nvPr>
          </p:nvSpPr>
          <p:spPr>
            <a:xfrm>
              <a:off x="13342" y="3246"/>
              <a:ext cx="4762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tomcat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3342" y="6081"/>
              <a:ext cx="2381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mybatis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16" name="直接箭头连接符 15"/>
            <p:cNvCxnSpPr>
              <a:endCxn id="14" idx="0"/>
            </p:cNvCxnSpPr>
            <p:nvPr>
              <p:custDataLst>
                <p:tags r:id="rId7"/>
              </p:custDataLst>
            </p:nvPr>
          </p:nvCxnSpPr>
          <p:spPr>
            <a:xfrm flipH="1">
              <a:off x="15723" y="2225"/>
              <a:ext cx="56" cy="102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7" name="矩形 16"/>
            <p:cNvSpPr/>
            <p:nvPr>
              <p:custDataLst>
                <p:tags r:id="rId8"/>
              </p:custDataLst>
            </p:nvPr>
          </p:nvSpPr>
          <p:spPr>
            <a:xfrm>
              <a:off x="15837" y="6081"/>
              <a:ext cx="2381" cy="1678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httpclient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9"/>
              </p:custDataLst>
            </p:nvPr>
          </p:nvSpPr>
          <p:spPr>
            <a:xfrm>
              <a:off x="13342" y="6988"/>
              <a:ext cx="2381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jdbc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0"/>
              </p:custDataLst>
            </p:nvPr>
          </p:nvSpPr>
          <p:spPr>
            <a:xfrm>
              <a:off x="13342" y="7895"/>
              <a:ext cx="4877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socket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16034" y="2112"/>
              <a:ext cx="1987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调入请求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3" name="直接箭头连接符 22"/>
            <p:cNvCxnSpPr/>
            <p:nvPr>
              <p:custDataLst>
                <p:tags r:id="rId12"/>
              </p:custDataLst>
            </p:nvPr>
          </p:nvCxnSpPr>
          <p:spPr>
            <a:xfrm flipH="1">
              <a:off x="14703" y="8666"/>
              <a:ext cx="56" cy="102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4" name="文本框 23"/>
            <p:cNvSpPr txBox="1"/>
            <p:nvPr>
              <p:custDataLst>
                <p:tags r:id="rId13"/>
              </p:custDataLst>
            </p:nvPr>
          </p:nvSpPr>
          <p:spPr>
            <a:xfrm>
              <a:off x="13569" y="8894"/>
              <a:ext cx="99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SQL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14"/>
              </p:custDataLst>
            </p:nvPr>
          </p:nvCxnSpPr>
          <p:spPr>
            <a:xfrm>
              <a:off x="16800" y="8689"/>
              <a:ext cx="58" cy="102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6" name="文本框 25"/>
            <p:cNvSpPr txBox="1"/>
            <p:nvPr>
              <p:custDataLst>
                <p:tags r:id="rId15"/>
              </p:custDataLst>
            </p:nvPr>
          </p:nvSpPr>
          <p:spPr>
            <a:xfrm>
              <a:off x="16858" y="8802"/>
              <a:ext cx="1762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调出请求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93800"/>
            <a:ext cx="9999345" cy="8642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比如，在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中，所有的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执行，都需要经过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JDBC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那一层，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下面是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JDBC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核心流程，以及会涉及到的核心方法。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52415" y="2564765"/>
            <a:ext cx="6339840" cy="3556000"/>
            <a:chOff x="8429" y="4039"/>
            <a:chExt cx="9984" cy="5600"/>
          </a:xfrm>
        </p:grpSpPr>
        <p:sp>
          <p:nvSpPr>
            <p:cNvPr id="2" name="文本框 1"/>
            <p:cNvSpPr txBox="1"/>
            <p:nvPr/>
          </p:nvSpPr>
          <p:spPr>
            <a:xfrm>
              <a:off x="13001" y="4100"/>
              <a:ext cx="4890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t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DataSource.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getConnection</a:t>
              </a: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()</a:t>
              </a:r>
              <a:endPara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8465" y="4039"/>
              <a:ext cx="3350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获取连接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3"/>
              </p:custDataLst>
            </p:nvPr>
          </p:nvSpPr>
          <p:spPr>
            <a:xfrm>
              <a:off x="8465" y="5274"/>
              <a:ext cx="3350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发送SQL模板</a:t>
              </a:r>
              <a:endParaRPr lang="zh-CN" altLang="en-US" b="1">
                <a:solidFill>
                  <a:schemeClr val="tx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sp>
          <p:nvSpPr>
            <p:cNvPr id="5" name="圆角矩形 4"/>
            <p:cNvSpPr/>
            <p:nvPr>
              <p:custDataLst>
                <p:tags r:id="rId4"/>
              </p:custDataLst>
            </p:nvPr>
          </p:nvSpPr>
          <p:spPr>
            <a:xfrm>
              <a:off x="8465" y="6509"/>
              <a:ext cx="3350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执行SQL</a:t>
              </a:r>
              <a:endParaRPr lang="zh-CN" altLang="en-US" b="1">
                <a:solidFill>
                  <a:schemeClr val="tx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sp>
          <p:nvSpPr>
            <p:cNvPr id="6" name="圆角矩形 5"/>
            <p:cNvSpPr/>
            <p:nvPr>
              <p:custDataLst>
                <p:tags r:id="rId5"/>
              </p:custDataLst>
            </p:nvPr>
          </p:nvSpPr>
          <p:spPr>
            <a:xfrm>
              <a:off x="8465" y="7744"/>
              <a:ext cx="3350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获取结果</a:t>
              </a:r>
              <a:endParaRPr lang="zh-CN" altLang="en-US" b="1">
                <a:solidFill>
                  <a:schemeClr val="tx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6"/>
              </p:custDataLst>
            </p:nvPr>
          </p:nvSpPr>
          <p:spPr>
            <a:xfrm>
              <a:off x="8429" y="8979"/>
              <a:ext cx="3350" cy="66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遍历结果</a:t>
              </a:r>
              <a:endParaRPr lang="zh-CN" altLang="en-US" b="1">
                <a:solidFill>
                  <a:schemeClr val="tx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cxnSp>
          <p:nvCxnSpPr>
            <p:cNvPr id="10" name="直接箭头连接符 9"/>
            <p:cNvCxnSpPr>
              <a:stCxn id="3" idx="3"/>
              <a:endCxn id="2" idx="1"/>
            </p:cNvCxnSpPr>
            <p:nvPr/>
          </p:nvCxnSpPr>
          <p:spPr>
            <a:xfrm>
              <a:off x="11815" y="4369"/>
              <a:ext cx="1186" cy="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>
              <p:custDataLst>
                <p:tags r:id="rId7"/>
              </p:custDataLst>
            </p:nvPr>
          </p:nvSpPr>
          <p:spPr>
            <a:xfrm>
              <a:off x="13001" y="5318"/>
              <a:ext cx="5412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t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Connection.prepareStatement</a:t>
              </a:r>
              <a:r>
                <a:rPr kumimoji="0" lang="en-US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()</a:t>
              </a:r>
              <a:endParaRPr kumimoji="0" lang="en-US" sz="16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cxnSp>
          <p:nvCxnSpPr>
            <p:cNvPr id="22" name="直接箭头连接符 21"/>
            <p:cNvCxnSpPr>
              <a:stCxn id="4" idx="3"/>
              <a:endCxn id="19" idx="1"/>
            </p:cNvCxnSpPr>
            <p:nvPr>
              <p:custDataLst>
                <p:tags r:id="rId8"/>
              </p:custDataLst>
            </p:nvPr>
          </p:nvCxnSpPr>
          <p:spPr>
            <a:xfrm flipV="1">
              <a:off x="11815" y="5592"/>
              <a:ext cx="1186" cy="1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>
              <p:custDataLst>
                <p:tags r:id="rId9"/>
              </p:custDataLst>
            </p:nvPr>
          </p:nvSpPr>
          <p:spPr>
            <a:xfrm>
              <a:off x="13001" y="6547"/>
              <a:ext cx="5273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t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PreparedStatement.execute</a:t>
              </a:r>
              <a:r>
                <a:rPr kumimoji="0" lang="en-US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()</a:t>
              </a:r>
              <a:endParaRPr kumimoji="0" lang="en-US" sz="16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cxnSp>
          <p:nvCxnSpPr>
            <p:cNvPr id="29" name="直接箭头连接符 28"/>
            <p:cNvCxnSpPr>
              <a:stCxn id="5" idx="3"/>
              <a:endCxn id="28" idx="1"/>
            </p:cNvCxnSpPr>
            <p:nvPr>
              <p:custDataLst>
                <p:tags r:id="rId10"/>
              </p:custDataLst>
            </p:nvPr>
          </p:nvCxnSpPr>
          <p:spPr>
            <a:xfrm flipV="1">
              <a:off x="11815" y="6821"/>
              <a:ext cx="1186" cy="18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>
              <p:custDataLst>
                <p:tags r:id="rId11"/>
              </p:custDataLst>
            </p:nvPr>
          </p:nvSpPr>
          <p:spPr>
            <a:xfrm>
              <a:off x="13001" y="7788"/>
              <a:ext cx="5273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t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Statement.getResultSet</a:t>
              </a:r>
              <a:r>
                <a:rPr kumimoji="0" lang="en-US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()</a:t>
              </a:r>
              <a:endParaRPr kumimoji="0" lang="en-US" sz="16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cxnSp>
          <p:nvCxnSpPr>
            <p:cNvPr id="31" name="直接箭头连接符 30"/>
            <p:cNvCxnSpPr>
              <a:stCxn id="6" idx="3"/>
              <a:endCxn id="30" idx="1"/>
            </p:cNvCxnSpPr>
            <p:nvPr>
              <p:custDataLst>
                <p:tags r:id="rId12"/>
              </p:custDataLst>
            </p:nvPr>
          </p:nvCxnSpPr>
          <p:spPr>
            <a:xfrm flipV="1">
              <a:off x="11815" y="8062"/>
              <a:ext cx="1186" cy="1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>
              <p:custDataLst>
                <p:tags r:id="rId13"/>
              </p:custDataLst>
            </p:nvPr>
          </p:nvSpPr>
          <p:spPr>
            <a:xfrm>
              <a:off x="13001" y="9010"/>
              <a:ext cx="5273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t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ResultSet.next</a:t>
              </a:r>
              <a:r>
                <a:rPr kumimoji="0" lang="en-US" sz="16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FZYanSongS-EB-GB"/>
                </a:rPr>
                <a:t>()</a:t>
              </a:r>
              <a:endParaRPr kumimoji="0" lang="en-US" sz="16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endParaRPr>
            </a:p>
          </p:txBody>
        </p:sp>
        <p:cxnSp>
          <p:nvCxnSpPr>
            <p:cNvPr id="41" name="直接箭头连接符 40"/>
            <p:cNvCxnSpPr>
              <a:stCxn id="7" idx="3"/>
              <a:endCxn id="40" idx="1"/>
            </p:cNvCxnSpPr>
            <p:nvPr>
              <p:custDataLst>
                <p:tags r:id="rId14"/>
              </p:custDataLst>
            </p:nvPr>
          </p:nvCxnSpPr>
          <p:spPr>
            <a:xfrm flipV="1">
              <a:off x="11779" y="9284"/>
              <a:ext cx="1222" cy="2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3" idx="2"/>
              <a:endCxn id="4" idx="0"/>
            </p:cNvCxnSpPr>
            <p:nvPr>
              <p:custDataLst>
                <p:tags r:id="rId15"/>
              </p:custDataLst>
            </p:nvPr>
          </p:nvCxnSpPr>
          <p:spPr>
            <a:xfrm>
              <a:off x="10140" y="4699"/>
              <a:ext cx="0" cy="57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4" idx="2"/>
              <a:endCxn id="5" idx="0"/>
            </p:cNvCxnSpPr>
            <p:nvPr>
              <p:custDataLst>
                <p:tags r:id="rId16"/>
              </p:custDataLst>
            </p:nvPr>
          </p:nvCxnSpPr>
          <p:spPr>
            <a:xfrm>
              <a:off x="10140" y="5934"/>
              <a:ext cx="0" cy="57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5" idx="2"/>
              <a:endCxn id="6" idx="0"/>
            </p:cNvCxnSpPr>
            <p:nvPr>
              <p:custDataLst>
                <p:tags r:id="rId17"/>
              </p:custDataLst>
            </p:nvPr>
          </p:nvCxnSpPr>
          <p:spPr>
            <a:xfrm>
              <a:off x="10140" y="7169"/>
              <a:ext cx="0" cy="57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6" idx="2"/>
              <a:endCxn id="7" idx="0"/>
            </p:cNvCxnSpPr>
            <p:nvPr>
              <p:custDataLst>
                <p:tags r:id="rId18"/>
              </p:custDataLst>
            </p:nvPr>
          </p:nvCxnSpPr>
          <p:spPr>
            <a:xfrm flipH="1">
              <a:off x="10104" y="8404"/>
              <a:ext cx="36" cy="57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>
            <a:off x="758190" y="3141345"/>
            <a:ext cx="4339590" cy="17125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比如在</a:t>
            </a:r>
            <a:r>
              <a:rPr sz="2000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Connection.prepareStatement</a:t>
            </a:r>
            <a:r>
              <a:rPr 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打断点，看看从收到请求后，到执行</a:t>
            </a:r>
            <a:r>
              <a:rPr lang="en-US" alt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SQL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FZYanSongS-EB-GB"/>
              </a:rPr>
              <a:t>，会经过了哪些关键代码。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FZYanSongS-EB-G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93800"/>
            <a:ext cx="10481945" cy="5943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如下，断点命中后的调用栈，从包名中可以看到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druid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的处理代码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19605" y="1844675"/>
            <a:ext cx="5327650" cy="446405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1919605" y="1863725"/>
            <a:ext cx="8724900" cy="386398"/>
            <a:chOff x="3023" y="2935"/>
            <a:chExt cx="13740" cy="609"/>
          </a:xfrm>
        </p:grpSpPr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13229" y="2935"/>
              <a:ext cx="353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mysql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驱动处理代码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32" name="直接箭头连接符 31"/>
            <p:cNvCxnSpPr>
              <a:stCxn id="11" idx="1"/>
              <a:endCxn id="12" idx="3"/>
            </p:cNvCxnSpPr>
            <p:nvPr>
              <p:custDataLst>
                <p:tags r:id="rId6"/>
              </p:custDataLst>
            </p:nvPr>
          </p:nvCxnSpPr>
          <p:spPr>
            <a:xfrm flipH="1">
              <a:off x="8968" y="3233"/>
              <a:ext cx="4261" cy="1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3023" y="2948"/>
              <a:ext cx="5945" cy="596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19605" y="2290445"/>
            <a:ext cx="8952865" cy="2190115"/>
            <a:chOff x="3023" y="2162"/>
            <a:chExt cx="14099" cy="3449"/>
          </a:xfrm>
        </p:grpSpPr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13229" y="3531"/>
              <a:ext cx="389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druid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连接池处理代码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16" name="直接箭头连接符 15"/>
            <p:cNvCxnSpPr>
              <a:stCxn id="15" idx="1"/>
              <a:endCxn id="17" idx="3"/>
            </p:cNvCxnSpPr>
            <p:nvPr>
              <p:custDataLst>
                <p:tags r:id="rId8"/>
              </p:custDataLst>
            </p:nvPr>
          </p:nvCxnSpPr>
          <p:spPr>
            <a:xfrm flipH="1">
              <a:off x="10415" y="3829"/>
              <a:ext cx="2814" cy="58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3023" y="2162"/>
              <a:ext cx="7392" cy="3449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919605" y="4520565"/>
            <a:ext cx="8554085" cy="1774825"/>
            <a:chOff x="3023" y="2162"/>
            <a:chExt cx="13471" cy="2795"/>
          </a:xfrm>
        </p:grpSpPr>
        <p:sp>
          <p:nvSpPr>
            <p:cNvPr id="20" name="文本框 19"/>
            <p:cNvSpPr txBox="1"/>
            <p:nvPr>
              <p:custDataLst>
                <p:tags r:id="rId10"/>
              </p:custDataLst>
            </p:nvPr>
          </p:nvSpPr>
          <p:spPr>
            <a:xfrm>
              <a:off x="13229" y="3233"/>
              <a:ext cx="3265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mybatis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1" name="直接箭头连接符 20"/>
            <p:cNvCxnSpPr>
              <a:stCxn id="20" idx="1"/>
              <a:endCxn id="23" idx="3"/>
            </p:cNvCxnSpPr>
            <p:nvPr>
              <p:custDataLst>
                <p:tags r:id="rId11"/>
              </p:custDataLst>
            </p:nvPr>
          </p:nvCxnSpPr>
          <p:spPr>
            <a:xfrm flipH="1">
              <a:off x="11413" y="3531"/>
              <a:ext cx="1816" cy="2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>
              <p:custDataLst>
                <p:tags r:id="rId12"/>
              </p:custDataLst>
            </p:nvPr>
          </p:nvSpPr>
          <p:spPr>
            <a:xfrm>
              <a:off x="3023" y="2162"/>
              <a:ext cx="8390" cy="27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93800"/>
            <a:ext cx="9999345" cy="5943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继续往调用栈上层看，可以发现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service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spring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事务、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controller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层相关处理代码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2132965"/>
            <a:ext cx="6922135" cy="344614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179830" y="2204720"/>
            <a:ext cx="9464675" cy="425101"/>
            <a:chOff x="1858" y="2935"/>
            <a:chExt cx="14905" cy="670"/>
          </a:xfrm>
        </p:grpSpPr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13229" y="2935"/>
              <a:ext cx="353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service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层处理代码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5" name="直接箭头连接符 4"/>
            <p:cNvCxnSpPr>
              <a:stCxn id="4" idx="1"/>
              <a:endCxn id="6" idx="3"/>
            </p:cNvCxnSpPr>
            <p:nvPr>
              <p:custDataLst>
                <p:tags r:id="rId6"/>
              </p:custDataLst>
            </p:nvPr>
          </p:nvCxnSpPr>
          <p:spPr>
            <a:xfrm flipH="1">
              <a:off x="8968" y="3233"/>
              <a:ext cx="4261" cy="4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1858" y="2948"/>
              <a:ext cx="7110" cy="657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99515" y="3602348"/>
            <a:ext cx="9464675" cy="720768"/>
            <a:chOff x="1858" y="2948"/>
            <a:chExt cx="14905" cy="1136"/>
          </a:xfrm>
        </p:grpSpPr>
        <p:sp>
          <p:nvSpPr>
            <p:cNvPr id="19" name="文本框 18"/>
            <p:cNvSpPr txBox="1"/>
            <p:nvPr>
              <p:custDataLst>
                <p:tags r:id="rId8"/>
              </p:custDataLst>
            </p:nvPr>
          </p:nvSpPr>
          <p:spPr>
            <a:xfrm>
              <a:off x="13229" y="3209"/>
              <a:ext cx="353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spring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事务处理代码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2" name="直接箭头连接符 21"/>
            <p:cNvCxnSpPr>
              <a:stCxn id="19" idx="1"/>
              <a:endCxn id="24" idx="3"/>
            </p:cNvCxnSpPr>
            <p:nvPr>
              <p:custDataLst>
                <p:tags r:id="rId9"/>
              </p:custDataLst>
            </p:nvPr>
          </p:nvCxnSpPr>
          <p:spPr>
            <a:xfrm flipH="1">
              <a:off x="12419" y="3507"/>
              <a:ext cx="810" cy="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>
              <a:off x="1858" y="2948"/>
              <a:ext cx="10561" cy="1136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79830" y="5034138"/>
            <a:ext cx="9805035" cy="555803"/>
            <a:chOff x="1858" y="3208"/>
            <a:chExt cx="15441" cy="876"/>
          </a:xfrm>
        </p:grpSpPr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13229" y="3344"/>
              <a:ext cx="407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controller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层处理代码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7" name="直接箭头连接符 26"/>
            <p:cNvCxnSpPr>
              <a:stCxn id="26" idx="1"/>
              <a:endCxn id="28" idx="3"/>
            </p:cNvCxnSpPr>
            <p:nvPr>
              <p:custDataLst>
                <p:tags r:id="rId12"/>
              </p:custDataLst>
            </p:nvPr>
          </p:nvCxnSpPr>
          <p:spPr>
            <a:xfrm flipH="1">
              <a:off x="12419" y="3643"/>
              <a:ext cx="810" cy="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>
              <p:custDataLst>
                <p:tags r:id="rId13"/>
              </p:custDataLst>
            </p:nvPr>
          </p:nvSpPr>
          <p:spPr>
            <a:xfrm>
              <a:off x="1858" y="3208"/>
              <a:ext cx="10561" cy="876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4380" y="2061210"/>
            <a:ext cx="7294245" cy="285940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767080" y="1193800"/>
            <a:ext cx="9999345" cy="5943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继续往调用栈上层看，可以发现</a:t>
            </a: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spring mvc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相关处理代码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11225" y="2582870"/>
            <a:ext cx="10206990" cy="2055712"/>
            <a:chOff x="1435" y="3531"/>
            <a:chExt cx="16074" cy="3240"/>
          </a:xfrm>
        </p:grpSpPr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13614" y="4865"/>
              <a:ext cx="3895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spring mvc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5" name="直接箭头连接符 4"/>
            <p:cNvCxnSpPr>
              <a:stCxn id="4" idx="1"/>
              <a:endCxn id="6" idx="3"/>
            </p:cNvCxnSpPr>
            <p:nvPr>
              <p:custDataLst>
                <p:tags r:id="rId6"/>
              </p:custDataLst>
            </p:nvPr>
          </p:nvCxnSpPr>
          <p:spPr>
            <a:xfrm flipH="1" flipV="1">
              <a:off x="12793" y="5152"/>
              <a:ext cx="821" cy="1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1435" y="3531"/>
              <a:ext cx="11358" cy="3240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7080" y="1988820"/>
            <a:ext cx="5678805" cy="362648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767080" y="1193800"/>
            <a:ext cx="9999345" cy="5943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继续往调用栈上层看，可以发现</a:t>
            </a: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tomcat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相关处理代码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11225" y="2037853"/>
            <a:ext cx="10178415" cy="3352587"/>
            <a:chOff x="1435" y="2672"/>
            <a:chExt cx="16029" cy="5284"/>
          </a:xfrm>
        </p:grpSpPr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13569" y="5016"/>
              <a:ext cx="3895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tomcat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处理代码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5" name="直接箭头连接符 4"/>
            <p:cNvCxnSpPr>
              <a:stCxn id="4" idx="1"/>
              <a:endCxn id="6" idx="3"/>
            </p:cNvCxnSpPr>
            <p:nvPr>
              <p:custDataLst>
                <p:tags r:id="rId6"/>
              </p:custDataLst>
            </p:nvPr>
          </p:nvCxnSpPr>
          <p:spPr>
            <a:xfrm flipH="1">
              <a:off x="10028" y="5314"/>
              <a:ext cx="3541" cy="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1435" y="2672"/>
              <a:ext cx="8593" cy="5284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自底向上调试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93800"/>
            <a:ext cx="7341870" cy="50222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可以发现，在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jdbc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层打断点，就可以看到从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tomcat -&gt; spring mvc 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-&gt; 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业务代码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-&gt; 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 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-&gt; 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druid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连接池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-&gt; 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驱动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的所有关键处理逻辑。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比如孟小哥之前遇到的一个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查不到数据，但拿到数据库中查询，是有数据的！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当时在抓包确认发送给数据库的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没有问题后，怀疑是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的问题，但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框架代码大而杂，不知道从哪个入口开始调试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472170" y="1341120"/>
            <a:ext cx="3351530" cy="4824095"/>
            <a:chOff x="13342" y="2112"/>
            <a:chExt cx="5278" cy="7597"/>
          </a:xfrm>
        </p:grpSpPr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13342" y="5136"/>
              <a:ext cx="4864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业务代码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4"/>
              </p:custDataLst>
            </p:nvPr>
          </p:nvSpPr>
          <p:spPr>
            <a:xfrm>
              <a:off x="13342" y="4191"/>
              <a:ext cx="4822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spring mvc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5"/>
              </p:custDataLst>
            </p:nvPr>
          </p:nvSpPr>
          <p:spPr>
            <a:xfrm>
              <a:off x="13342" y="3246"/>
              <a:ext cx="4762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tomcat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3342" y="6081"/>
              <a:ext cx="2381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mybatis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16" name="直接箭头连接符 15"/>
            <p:cNvCxnSpPr>
              <a:endCxn id="14" idx="0"/>
            </p:cNvCxnSpPr>
            <p:nvPr>
              <p:custDataLst>
                <p:tags r:id="rId7"/>
              </p:custDataLst>
            </p:nvPr>
          </p:nvCxnSpPr>
          <p:spPr>
            <a:xfrm flipH="1">
              <a:off x="15723" y="2225"/>
              <a:ext cx="56" cy="102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7" name="矩形 16"/>
            <p:cNvSpPr/>
            <p:nvPr>
              <p:custDataLst>
                <p:tags r:id="rId8"/>
              </p:custDataLst>
            </p:nvPr>
          </p:nvSpPr>
          <p:spPr>
            <a:xfrm>
              <a:off x="15837" y="6081"/>
              <a:ext cx="2381" cy="1678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httpclient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9"/>
              </p:custDataLst>
            </p:nvPr>
          </p:nvSpPr>
          <p:spPr>
            <a:xfrm>
              <a:off x="13342" y="6988"/>
              <a:ext cx="2381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jdbc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0"/>
              </p:custDataLst>
            </p:nvPr>
          </p:nvSpPr>
          <p:spPr>
            <a:xfrm>
              <a:off x="13342" y="7895"/>
              <a:ext cx="4877" cy="77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socket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16034" y="2112"/>
              <a:ext cx="1987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调入请求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3" name="直接箭头连接符 22"/>
            <p:cNvCxnSpPr/>
            <p:nvPr>
              <p:custDataLst>
                <p:tags r:id="rId12"/>
              </p:custDataLst>
            </p:nvPr>
          </p:nvCxnSpPr>
          <p:spPr>
            <a:xfrm flipH="1">
              <a:off x="14703" y="8666"/>
              <a:ext cx="56" cy="102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4" name="文本框 23"/>
            <p:cNvSpPr txBox="1"/>
            <p:nvPr>
              <p:custDataLst>
                <p:tags r:id="rId13"/>
              </p:custDataLst>
            </p:nvPr>
          </p:nvSpPr>
          <p:spPr>
            <a:xfrm>
              <a:off x="13569" y="8894"/>
              <a:ext cx="99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SQL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14"/>
              </p:custDataLst>
            </p:nvPr>
          </p:nvCxnSpPr>
          <p:spPr>
            <a:xfrm>
              <a:off x="16800" y="8689"/>
              <a:ext cx="58" cy="102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6" name="文本框 25"/>
            <p:cNvSpPr txBox="1"/>
            <p:nvPr>
              <p:custDataLst>
                <p:tags r:id="rId15"/>
              </p:custDataLst>
            </p:nvPr>
          </p:nvSpPr>
          <p:spPr>
            <a:xfrm>
              <a:off x="16858" y="8802"/>
              <a:ext cx="1762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调出请求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</p:grpSp>
      <p:cxnSp>
        <p:nvCxnSpPr>
          <p:cNvPr id="7" name="曲线连接符 6"/>
          <p:cNvCxnSpPr/>
          <p:nvPr/>
        </p:nvCxnSpPr>
        <p:spPr>
          <a:xfrm rot="16200000">
            <a:off x="8567420" y="3054350"/>
            <a:ext cx="2338705" cy="927100"/>
          </a:xfrm>
          <a:prstGeom prst="curved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查不到数据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93800"/>
            <a:ext cx="10295890" cy="7035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由于是查不到数据，而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JDBC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ResultSet.next()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方法就是遍历数据的核心方法，于是在此方法打断点，看看断点命中后，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层是在哪个函数处理查询结果的。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9515" y="1988185"/>
            <a:ext cx="4508500" cy="1441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125" y="4364990"/>
            <a:ext cx="7466330" cy="182308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767715" y="3500755"/>
            <a:ext cx="9492615" cy="7962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断点命中后，很容易就知道了，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在handleRowValuesForSimpleResultMap中处理查询结果。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查不到数据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93800"/>
            <a:ext cx="10295890" cy="8261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然后很明显，下面的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getRowValue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就是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读结果数据的函数，于是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再选择在这个入口打断点，使用自上而下的调试法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225" y="2493010"/>
            <a:ext cx="7969250" cy="2203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查不到数据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93800"/>
            <a:ext cx="10647045" cy="7810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然后一步步调试，经过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applyAutomaticMappings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-&gt; createAutomaticMappings -&gt; MetaObject.findProperty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方法后，就发现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根据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user_id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字段，在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User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对象中找不到相应属性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225" y="2204720"/>
            <a:ext cx="7791450" cy="28956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911225" y="5229225"/>
            <a:ext cx="10647045" cy="6883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然后发现参数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useCamelCaseMapping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=false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，表示未开启下划线与驼峰字段的匹配。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查不到数据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695325" y="1268730"/>
            <a:ext cx="10151745" cy="7810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网上稍微搜索一下，就会发现是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配置中，缺少下划线转驼峰的配置，导致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查不到数据！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35505" y="2493010"/>
            <a:ext cx="5092700" cy="16002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623570" y="4293235"/>
            <a:ext cx="10677525" cy="14732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可以发现，这个问题调试过程中，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这两种调试思路都用到了，其中：</a:t>
            </a:r>
            <a:endParaRPr lang="zh-CN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自底向上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调试用于在不熟悉的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mybatis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中快速找到调试入口，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自上而下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”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调试则从调试入口继续调试过程，直到找到根因。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4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5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6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7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8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9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0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1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172.xml><?xml version="1.0" encoding="utf-8"?>
<ds:datastoreItem xmlns:ds="http://schemas.openxmlformats.org/officeDocument/2006/customXml" ds:itemID="{f7bc79f2-c455-434b-bca9-875aecb91bf3}">
  <ds:schemaRefs/>
</ds:datastoreItem>
</file>

<file path=customXml/itemProps173.xml><?xml version="1.0" encoding="utf-8"?>
<ds:datastoreItem xmlns:ds="http://schemas.openxmlformats.org/officeDocument/2006/customXml" ds:itemID="{3c132078-98b1-4deb-b4fd-a1bec46831f1}">
  <ds:schemaRefs/>
</ds:datastoreItem>
</file>

<file path=customXml/itemProps174.xml><?xml version="1.0" encoding="utf-8"?>
<ds:datastoreItem xmlns:ds="http://schemas.openxmlformats.org/officeDocument/2006/customXml" ds:itemID="{c5c661d3-4756-4449-af8a-01387bd7a269}">
  <ds:schemaRefs/>
</ds:datastoreItem>
</file>

<file path=customXml/itemProps175.xml><?xml version="1.0" encoding="utf-8"?>
<ds:datastoreItem xmlns:ds="http://schemas.openxmlformats.org/officeDocument/2006/customXml" ds:itemID="{58dabdbb-c60f-4057-89a4-b5f24a98f472}">
  <ds:schemaRefs/>
</ds:datastoreItem>
</file>

<file path=customXml/itemProps176.xml><?xml version="1.0" encoding="utf-8"?>
<ds:datastoreItem xmlns:ds="http://schemas.openxmlformats.org/officeDocument/2006/customXml" ds:itemID="{6ad86b82-52b5-47a8-ba6d-e9bbe075a083}">
  <ds:schemaRefs/>
</ds:datastoreItem>
</file>

<file path=customXml/itemProps177.xml><?xml version="1.0" encoding="utf-8"?>
<ds:datastoreItem xmlns:ds="http://schemas.openxmlformats.org/officeDocument/2006/customXml" ds:itemID="{8fd2a99b-51ca-42d4-8a98-ac38bf31ee8f}">
  <ds:schemaRefs/>
</ds:datastoreItem>
</file>

<file path=customXml/itemProps178.xml><?xml version="1.0" encoding="utf-8"?>
<ds:datastoreItem xmlns:ds="http://schemas.openxmlformats.org/officeDocument/2006/customXml" ds:itemID="{667e9340-f440-47f7-819a-cdc7dab5fa96}">
  <ds:schemaRefs/>
</ds:datastoreItem>
</file>

<file path=customXml/itemProps179.xml><?xml version="1.0" encoding="utf-8"?>
<ds:datastoreItem xmlns:ds="http://schemas.openxmlformats.org/officeDocument/2006/customXml" ds:itemID="{ae649005-3b55-4298-8017-458659bde268}">
  <ds:schemaRefs/>
</ds:datastoreItem>
</file>

<file path=customXml/itemProps180.xml><?xml version="1.0" encoding="utf-8"?>
<ds:datastoreItem xmlns:ds="http://schemas.openxmlformats.org/officeDocument/2006/customXml" ds:itemID="{eb8fafd0-aa01-4764-b4e6-708160bc6a19}">
  <ds:schemaRefs/>
</ds:datastoreItem>
</file>

<file path=customXml/itemProps181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2744</Words>
  <Application>WPS 演示</Application>
  <PresentationFormat/>
  <Paragraphs>247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1958</cp:revision>
  <dcterms:created xsi:type="dcterms:W3CDTF">2019-02-26T11:09:00Z</dcterms:created>
  <dcterms:modified xsi:type="dcterms:W3CDTF">2024-09-29T08:27:27Z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