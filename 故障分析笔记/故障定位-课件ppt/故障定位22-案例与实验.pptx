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9"/>
  </p:handoutMasterIdLst>
  <p:sldIdLst>
    <p:sldId id="406" r:id="rId3"/>
    <p:sldId id="360" r:id="rId4"/>
    <p:sldId id="569" r:id="rId5"/>
    <p:sldId id="689" r:id="rId7"/>
    <p:sldId id="618" r:id="rId8"/>
    <p:sldId id="690" r:id="rId9"/>
    <p:sldId id="691" r:id="rId10"/>
    <p:sldId id="692" r:id="rId11"/>
    <p:sldId id="693" r:id="rId12"/>
    <p:sldId id="639" r:id="rId13"/>
    <p:sldId id="694" r:id="rId14"/>
    <p:sldId id="695" r:id="rId15"/>
    <p:sldId id="697" r:id="rId16"/>
    <p:sldId id="698" r:id="rId17"/>
    <p:sldId id="699" r:id="rId18"/>
  </p:sldIdLst>
  <p:sldSz cx="12192000" cy="6858000"/>
  <p:notesSz cx="6858000" cy="9144000"/>
  <p:custDataLst>
    <p:tags r:id="rId3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69.xml"/><Relationship Id="rId32" Type="http://schemas.openxmlformats.org/officeDocument/2006/relationships/customXml" Target="../customXml/item10.xml"/><Relationship Id="rId31" Type="http://schemas.openxmlformats.org/officeDocument/2006/relationships/customXml" Target="../customXml/item9.xml"/><Relationship Id="rId30" Type="http://schemas.openxmlformats.org/officeDocument/2006/relationships/customXml" Target="../customXml/item8.xml"/><Relationship Id="rId3" Type="http://schemas.openxmlformats.org/officeDocument/2006/relationships/slide" Target="slides/slide1.xml"/><Relationship Id="rId29" Type="http://schemas.openxmlformats.org/officeDocument/2006/relationships/customXml" Target="../customXml/item7.xml"/><Relationship Id="rId28" Type="http://schemas.openxmlformats.org/officeDocument/2006/relationships/customXml" Target="../customXml/item6.xml"/><Relationship Id="rId27" Type="http://schemas.openxmlformats.org/officeDocument/2006/relationships/customXml" Target="../customXml/item5.xml"/><Relationship Id="rId26" Type="http://schemas.openxmlformats.org/officeDocument/2006/relationships/customXml" Target="../customXml/item4.xml"/><Relationship Id="rId25" Type="http://schemas.openxmlformats.org/officeDocument/2006/relationships/customXml" Target="../customXml/item3.xml"/><Relationship Id="rId24" Type="http://schemas.openxmlformats.org/officeDocument/2006/relationships/customXml" Target="../customXml/item2.xml"/><Relationship Id="rId23" Type="http://schemas.openxmlformats.org/officeDocument/2006/relationships/customXml" Target="../customXml/item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tags" Target="../tags/tag14.xml"/><Relationship Id="rId4" Type="http://schemas.openxmlformats.org/officeDocument/2006/relationships/image" Target="../media/image5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tags" Target="../tags/tag18.xml"/><Relationship Id="rId4" Type="http://schemas.openxmlformats.org/officeDocument/2006/relationships/image" Target="../media/image7.png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tags" Target="../tags/tag22.xml"/><Relationship Id="rId4" Type="http://schemas.openxmlformats.org/officeDocument/2006/relationships/image" Target="../media/image9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tags" Target="../tags/tag26.xml"/><Relationship Id="rId4" Type="http://schemas.openxmlformats.org/officeDocument/2006/relationships/image" Target="../media/image11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tags" Target="../tags/tag30.xml"/><Relationship Id="rId4" Type="http://schemas.openxmlformats.org/officeDocument/2006/relationships/image" Target="../media/image13.png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37.xml"/><Relationship Id="rId7" Type="http://schemas.openxmlformats.org/officeDocument/2006/relationships/image" Target="../media/image16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image" Target="../media/image15.png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6" Type="http://schemas.openxmlformats.org/officeDocument/2006/relationships/tags" Target="../tags/tag42.xml"/><Relationship Id="rId5" Type="http://schemas.openxmlformats.org/officeDocument/2006/relationships/image" Target="../media/image18.png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48.xml"/><Relationship Id="rId7" Type="http://schemas.openxmlformats.org/officeDocument/2006/relationships/image" Target="../media/image21.png"/><Relationship Id="rId6" Type="http://schemas.openxmlformats.org/officeDocument/2006/relationships/tags" Target="../tags/tag47.xml"/><Relationship Id="rId5" Type="http://schemas.openxmlformats.org/officeDocument/2006/relationships/image" Target="../media/image20.png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6" Type="http://schemas.openxmlformats.org/officeDocument/2006/relationships/tags" Target="../tags/tag53.xml"/><Relationship Id="rId5" Type="http://schemas.openxmlformats.org/officeDocument/2006/relationships/image" Target="../media/image23.png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案例与实验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CPU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使用率实验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6794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使用率实验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11860" y="2061845"/>
            <a:ext cx="9352280" cy="3167380"/>
            <a:chOff x="1549" y="2339"/>
            <a:chExt cx="14728" cy="4988"/>
          </a:xfrm>
        </p:grpSpPr>
        <p:pic>
          <p:nvPicPr>
            <p:cNvPr id="2" name="图片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rcRect b="32989"/>
            <a:stretch>
              <a:fillRect/>
            </a:stretch>
          </p:blipFill>
          <p:spPr>
            <a:xfrm>
              <a:off x="1549" y="2339"/>
              <a:ext cx="14729" cy="4989"/>
            </a:xfrm>
            <a:prstGeom prst="rect">
              <a:avLst/>
            </a:prstGeom>
          </p:spPr>
        </p:pic>
        <p:sp>
          <p:nvSpPr>
            <p:cNvPr id="17" name="矩形 16"/>
            <p:cNvSpPr/>
            <p:nvPr>
              <p:custDataLst>
                <p:tags r:id="rId4"/>
              </p:custDataLst>
            </p:nvPr>
          </p:nvSpPr>
          <p:spPr>
            <a:xfrm>
              <a:off x="3250" y="4380"/>
              <a:ext cx="11489" cy="487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788670" y="1052830"/>
            <a:ext cx="10615295" cy="8451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通过所学知识，让各种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使用率升高，检验对这些指标的理解是否正确！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使用率实验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us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27235" cy="7575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us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为用户态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使用率，可以使用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stress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-c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选项来对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做压测，它开启一个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stress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进程，运行一个死循环以使得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满载。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3068320"/>
            <a:ext cx="8299450" cy="1778000"/>
          </a:xfrm>
          <a:prstGeom prst="rect">
            <a:avLst/>
          </a:prstGeom>
        </p:spPr>
      </p:pic>
      <p:pic>
        <p:nvPicPr>
          <p:cNvPr id="13" name="图片 12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760" y="2132013"/>
            <a:ext cx="1866900" cy="75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使用率实验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ni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27235" cy="7575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ni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为调整过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nice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优先级进程的用户态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使用率，可以使用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renice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命令调整刚启动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stress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nice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值，以使得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ni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1" name="图片 10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443" y="2132648"/>
            <a:ext cx="2771775" cy="752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760" y="3135630"/>
            <a:ext cx="8159750" cy="172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使用率实验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sy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27235" cy="11537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sy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主要由系统调用、缺页异常、内核线程等活动组成，通过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stress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-m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选项，可实现不断申请内存，并读写内存造成大量缺页中断，从而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使得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sy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3284220"/>
            <a:ext cx="8756650" cy="1752600"/>
          </a:xfrm>
          <a:prstGeom prst="rect">
            <a:avLst/>
          </a:prstGeom>
        </p:spPr>
      </p:pic>
      <p:pic>
        <p:nvPicPr>
          <p:cNvPr id="102" name="图片 101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760" y="2419668"/>
            <a:ext cx="1866900" cy="75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使用率实验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wa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27235" cy="11537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wa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为存在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磁盘等待线程时的空闲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，通过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dd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来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读磁盘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，及使用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directIO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模式不过缓存直接读磁盘，从而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使得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wa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3313430"/>
            <a:ext cx="8013700" cy="1936750"/>
          </a:xfrm>
          <a:prstGeom prst="rect">
            <a:avLst/>
          </a:prstGeom>
        </p:spPr>
      </p:pic>
      <p:pic>
        <p:nvPicPr>
          <p:cNvPr id="103" name="图片 102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760" y="2419668"/>
            <a:ext cx="5372100" cy="75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使用率实验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si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27235" cy="11537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si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为软中断占用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，从另一台机器上，通过</a:t>
            </a: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hping3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来疯狂发网络包，从而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使得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si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4" name="图片 10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443" y="2420938"/>
            <a:ext cx="4772025" cy="752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760" y="3284855"/>
            <a:ext cx="8591550" cy="1250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内存回收实验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内存回收实验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981075"/>
            <a:ext cx="9627235" cy="11537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在空闲内存不足时，会运行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kswapd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进行内存回收，回收文件缓存或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内存，本次实验将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vm.swappiness设置为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，这表示当内存不足时，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尽量先回收文件缓存，然后才使用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回收内存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3284855"/>
            <a:ext cx="3124200" cy="13208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39470" y="2420620"/>
            <a:ext cx="9627235" cy="8655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首先，生成一个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4G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大文件，然后用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cat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读取它，使得其被缓存到内存中。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如下，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4G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的大文件有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被缓存，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buff/cache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合计占用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3.4G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268K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12310" y="3357880"/>
            <a:ext cx="4775200" cy="10858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27760" y="4742815"/>
            <a:ext cx="8204200" cy="844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内存回收实验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8395"/>
            <a:ext cx="9627235" cy="6445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stress -m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67715" y="2780665"/>
            <a:ext cx="9627235" cy="8616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再次用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free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查看内存，发现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buff/cache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从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3.4G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变成了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389M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，说明分配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内存时，触发了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内存回收，导致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文件缓存被回收了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，也使用了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10M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9" name="图片 108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9470" y="1772603"/>
            <a:ext cx="4667250" cy="752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39470" y="3789045"/>
            <a:ext cx="8210550" cy="920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内存回收实验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8395"/>
            <a:ext cx="9627235" cy="6445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文件缓存基本被回收完后，再使用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stress -m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2G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67715" y="2780665"/>
            <a:ext cx="9627235" cy="10674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再次用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free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查看内存，发现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此次回收大量使用了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用量从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10M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变成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1.8G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，之前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stress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进程，被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了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1.7G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内存出去。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0" name="图片 109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9470" y="1844358"/>
            <a:ext cx="4667250" cy="752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39470" y="3788410"/>
            <a:ext cx="8216900" cy="831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39470" y="4724400"/>
            <a:ext cx="8864600" cy="1155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内存回收实验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913130"/>
            <a:ext cx="9627235" cy="6445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空间也大量被占用后，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再使用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stress -m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2G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852805" y="3357245"/>
            <a:ext cx="9627235" cy="7378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发现最开始分配的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3G stress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进程被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kill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了，通过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dmesg -T | grep -i kill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发现，由于内存不足，调用了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oom-killer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，导致最开始分配的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3G stress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进程被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kill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1860" y="1557655"/>
            <a:ext cx="7175500" cy="159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11860" y="4236720"/>
            <a:ext cx="8896350" cy="1758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670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内存回收实验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913130"/>
            <a:ext cx="9627235" cy="12725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内存回收过程符合预期，当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vm.swappiness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=1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时，当内存回收时，先回收文件缓存，然后再使用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，当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也不够后，调用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oom-killer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释放内存！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2348230" y="2597785"/>
            <a:ext cx="1132840" cy="57277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回收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文件缓存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4472940" y="2597785"/>
            <a:ext cx="1132840" cy="57277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使用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swap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  <p:sp>
        <p:nvSpPr>
          <p:cNvPr id="7" name="圆角矩形 6"/>
          <p:cNvSpPr/>
          <p:nvPr>
            <p:custDataLst>
              <p:tags r:id="rId4"/>
            </p:custDataLst>
          </p:nvPr>
        </p:nvSpPr>
        <p:spPr>
          <a:xfrm>
            <a:off x="6597650" y="2597785"/>
            <a:ext cx="1344930" cy="57277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调用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oom-killer</a:t>
            </a:r>
            <a:endParaRPr kumimoji="0" lang="en-US" sz="18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3572510" y="2781300"/>
            <a:ext cx="791845" cy="215900"/>
          </a:xfrm>
          <a:prstGeom prst="rightArrow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FZYanSongS-EB-GB"/>
              <a:ea typeface="FZYanSongS-EB-GB"/>
              <a:cs typeface="FZYanSongS-EB-GB"/>
              <a:sym typeface="FZYanSongS-EB-GB"/>
            </a:endParaRPr>
          </a:p>
        </p:txBody>
      </p:sp>
      <p:sp>
        <p:nvSpPr>
          <p:cNvPr id="10" name="右箭头 9"/>
          <p:cNvSpPr/>
          <p:nvPr>
            <p:custDataLst>
              <p:tags r:id="rId5"/>
            </p:custDataLst>
          </p:nvPr>
        </p:nvSpPr>
        <p:spPr>
          <a:xfrm>
            <a:off x="5706110" y="2781300"/>
            <a:ext cx="791845" cy="215900"/>
          </a:xfrm>
          <a:prstGeom prst="rightArrow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FZYanSongS-EB-GB"/>
              <a:ea typeface="FZYanSongS-EB-GB"/>
              <a:cs typeface="FZYanSongS-EB-GB"/>
              <a:sym typeface="FZYanSongS-EB-G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59.xml><?xml version="1.0" encoding="utf-8"?>
<ds:datastoreItem xmlns:ds="http://schemas.openxmlformats.org/officeDocument/2006/customXml" ds:itemID="{f7bc79f2-c455-434b-bca9-875aecb91bf3}">
  <ds:schemaRefs/>
</ds:datastoreItem>
</file>

<file path=customXml/itemProps60.xml><?xml version="1.0" encoding="utf-8"?>
<ds:datastoreItem xmlns:ds="http://schemas.openxmlformats.org/officeDocument/2006/customXml" ds:itemID="{3c132078-98b1-4deb-b4fd-a1bec46831f1}">
  <ds:schemaRefs/>
</ds:datastoreItem>
</file>

<file path=customXml/itemProps61.xml><?xml version="1.0" encoding="utf-8"?>
<ds:datastoreItem xmlns:ds="http://schemas.openxmlformats.org/officeDocument/2006/customXml" ds:itemID="{c5c661d3-4756-4449-af8a-01387bd7a269}">
  <ds:schemaRefs/>
</ds:datastoreItem>
</file>

<file path=customXml/itemProps62.xml><?xml version="1.0" encoding="utf-8"?>
<ds:datastoreItem xmlns:ds="http://schemas.openxmlformats.org/officeDocument/2006/customXml" ds:itemID="{58dabdbb-c60f-4057-89a4-b5f24a98f472}">
  <ds:schemaRefs/>
</ds:datastoreItem>
</file>

<file path=customXml/itemProps63.xml><?xml version="1.0" encoding="utf-8"?>
<ds:datastoreItem xmlns:ds="http://schemas.openxmlformats.org/officeDocument/2006/customXml" ds:itemID="{6ad86b82-52b5-47a8-ba6d-e9bbe075a083}">
  <ds:schemaRefs/>
</ds:datastoreItem>
</file>

<file path=customXml/itemProps64.xml><?xml version="1.0" encoding="utf-8"?>
<ds:datastoreItem xmlns:ds="http://schemas.openxmlformats.org/officeDocument/2006/customXml" ds:itemID="{8fd2a99b-51ca-42d4-8a98-ac38bf31ee8f}">
  <ds:schemaRefs/>
</ds:datastoreItem>
</file>

<file path=customXml/itemProps65.xml><?xml version="1.0" encoding="utf-8"?>
<ds:datastoreItem xmlns:ds="http://schemas.openxmlformats.org/officeDocument/2006/customXml" ds:itemID="{667e9340-f440-47f7-819a-cdc7dab5fa96}">
  <ds:schemaRefs/>
</ds:datastoreItem>
</file>

<file path=customXml/itemProps66.xml><?xml version="1.0" encoding="utf-8"?>
<ds:datastoreItem xmlns:ds="http://schemas.openxmlformats.org/officeDocument/2006/customXml" ds:itemID="{ae649005-3b55-4298-8017-458659bde268}">
  <ds:schemaRefs/>
</ds:datastoreItem>
</file>

<file path=customXml/itemProps67.xml><?xml version="1.0" encoding="utf-8"?>
<ds:datastoreItem xmlns:ds="http://schemas.openxmlformats.org/officeDocument/2006/customXml" ds:itemID="{eb8fafd0-aa01-4764-b4e6-708160bc6a19}">
  <ds:schemaRefs/>
</ds:datastoreItem>
</file>

<file path=customXml/itemProps68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1148</Words>
  <Application>WPS 演示</Application>
  <PresentationFormat/>
  <Paragraphs>73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Helvetica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1939</cp:revision>
  <dcterms:created xsi:type="dcterms:W3CDTF">2019-02-26T11:09:00Z</dcterms:created>
  <dcterms:modified xsi:type="dcterms:W3CDTF">2024-09-25T06:03:48Z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