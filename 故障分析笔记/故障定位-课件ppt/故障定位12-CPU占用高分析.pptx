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220.xml" ContentType="application/vnd.openxmlformats-officedocument.customXmlProperties+xml"/>
  <Override PartName="/customXml/itemProps221.xml" ContentType="application/vnd.openxmlformats-officedocument.customXmlProperties+xml"/>
  <Override PartName="/customXml/itemProps222.xml" ContentType="application/vnd.openxmlformats-officedocument.customXmlProperties+xml"/>
  <Override PartName="/customXml/itemProps223.xml" ContentType="application/vnd.openxmlformats-officedocument.customXmlProperties+xml"/>
  <Override PartName="/customXml/itemProps224.xml" ContentType="application/vnd.openxmlformats-officedocument.customXmlProperties+xml"/>
  <Override PartName="/customXml/itemProps225.xml" ContentType="application/vnd.openxmlformats-officedocument.customXmlProperties+xml"/>
  <Override PartName="/customXml/itemProps226.xml" ContentType="application/vnd.openxmlformats-officedocument.customXmlProperties+xml"/>
  <Override PartName="/customXml/itemProps227.xml" ContentType="application/vnd.openxmlformats-officedocument.customXmlProperties+xml"/>
  <Override PartName="/customXml/itemProps228.xml" ContentType="application/vnd.openxmlformats-officedocument.customXmlProperties+xml"/>
  <Override PartName="/customXml/itemProps229.xml" ContentType="application/vnd.openxmlformats-officedocument.customXmlProperties+xml"/>
  <Override PartName="/customXml/itemProps23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31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47"/>
  </p:handoutMasterIdLst>
  <p:sldIdLst>
    <p:sldId id="406" r:id="rId3"/>
    <p:sldId id="360" r:id="rId4"/>
    <p:sldId id="525" r:id="rId5"/>
    <p:sldId id="581" r:id="rId7"/>
    <p:sldId id="579" r:id="rId8"/>
    <p:sldId id="569" r:id="rId9"/>
    <p:sldId id="568" r:id="rId10"/>
    <p:sldId id="513" r:id="rId11"/>
    <p:sldId id="571" r:id="rId12"/>
    <p:sldId id="573" r:id="rId13"/>
    <p:sldId id="625" r:id="rId14"/>
    <p:sldId id="574" r:id="rId15"/>
    <p:sldId id="507" r:id="rId16"/>
    <p:sldId id="575" r:id="rId17"/>
    <p:sldId id="576" r:id="rId18"/>
    <p:sldId id="577" r:id="rId19"/>
    <p:sldId id="578" r:id="rId20"/>
    <p:sldId id="583" r:id="rId21"/>
    <p:sldId id="584" r:id="rId22"/>
    <p:sldId id="585" r:id="rId23"/>
    <p:sldId id="586" r:id="rId24"/>
    <p:sldId id="587" r:id="rId25"/>
    <p:sldId id="588" r:id="rId26"/>
    <p:sldId id="590" r:id="rId27"/>
    <p:sldId id="593" r:id="rId28"/>
    <p:sldId id="595" r:id="rId29"/>
    <p:sldId id="597" r:id="rId30"/>
    <p:sldId id="591" r:id="rId31"/>
    <p:sldId id="592" r:id="rId32"/>
    <p:sldId id="599" r:id="rId33"/>
    <p:sldId id="600" r:id="rId34"/>
    <p:sldId id="601" r:id="rId35"/>
    <p:sldId id="602" r:id="rId36"/>
    <p:sldId id="603" r:id="rId37"/>
    <p:sldId id="604" r:id="rId38"/>
    <p:sldId id="605" r:id="rId39"/>
    <p:sldId id="606" r:id="rId40"/>
    <p:sldId id="615" r:id="rId41"/>
    <p:sldId id="620" r:id="rId42"/>
    <p:sldId id="619" r:id="rId43"/>
    <p:sldId id="618" r:id="rId44"/>
    <p:sldId id="616" r:id="rId45"/>
    <p:sldId id="607" r:id="rId46"/>
  </p:sldIdLst>
  <p:sldSz cx="12192000" cy="6858000"/>
  <p:notesSz cx="6858000" cy="9144000"/>
  <p:custDataLst>
    <p:tags r:id="rId6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3F969A"/>
    <a:srgbClr val="19DEA6"/>
    <a:srgbClr val="FBDF43"/>
    <a:srgbClr val="BDDAB3"/>
    <a:srgbClr val="161E3B"/>
    <a:srgbClr val="FDED42"/>
    <a:srgbClr val="F04238"/>
    <a:srgbClr val="FFB35A"/>
    <a:srgbClr val="FFC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3" Type="http://schemas.openxmlformats.org/officeDocument/2006/relationships/tags" Target="tags/tag231.xml"/><Relationship Id="rId62" Type="http://schemas.openxmlformats.org/officeDocument/2006/relationships/customXml" Target="../customXml/item11.xml"/><Relationship Id="rId61" Type="http://schemas.openxmlformats.org/officeDocument/2006/relationships/customXml" Target="../customXml/item10.xml"/><Relationship Id="rId60" Type="http://schemas.openxmlformats.org/officeDocument/2006/relationships/customXml" Target="../customXml/item9.xml"/><Relationship Id="rId6" Type="http://schemas.openxmlformats.org/officeDocument/2006/relationships/notesMaster" Target="notesMasters/notesMaster1.xml"/><Relationship Id="rId59" Type="http://schemas.openxmlformats.org/officeDocument/2006/relationships/customXml" Target="../customXml/item8.xml"/><Relationship Id="rId58" Type="http://schemas.openxmlformats.org/officeDocument/2006/relationships/customXml" Target="../customXml/item7.xml"/><Relationship Id="rId57" Type="http://schemas.openxmlformats.org/officeDocument/2006/relationships/customXml" Target="../customXml/item6.xml"/><Relationship Id="rId56" Type="http://schemas.openxmlformats.org/officeDocument/2006/relationships/customXml" Target="../customXml/item5.xml"/><Relationship Id="rId55" Type="http://schemas.openxmlformats.org/officeDocument/2006/relationships/customXml" Target="../customXml/item4.xml"/><Relationship Id="rId54" Type="http://schemas.openxmlformats.org/officeDocument/2006/relationships/customXml" Target="../customXml/item3.xml"/><Relationship Id="rId53" Type="http://schemas.openxmlformats.org/officeDocument/2006/relationships/customXml" Target="../customXml/item2.xml"/><Relationship Id="rId52" Type="http://schemas.openxmlformats.org/officeDocument/2006/relationships/customXml" Target="../customXml/item1.xml"/><Relationship Id="rId51" Type="http://schemas.openxmlformats.org/officeDocument/2006/relationships/customXmlProps" Target="../customXml/itemProps220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38.xml"/><Relationship Id="rId33" Type="http://schemas.openxmlformats.org/officeDocument/2006/relationships/tags" Target="../tags/tag37.xml"/><Relationship Id="rId32" Type="http://schemas.openxmlformats.org/officeDocument/2006/relationships/tags" Target="../tags/tag36.xml"/><Relationship Id="rId31" Type="http://schemas.openxmlformats.org/officeDocument/2006/relationships/tags" Target="../tags/tag35.xml"/><Relationship Id="rId30" Type="http://schemas.openxmlformats.org/officeDocument/2006/relationships/tags" Target="../tags/tag34.xml"/><Relationship Id="rId3" Type="http://schemas.openxmlformats.org/officeDocument/2006/relationships/tags" Target="../tags/tag9.xml"/><Relationship Id="rId29" Type="http://schemas.openxmlformats.org/officeDocument/2006/relationships/tags" Target="../tags/tag33.xml"/><Relationship Id="rId28" Type="http://schemas.openxmlformats.org/officeDocument/2006/relationships/image" Target="../media/image5.png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image" Target="../media/image4.png"/><Relationship Id="rId24" Type="http://schemas.openxmlformats.org/officeDocument/2006/relationships/tags" Target="../tags/tag30.xml"/><Relationship Id="rId23" Type="http://schemas.openxmlformats.org/officeDocument/2006/relationships/tags" Target="../tags/tag29.xml"/><Relationship Id="rId22" Type="http://schemas.openxmlformats.org/officeDocument/2006/relationships/tags" Target="../tags/tag28.xml"/><Relationship Id="rId21" Type="http://schemas.openxmlformats.org/officeDocument/2006/relationships/tags" Target="../tags/tag27.xml"/><Relationship Id="rId20" Type="http://schemas.openxmlformats.org/officeDocument/2006/relationships/tags" Target="../tags/tag26.xml"/><Relationship Id="rId2" Type="http://schemas.openxmlformats.org/officeDocument/2006/relationships/tags" Target="../tags/tag8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image" Target="../media/image6.png"/><Relationship Id="rId1" Type="http://schemas.openxmlformats.org/officeDocument/2006/relationships/tags" Target="../tags/tag4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image" Target="../media/image9.png"/><Relationship Id="rId7" Type="http://schemas.openxmlformats.org/officeDocument/2006/relationships/tags" Target="../tags/tag53.xml"/><Relationship Id="rId6" Type="http://schemas.openxmlformats.org/officeDocument/2006/relationships/image" Target="../media/image8.png"/><Relationship Id="rId5" Type="http://schemas.openxmlformats.org/officeDocument/2006/relationships/tags" Target="../tags/tag52.xml"/><Relationship Id="rId4" Type="http://schemas.openxmlformats.org/officeDocument/2006/relationships/image" Target="../media/image7.png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55.xml"/><Relationship Id="rId1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10.png"/><Relationship Id="rId1" Type="http://schemas.openxmlformats.org/officeDocument/2006/relationships/tags" Target="../tags/tag6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1.png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94.xml"/><Relationship Id="rId12" Type="http://schemas.openxmlformats.org/officeDocument/2006/relationships/image" Target="../media/image12.png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tags" Target="../tags/tag83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06.xml"/><Relationship Id="rId13" Type="http://schemas.openxmlformats.org/officeDocument/2006/relationships/image" Target="../media/image14.png"/><Relationship Id="rId12" Type="http://schemas.openxmlformats.org/officeDocument/2006/relationships/tags" Target="../tags/tag105.xml"/><Relationship Id="rId11" Type="http://schemas.openxmlformats.org/officeDocument/2006/relationships/image" Target="../media/image13.png"/><Relationship Id="rId10" Type="http://schemas.openxmlformats.org/officeDocument/2006/relationships/tags" Target="../tags/tag104.xml"/><Relationship Id="rId1" Type="http://schemas.openxmlformats.org/officeDocument/2006/relationships/tags" Target="../tags/tag9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16.xml"/><Relationship Id="rId1" Type="http://schemas.openxmlformats.org/officeDocument/2006/relationships/tags" Target="../tags/tag10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9.xml"/><Relationship Id="rId3" Type="http://schemas.openxmlformats.org/officeDocument/2006/relationships/image" Target="../media/image15.png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8.xml"/><Relationship Id="rId4" Type="http://schemas.openxmlformats.org/officeDocument/2006/relationships/image" Target="../media/image18.png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image" Target="../media/image19.png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tags" Target="../tags/tag134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44.xml"/><Relationship Id="rId1" Type="http://schemas.openxmlformats.org/officeDocument/2006/relationships/tags" Target="../tags/tag13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image" Target="../media/image23.png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1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5.png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image" Target="../media/image24.png"/><Relationship Id="rId1" Type="http://schemas.openxmlformats.org/officeDocument/2006/relationships/tags" Target="../tags/tag152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7.png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image" Target="../media/image26.png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9.png"/><Relationship Id="rId6" Type="http://schemas.openxmlformats.org/officeDocument/2006/relationships/tags" Target="../tags/tag173.xml"/><Relationship Id="rId5" Type="http://schemas.openxmlformats.org/officeDocument/2006/relationships/image" Target="../media/image28.png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image" Target="../media/image31.png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tags" Target="../tags/tag179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image" Target="../media/image33.png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tags" Target="../tags/tag19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3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7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" Type="http://schemas.openxmlformats.org/officeDocument/2006/relationships/tags" Target="../tags/tag2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6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tags" Target="../tags/tag2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</a:t>
            </a:r>
            <a:r>
              <a:rPr kumimoji="0" lang="en-US" alt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占用分析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资源占用</a:t>
            </a:r>
            <a:r>
              <a:rPr lang="zh-CN" altLang="en-US" sz="6600" b="1">
                <a:solidFill>
                  <a:schemeClr val="bg1"/>
                </a:solidFill>
                <a:latin typeface="+mj-ea"/>
                <a:ea typeface="+mj-ea"/>
                <a:cs typeface="+mj-ea"/>
                <a:sym typeface="OPlusSans 3.0" panose="00000500000000000000" charset="-122"/>
              </a:rPr>
              <a:t>高</a:t>
            </a: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分析思路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分析视角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6595" y="2049145"/>
            <a:ext cx="5480050" cy="3057525"/>
          </a:xfrm>
          <a:prstGeom prst="rect">
            <a:avLst/>
          </a:prstGeom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6595" y="5105400"/>
            <a:ext cx="5480050" cy="633730"/>
          </a:xfrm>
          <a:prstGeom prst="rect">
            <a:avLst/>
          </a:prstGeom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6595" y="5372735"/>
            <a:ext cx="1117600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硬件资源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96595" y="4723130"/>
            <a:ext cx="102298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操作系统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67715" y="3299460"/>
            <a:ext cx="1542415" cy="92392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67715" y="3863340"/>
            <a:ext cx="1049020" cy="3473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6501130" y="1834515"/>
            <a:ext cx="5466080" cy="4038600"/>
            <a:chOff x="9260" y="2663"/>
            <a:chExt cx="8608" cy="6360"/>
          </a:xfrm>
        </p:grpSpPr>
        <p:sp>
          <p:nvSpPr>
            <p:cNvPr id="3" name="上箭头 2"/>
            <p:cNvSpPr/>
            <p:nvPr/>
          </p:nvSpPr>
          <p:spPr>
            <a:xfrm>
              <a:off x="9260" y="2673"/>
              <a:ext cx="1303" cy="6350"/>
            </a:xfrm>
            <a:prstGeom prst="upArrow">
              <a:avLst/>
            </a:prstGeom>
          </p:spPr>
          <p:style>
            <a:lnRef idx="2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2"/>
              </p:custDataLst>
            </p:nvPr>
          </p:nvSpPr>
          <p:spPr>
            <a:xfrm>
              <a:off x="11074" y="3689"/>
              <a:ext cx="6794" cy="48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71436" tIns="71436" rIns="71436" bIns="71436" numCol="1" spcCol="38100" rtlCol="0" anchor="ctr" forceAA="0">
              <a:noAutofit/>
            </a:bodyPr>
            <a:p>
              <a:pPr marR="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</a:pPr>
              <a:r>
                <a:rPr kumimoji="0" 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自底向上分析，</a:t>
              </a:r>
              <a:r>
                <a:rPr kumimoji="0" lang="zh-CN" b="1" i="0" u="none" strike="noStrike" cap="none" spc="0" normalizeH="0" baseline="0">
                  <a:ln w="31750">
                    <a:noFill/>
                  </a:ln>
                  <a:solidFill>
                    <a:srgbClr val="FF9A2D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逐步细分资源占用</a:t>
              </a:r>
              <a:r>
                <a:rPr kumimoji="0" 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，找到问题根因，如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CPU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高问题，如下：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用户态还是内核态高？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什么进程占用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CPU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多？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什么线程占用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CPU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多？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什么调用栈占用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CPU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多？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什么请求占用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CPU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多？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</p:txBody>
        </p:sp>
        <p:sp>
          <p:nvSpPr>
            <p:cNvPr id="59" name="文本框 58"/>
            <p:cNvSpPr txBox="1"/>
            <p:nvPr>
              <p:custDataLst>
                <p:tags r:id="rId3"/>
              </p:custDataLst>
            </p:nvPr>
          </p:nvSpPr>
          <p:spPr>
            <a:xfrm>
              <a:off x="11074" y="2663"/>
              <a:ext cx="4839" cy="11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71436" tIns="71436" rIns="71436" bIns="71436" numCol="1" spcCol="38100" rtlCol="0" anchor="ctr" forceAA="0">
              <a:noAutofit/>
            </a:bodyPr>
            <a:p>
              <a:pPr marL="0" marR="0" indent="0" algn="l" defTabSz="82169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cap="none" spc="0" normalizeH="0" baseline="0">
                  <a:ln w="22225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资源分析视角</a:t>
              </a:r>
              <a:endParaRPr kumimoji="0" lang="zh-CN" sz="3600" b="1" i="0" u="none" strike="noStrike" cap="none" spc="0" normalizeH="0" baseline="0">
                <a:ln w="2222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</p:txBody>
        </p:sp>
      </p:grp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2495550" y="3298825"/>
            <a:ext cx="1480185" cy="92456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2495550" y="3863023"/>
            <a:ext cx="1221740" cy="3473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mysql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6"/>
            </p:custDataLst>
          </p:nvPr>
        </p:nvSpPr>
        <p:spPr>
          <a:xfrm>
            <a:off x="848360" y="3433445"/>
            <a:ext cx="594360" cy="414020"/>
          </a:xfrm>
          <a:prstGeom prst="roundRect">
            <a:avLst/>
          </a:prstGeom>
          <a:solidFill>
            <a:srgbClr val="FFB35A"/>
          </a:solidFill>
          <a:ln w="25400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914400" rtl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gc</a:t>
            </a:r>
            <a:endParaRPr kumimoji="0" lang="en-US" altLang="zh-CN" sz="1400" b="1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ctr" defTabSz="914400" rtl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</a:t>
            </a:r>
            <a:endParaRPr kumimoji="0" lang="zh-CN" altLang="en-US" sz="1400" b="1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6" name="圆角矩形 25"/>
          <p:cNvSpPr/>
          <p:nvPr>
            <p:custDataLst>
              <p:tags r:id="rId7"/>
            </p:custDataLst>
          </p:nvPr>
        </p:nvSpPr>
        <p:spPr>
          <a:xfrm>
            <a:off x="1559560" y="3433445"/>
            <a:ext cx="633095" cy="414020"/>
          </a:xfrm>
          <a:prstGeom prst="roundRect">
            <a:avLst/>
          </a:prstGeom>
          <a:solidFill>
            <a:srgbClr val="FFB35A"/>
          </a:solidFill>
          <a:ln w="25400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914400" rtl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业务</a:t>
            </a:r>
            <a:endParaRPr kumimoji="0" lang="zh-CN" altLang="en-US" sz="1400" b="1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ctr" defTabSz="914400" rtl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</a:t>
            </a:r>
            <a:endParaRPr kumimoji="0" lang="zh-CN" altLang="en-US" sz="1400" b="1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8" name="圆角矩形 37"/>
          <p:cNvSpPr/>
          <p:nvPr>
            <p:custDataLst>
              <p:tags r:id="rId8"/>
            </p:custDataLst>
          </p:nvPr>
        </p:nvSpPr>
        <p:spPr>
          <a:xfrm>
            <a:off x="2567305" y="3433445"/>
            <a:ext cx="594360" cy="372745"/>
          </a:xfrm>
          <a:prstGeom prst="roundRect">
            <a:avLst/>
          </a:prstGeom>
          <a:solidFill>
            <a:srgbClr val="FFB35A"/>
          </a:solidFill>
          <a:ln w="25400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914400" rtl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sql</a:t>
            </a:r>
            <a:endParaRPr kumimoji="0" lang="en-US" altLang="zh-CN" sz="1400" b="1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ctr" defTabSz="914400" rtl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</a:t>
            </a:r>
            <a:endParaRPr kumimoji="0" lang="zh-CN" altLang="en-US" sz="1400" b="1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4" name="圆角矩形 43"/>
          <p:cNvSpPr/>
          <p:nvPr>
            <p:custDataLst>
              <p:tags r:id="rId9"/>
            </p:custDataLst>
          </p:nvPr>
        </p:nvSpPr>
        <p:spPr>
          <a:xfrm>
            <a:off x="3287395" y="3429000"/>
            <a:ext cx="634365" cy="414020"/>
          </a:xfrm>
          <a:prstGeom prst="roundRect">
            <a:avLst/>
          </a:prstGeom>
          <a:solidFill>
            <a:srgbClr val="FFB35A"/>
          </a:solidFill>
          <a:ln w="25400" cap="flat">
            <a:solidFill>
              <a:schemeClr val="bg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914400" rtl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flush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</a:t>
            </a:r>
            <a:endParaRPr kumimoji="0" lang="zh-CN" altLang="en-US" sz="1400" b="1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5" name="矩形 44"/>
          <p:cNvSpPr/>
          <p:nvPr>
            <p:custDataLst>
              <p:tags r:id="rId10"/>
            </p:custDataLst>
          </p:nvPr>
        </p:nvSpPr>
        <p:spPr>
          <a:xfrm>
            <a:off x="1775460" y="5219700"/>
            <a:ext cx="870585" cy="440055"/>
          </a:xfrm>
          <a:prstGeom prst="rect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1"/>
            </p:custDataLst>
          </p:nvPr>
        </p:nvSpPr>
        <p:spPr>
          <a:xfrm>
            <a:off x="1775460" y="5235575"/>
            <a:ext cx="745490" cy="3473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endParaRPr kumimoji="0" lang="en-US" altLang="zh-CN" sz="16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7" name="矩形 46"/>
          <p:cNvSpPr/>
          <p:nvPr>
            <p:custDataLst>
              <p:tags r:id="rId12"/>
            </p:custDataLst>
          </p:nvPr>
        </p:nvSpPr>
        <p:spPr>
          <a:xfrm>
            <a:off x="2711450" y="5203825"/>
            <a:ext cx="870585" cy="455930"/>
          </a:xfrm>
          <a:prstGeom prst="rect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2711450" y="5219700"/>
            <a:ext cx="745490" cy="3473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内存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9" name="矩形 48"/>
          <p:cNvSpPr/>
          <p:nvPr>
            <p:custDataLst>
              <p:tags r:id="rId14"/>
            </p:custDataLst>
          </p:nvPr>
        </p:nvSpPr>
        <p:spPr>
          <a:xfrm>
            <a:off x="3647440" y="5219700"/>
            <a:ext cx="870585" cy="432435"/>
          </a:xfrm>
          <a:prstGeom prst="rect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5"/>
            </p:custDataLst>
          </p:nvPr>
        </p:nvSpPr>
        <p:spPr>
          <a:xfrm>
            <a:off x="3647440" y="5235575"/>
            <a:ext cx="745490" cy="3473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磁盘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6" name="矩形 55"/>
          <p:cNvSpPr/>
          <p:nvPr>
            <p:custDataLst>
              <p:tags r:id="rId16"/>
            </p:custDataLst>
          </p:nvPr>
        </p:nvSpPr>
        <p:spPr>
          <a:xfrm>
            <a:off x="4708525" y="5219700"/>
            <a:ext cx="870585" cy="431800"/>
          </a:xfrm>
          <a:prstGeom prst="rect">
            <a:avLst/>
          </a:prstGeom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7"/>
            </p:custDataLst>
          </p:nvPr>
        </p:nvSpPr>
        <p:spPr>
          <a:xfrm>
            <a:off x="4708525" y="5235575"/>
            <a:ext cx="745490" cy="3473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网络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39140" y="3088640"/>
            <a:ext cx="3326130" cy="16363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63" name="矩形 62"/>
          <p:cNvSpPr/>
          <p:nvPr>
            <p:custDataLst>
              <p:tags r:id="rId18"/>
            </p:custDataLst>
          </p:nvPr>
        </p:nvSpPr>
        <p:spPr>
          <a:xfrm>
            <a:off x="4126865" y="3088005"/>
            <a:ext cx="1987550" cy="16351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64" name="矩形 63"/>
          <p:cNvSpPr/>
          <p:nvPr>
            <p:custDataLst>
              <p:tags r:id="rId19"/>
            </p:custDataLst>
          </p:nvPr>
        </p:nvSpPr>
        <p:spPr>
          <a:xfrm>
            <a:off x="4251960" y="3827780"/>
            <a:ext cx="968375" cy="38163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系统调用</a:t>
            </a:r>
            <a:endParaRPr kumimoji="0" lang="zh-CN" altLang="en-US" sz="16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65" name="矩形 64"/>
          <p:cNvSpPr/>
          <p:nvPr>
            <p:custDataLst>
              <p:tags r:id="rId20"/>
            </p:custDataLst>
          </p:nvPr>
        </p:nvSpPr>
        <p:spPr>
          <a:xfrm>
            <a:off x="5438775" y="3820795"/>
            <a:ext cx="546735" cy="38163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中断</a:t>
            </a:r>
            <a:endParaRPr kumimoji="0" lang="zh-CN" altLang="en-US" sz="16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66" name="矩形 65"/>
          <p:cNvSpPr/>
          <p:nvPr>
            <p:custDataLst>
              <p:tags r:id="rId21"/>
            </p:custDataLst>
          </p:nvPr>
        </p:nvSpPr>
        <p:spPr>
          <a:xfrm>
            <a:off x="4654550" y="3225165"/>
            <a:ext cx="968375" cy="38163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内核线程</a:t>
            </a:r>
            <a:endParaRPr kumimoji="0" lang="zh-CN" altLang="en-US" sz="160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22"/>
            </p:custDataLst>
          </p:nvPr>
        </p:nvSpPr>
        <p:spPr>
          <a:xfrm>
            <a:off x="767715" y="4341178"/>
            <a:ext cx="102298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用户态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23"/>
            </p:custDataLst>
          </p:nvPr>
        </p:nvSpPr>
        <p:spPr>
          <a:xfrm>
            <a:off x="4151630" y="4341178"/>
            <a:ext cx="102298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系统态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69" name="图片 68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520825" y="2160270"/>
            <a:ext cx="1449070" cy="862965"/>
          </a:xfrm>
          <a:prstGeom prst="rect">
            <a:avLst/>
          </a:prstGeom>
          <a:ln w="28575" cmpd="sng">
            <a:solidFill>
              <a:srgbClr val="FFB35A"/>
            </a:solidFill>
            <a:prstDash val="solid"/>
          </a:ln>
        </p:spPr>
      </p:pic>
      <p:sp>
        <p:nvSpPr>
          <p:cNvPr id="70" name="文本框 69"/>
          <p:cNvSpPr txBox="1"/>
          <p:nvPr>
            <p:custDataLst>
              <p:tags r:id="rId26"/>
            </p:custDataLst>
          </p:nvPr>
        </p:nvSpPr>
        <p:spPr>
          <a:xfrm>
            <a:off x="1489710" y="2734628"/>
            <a:ext cx="1221740" cy="3473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1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调用栈</a:t>
            </a:r>
            <a:endParaRPr kumimoji="0" lang="zh-CN" sz="1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71" name="图片 70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3431540" y="2288540"/>
            <a:ext cx="2654300" cy="629285"/>
          </a:xfrm>
          <a:prstGeom prst="rect">
            <a:avLst/>
          </a:prstGeom>
          <a:ln w="22225">
            <a:solidFill>
              <a:srgbClr val="FFC000"/>
            </a:solidFill>
          </a:ln>
        </p:spPr>
      </p:pic>
      <p:sp>
        <p:nvSpPr>
          <p:cNvPr id="72" name="文本框 71"/>
          <p:cNvSpPr txBox="1"/>
          <p:nvPr>
            <p:custDataLst>
              <p:tags r:id="rId29"/>
            </p:custDataLst>
          </p:nvPr>
        </p:nvSpPr>
        <p:spPr>
          <a:xfrm>
            <a:off x="3359785" y="2735263"/>
            <a:ext cx="1221740" cy="3473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1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请求数据</a:t>
            </a:r>
            <a:endParaRPr kumimoji="0" lang="zh-CN" sz="1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cxnSp>
        <p:nvCxnSpPr>
          <p:cNvPr id="73" name="直接箭头连接符 72"/>
          <p:cNvCxnSpPr>
            <a:stCxn id="38" idx="0"/>
          </p:cNvCxnSpPr>
          <p:nvPr/>
        </p:nvCxnSpPr>
        <p:spPr>
          <a:xfrm flipH="1" flipV="1">
            <a:off x="2279650" y="2995295"/>
            <a:ext cx="584835" cy="4381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stCxn id="69" idx="3"/>
            <a:endCxn id="71" idx="1"/>
          </p:cNvCxnSpPr>
          <p:nvPr>
            <p:custDataLst>
              <p:tags r:id="rId30"/>
            </p:custDataLst>
          </p:nvPr>
        </p:nvCxnSpPr>
        <p:spPr>
          <a:xfrm>
            <a:off x="2969895" y="2592070"/>
            <a:ext cx="461645" cy="1143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>
            <p:custDataLst>
              <p:tags r:id="rId31"/>
            </p:custDataLst>
          </p:nvPr>
        </p:nvCxnSpPr>
        <p:spPr>
          <a:xfrm flipV="1">
            <a:off x="2711450" y="3787775"/>
            <a:ext cx="360045" cy="21590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stCxn id="45" idx="0"/>
            <a:endCxn id="62" idx="2"/>
          </p:cNvCxnSpPr>
          <p:nvPr>
            <p:custDataLst>
              <p:tags r:id="rId32"/>
            </p:custDataLst>
          </p:nvPr>
        </p:nvCxnSpPr>
        <p:spPr>
          <a:xfrm flipV="1">
            <a:off x="2211070" y="4725035"/>
            <a:ext cx="191135" cy="49466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>
            <p:custDataLst>
              <p:tags r:id="rId33"/>
            </p:custDataLst>
          </p:nvPr>
        </p:nvCxnSpPr>
        <p:spPr>
          <a:xfrm flipV="1">
            <a:off x="2567305" y="4257675"/>
            <a:ext cx="335280" cy="2501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>
            <p:custDataLst>
              <p:tags r:id="rId34"/>
            </p:custDataLst>
          </p:nvPr>
        </p:nvSpPr>
        <p:spPr>
          <a:xfrm>
            <a:off x="695325" y="1156970"/>
            <a:ext cx="9532620" cy="7137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资源占用高适合使用自底向上的资源视角</a:t>
            </a:r>
            <a:r>
              <a:rPr kumimoji="0" lang="zh-CN" altLang="en-US" sz="28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来分析。</a:t>
            </a:r>
            <a:endParaRPr kumimoji="0" lang="zh-CN" altLang="en-US" sz="28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227965"/>
            <a:ext cx="10640060" cy="10693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资源占用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</a:t>
            </a:r>
            <a:r>
              <a:rPr kumimoji="0" 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分析思路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8400415" y="2132965"/>
            <a:ext cx="3072765" cy="2838450"/>
            <a:chOff x="11074" y="2663"/>
            <a:chExt cx="4839" cy="4470"/>
          </a:xfrm>
        </p:grpSpPr>
        <p:sp>
          <p:nvSpPr>
            <p:cNvPr id="2" name="文本框 1"/>
            <p:cNvSpPr txBox="1"/>
            <p:nvPr>
              <p:custDataLst>
                <p:tags r:id="rId2"/>
              </p:custDataLst>
            </p:nvPr>
          </p:nvSpPr>
          <p:spPr>
            <a:xfrm>
              <a:off x="11074" y="3689"/>
              <a:ext cx="4791" cy="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71436" tIns="71436" rIns="71436" bIns="71436" numCol="1" spcCol="38100" rtlCol="0" anchor="ctr" forceAA="0">
              <a:noAutofit/>
            </a:bodyPr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用户态还是内核态高？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什么进程占用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CPU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多？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什么线程占用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CPU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多？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什么调用栈占用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CPU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多？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  <a:p>
              <a:pPr marL="342900" marR="0" indent="-342900" algn="l" defTabSz="821690" rtl="0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</a:pP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什么请求占用</a:t>
              </a:r>
              <a:r>
                <a:rPr kumimoji="0" lang="en-US" altLang="zh-CN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CPU</a:t>
              </a:r>
              <a:r>
                <a:rPr kumimoji="0" lang="zh-CN" altLang="en-US" b="1" i="0" u="none" strike="noStrike" cap="none" spc="0" normalizeH="0" baseline="0">
                  <a:ln w="31750">
                    <a:noFill/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多？</a:t>
              </a:r>
              <a:endPara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3"/>
              </p:custDataLst>
            </p:nvPr>
          </p:nvSpPr>
          <p:spPr>
            <a:xfrm>
              <a:off x="11074" y="2663"/>
              <a:ext cx="4839" cy="11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71436" tIns="71436" rIns="71436" bIns="71436" numCol="1" spcCol="38100" rtlCol="0" anchor="ctr" forceAA="0">
              <a:noAutofit/>
            </a:bodyPr>
            <a:p>
              <a:pPr marL="0" marR="0" indent="0" algn="l" defTabSz="82169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sz="3600" b="1" i="0" u="none" strike="noStrike" cap="none" spc="0" normalizeH="0" baseline="0">
                  <a:ln w="22225">
                    <a:solidFill>
                      <a:schemeClr val="tx1"/>
                    </a:solidFill>
                  </a:ln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Helvetica Neue Medium"/>
                </a:rPr>
                <a:t>资源分析视角</a:t>
              </a:r>
              <a:endParaRPr kumimoji="0" lang="zh-CN" sz="3600" b="1" i="0" u="none" strike="noStrike" cap="none" spc="0" normalizeH="0" baseline="0">
                <a:ln w="22225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endParaRPr>
            </a:p>
          </p:txBody>
        </p:sp>
      </p:grp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695325" y="1772920"/>
            <a:ext cx="6866890" cy="41300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457200" marR="0" indent="-4572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对于业务系统，一般找到了具体的</a:t>
            </a: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调用栈，问题就排查出来了</a:t>
            </a: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，但对于类似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mysql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、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nginx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这样的系统，由于各种请求的调用栈大致相同，因此还需要深入排查到是什么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请求数据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(SQL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、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URL)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占用资源多。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endParaRPr kumimoji="0" lang="en-US" altLang="zh-CN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也可以直接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一步细分到调用栈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，比如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perf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、</a:t>
            </a: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bcc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Helvetica Neue Medium"/>
              </a:rPr>
              <a:t>等内核级工具，它采集的调用栈，即包含用户进程的，也包含内核态的中断处理与内核线程的。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CPU</a:t>
            </a: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使用率解释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83615" y="1485265"/>
            <a:ext cx="9352915" cy="472757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22935" y="260985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使用率解释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063750" y="2708910"/>
            <a:ext cx="9652000" cy="3161030"/>
            <a:chOff x="3250" y="4266"/>
            <a:chExt cx="15200" cy="4978"/>
          </a:xfrm>
        </p:grpSpPr>
        <p:grpSp>
          <p:nvGrpSpPr>
            <p:cNvPr id="20" name="组合 19"/>
            <p:cNvGrpSpPr/>
            <p:nvPr/>
          </p:nvGrpSpPr>
          <p:grpSpPr>
            <a:xfrm>
              <a:off x="3250" y="4266"/>
              <a:ext cx="15201" cy="600"/>
              <a:chOff x="3250" y="4266"/>
              <a:chExt cx="15201" cy="600"/>
            </a:xfrm>
          </p:grpSpPr>
          <p:sp>
            <p:nvSpPr>
              <p:cNvPr id="17" name="矩形 16"/>
              <p:cNvSpPr/>
              <p:nvPr>
                <p:custDataLst>
                  <p:tags r:id="rId4"/>
                </p:custDataLst>
              </p:nvPr>
            </p:nvSpPr>
            <p:spPr>
              <a:xfrm>
                <a:off x="3250" y="4380"/>
                <a:ext cx="11489" cy="48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5383" y="4266"/>
                <a:ext cx="3068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各种</a:t>
                </a:r>
                <a:r>
                  <a:rPr kumimoji="0" lang="en-US" altLang="zh-CN" sz="1800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CPU</a:t>
                </a: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OPlusSans 3.0" panose="00000500000000000000" charset="-122"/>
                    <a:sym typeface="OPlusSans 3.0" panose="00000500000000000000" charset="-122"/>
                  </a:rPr>
                  <a:t>使用率</a:t>
                </a:r>
                <a:endPara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endParaRPr>
              </a:p>
            </p:txBody>
          </p:sp>
          <p:cxnSp>
            <p:nvCxnSpPr>
              <p:cNvPr id="19" name="直接箭头连接符 18"/>
              <p:cNvCxnSpPr>
                <a:stCxn id="18" idx="1"/>
                <a:endCxn id="17" idx="3"/>
              </p:cNvCxnSpPr>
              <p:nvPr>
                <p:custDataLst>
                  <p:tags r:id="rId6"/>
                </p:custDataLst>
              </p:nvPr>
            </p:nvCxnSpPr>
            <p:spPr>
              <a:xfrm flipH="1">
                <a:off x="14739" y="4564"/>
                <a:ext cx="644" cy="60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9" name="文本框 28"/>
            <p:cNvSpPr txBox="1"/>
            <p:nvPr/>
          </p:nvSpPr>
          <p:spPr>
            <a:xfrm>
              <a:off x="4384" y="5596"/>
              <a:ext cx="8906" cy="3649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prstClr val="black"/>
            </a:fillRef>
            <a:effectRef idx="1">
              <a:prstClr val="black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us：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非niced进程花费的cpu时间占比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sy：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内核进程花费的cpu时间占比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ni：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niced进程花费的cpu时间占比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id：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内核空闲进程花费的cpu时间占比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wa：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等待磁盘io完成花费的cpu时间占比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hi：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处理硬件中断花费的cpu时间占比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si：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处理软件中断花费的cpu时间占比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C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st：</a:t>
              </a: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被其它虚拟机偷取的cpu时间占比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使用率解释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用户态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47700" y="1913890"/>
            <a:ext cx="10615295" cy="18510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进程的优先级：</a:t>
            </a:r>
            <a:endParaRPr kumimoji="0" 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初始优先级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(NI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列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表示进程的初始优先级，值越小优先级越高，可通过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renice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调整。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当前优先级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(PR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列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表示进程的当前优先级，默认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PR=NI+20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，但如果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调度器觉得有必要，也可能会动态调整进程的当前优先级。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43248"/>
          <a:stretch>
            <a:fillRect/>
          </a:stretch>
        </p:blipFill>
        <p:spPr>
          <a:xfrm>
            <a:off x="479425" y="4113213"/>
            <a:ext cx="3816350" cy="19304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967980" y="4116388"/>
            <a:ext cx="3790950" cy="1924050"/>
          </a:xfrm>
          <a:prstGeom prst="rect">
            <a:avLst/>
          </a:prstGeom>
        </p:spPr>
      </p:pic>
      <p:pic>
        <p:nvPicPr>
          <p:cNvPr id="102" name="图片 101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832350" y="4545330"/>
            <a:ext cx="266954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右箭头 8"/>
          <p:cNvSpPr/>
          <p:nvPr/>
        </p:nvSpPr>
        <p:spPr>
          <a:xfrm>
            <a:off x="4411345" y="4939665"/>
            <a:ext cx="288290" cy="215900"/>
          </a:xfrm>
          <a:prstGeom prst="rightArrow">
            <a:avLst/>
          </a:prstGeom>
          <a:solidFill>
            <a:srgbClr val="838787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10" name="右箭头 9"/>
          <p:cNvSpPr/>
          <p:nvPr>
            <p:custDataLst>
              <p:tags r:id="rId9"/>
            </p:custDataLst>
          </p:nvPr>
        </p:nvSpPr>
        <p:spPr>
          <a:xfrm>
            <a:off x="7607935" y="4970780"/>
            <a:ext cx="288290" cy="215900"/>
          </a:xfrm>
          <a:prstGeom prst="rightArrow">
            <a:avLst/>
          </a:prstGeom>
          <a:solidFill>
            <a:srgbClr val="838787"/>
          </a:solidFill>
          <a:ln w="25400" cap="flat">
            <a:solidFill>
              <a:schemeClr val="accent1"/>
            </a:solidFill>
            <a:prstDash val="solid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695325" y="986155"/>
            <a:ext cx="5655310" cy="979805"/>
          </a:xfrm>
          <a:prstGeom prst="rect">
            <a:avLst/>
          </a:prstGeom>
        </p:spPr>
        <p:style>
          <a:lnRef idx="2">
            <a:schemeClr val="lt1"/>
          </a:lnRef>
          <a:fillRef idx="1">
            <a:prstClr val="black"/>
          </a:fillRef>
          <a:effectRef idx="1">
            <a:prstClr val="black"/>
          </a:effectRef>
          <a:fontRef idx="minor">
            <a:schemeClr val="lt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用户态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使用率解释：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C000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C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us：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非niced进程花费的cpu时间占比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C000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ni：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niced进程花费的cpu时间占比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使用率解释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内核态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95325" y="1125220"/>
            <a:ext cx="10615295" cy="54013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系统调用：</a:t>
            </a:r>
            <a:endParaRPr lang="zh-CN" sz="2400" b="1">
              <a:solidFill>
                <a:srgbClr val="FF9A2D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是操作系统提供给用户空间程序的一种接口，允许程序请求操作系统的服务，比如访问磁盘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(open/read/write)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、网络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(socket/recvfrom/sendto)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等，内核收到系统调用请求后，会先切换到内核态，然后执行相应处理逻辑。</a:t>
            </a:r>
            <a:endParaRPr lang="zh-CN" sz="2400" b="1">
              <a:solidFill>
                <a:srgbClr val="FFC000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4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中断：</a:t>
            </a:r>
            <a:endParaRPr kumimoji="0" lang="zh-CN" sz="24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是指计算机系统在执行程序的过程中，由于某些紧急事件或外部设备的请求，暂时中止当前程序的执行，转而去处理更为紧急的任务。处理完这个紧急任务后，计算机系统会返回到被中断的地方，继续执行原来的程序，比如磁盘中断、网络中断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4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在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中，中断分为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2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个部分处理，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硬中断与软中断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</a:t>
            </a:r>
            <a:endParaRPr lang="zh-CN" altLang="en-US" sz="20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0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 sz="2000" b="1">
                <a:solidFill>
                  <a:srgbClr val="FBDF43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硬中断：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由硬件直接触发，由于硬中断执行过程中一般需要</a:t>
            </a:r>
            <a:r>
              <a:rPr lang="zh-CN" altLang="en-US" sz="2000" b="1">
                <a:solidFill>
                  <a:srgbClr val="FBDF43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禁用中断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后再处理，因此硬中断需要</a:t>
            </a:r>
            <a:r>
              <a:rPr lang="zh-CN" altLang="en-US" sz="2000" b="1">
                <a:solidFill>
                  <a:srgbClr val="FBDF43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能快速执行完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以避免其它中断信号丢失。</a:t>
            </a:r>
            <a:endParaRPr lang="zh-CN" altLang="en-US" sz="20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lang="zh-CN" altLang="en-US" sz="20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 sz="2000" b="1">
                <a:solidFill>
                  <a:srgbClr val="FBDF43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软中断：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为了尽可能快执行完硬中断，减少禁用中断时间，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设计了出现了软中断，用于处理中断中</a:t>
            </a:r>
            <a:r>
              <a:rPr lang="zh-CN" altLang="en-US" sz="2000" b="1">
                <a:solidFill>
                  <a:srgbClr val="FBDF43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可以延迟处理的部分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lang="zh-CN" sz="20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使用率解释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内核态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95325" y="3429000"/>
            <a:ext cx="10615295" cy="9988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400" b="1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其实可以将</a:t>
            </a:r>
            <a:r>
              <a:rPr lang="en-US" altLang="zh-CN" sz="2400" b="1">
                <a:solidFill>
                  <a:srgbClr val="FF9A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Linux</a:t>
            </a:r>
            <a:r>
              <a:rPr lang="zh-CN" altLang="en-US" sz="2400" b="1">
                <a:solidFill>
                  <a:srgbClr val="FF9A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内核看成一个服务器</a:t>
            </a:r>
            <a:r>
              <a:rPr lang="zh-CN" altLang="en-US" sz="2400" b="1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OPlusSans 3.0" panose="00000500000000000000" charset="-122"/>
              </a:rPr>
              <a:t>，这个服务器主要接收两种类型的请求，一个是系统调用，一个是中断，然后运行着一些异步任务，即内核线程。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OPlusSans 3.0" panose="000005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95325" y="1483995"/>
            <a:ext cx="10615295" cy="12934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内核线程：</a:t>
            </a:r>
            <a:endParaRPr lang="zh-CN" sz="2400" b="1">
              <a:solidFill>
                <a:srgbClr val="FF9A2D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内核管理着一批内核线程，用来执行一些特定的任务，如kswapd处理内存回收、ksoftirqd处理软中断等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使用率解释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内核态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95325" y="3429000"/>
            <a:ext cx="10615295" cy="8521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注：实际上，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hi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si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也是内核态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占用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，只是由于这三个比较典型，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将它们单独列出来了。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"/>
            </p:custDataLst>
          </p:nvPr>
        </p:nvSpPr>
        <p:spPr>
          <a:xfrm>
            <a:off x="767715" y="1619885"/>
            <a:ext cx="8769985" cy="1486535"/>
          </a:xfrm>
          <a:prstGeom prst="rect">
            <a:avLst/>
          </a:prstGeom>
        </p:spPr>
        <p:style>
          <a:lnRef idx="2">
            <a:schemeClr val="lt1"/>
          </a:lnRef>
          <a:fillRef idx="1">
            <a:prstClr val="black"/>
          </a:fillRef>
          <a:effectRef idx="1">
            <a:prstClr val="black"/>
          </a:effectRef>
          <a:fontRef idx="minor">
            <a:schemeClr val="lt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内核态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使用率解释：</a:t>
            </a:r>
            <a:endParaRPr lang="zh-CN" altLang="en-US" b="1">
              <a:solidFill>
                <a:srgbClr val="FF9A2D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sy：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内核态花费的cpu时间占比，一般由系统调用、缺页异常、内核线程占用。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hi：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处理硬中断花费的cpu时间占比</a:t>
            </a:r>
            <a:endParaRPr lang="zh-CN" altLang="en-US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si：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处理软中断花费的cpu时间占比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被其它虚拟机偷取的cpu时间占比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使用率解释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空闲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95325" y="2322830"/>
            <a:ext cx="10615295" cy="1891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R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id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与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实际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都是空闲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，区别是当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空闲时，是否有正在等待磁盘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的线程存在，若存在，这部分时间单独记到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R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因此，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Linux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设计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指标，就是为了方便判断，当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空闲较多时，是否是磁盘阻塞导致的。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"/>
            </p:custDataLst>
          </p:nvPr>
        </p:nvSpPr>
        <p:spPr>
          <a:xfrm>
            <a:off x="767715" y="1268413"/>
            <a:ext cx="8769985" cy="932180"/>
          </a:xfrm>
          <a:prstGeom prst="rect">
            <a:avLst/>
          </a:prstGeom>
        </p:spPr>
        <p:style>
          <a:lnRef idx="2">
            <a:schemeClr val="lt1"/>
          </a:lnRef>
          <a:fillRef idx="1">
            <a:prstClr val="black"/>
          </a:fillRef>
          <a:effectRef idx="1">
            <a:prstClr val="black"/>
          </a:effectRef>
          <a:fontRef idx="minor">
            <a:schemeClr val="lt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空闲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使用率解释：</a:t>
            </a:r>
            <a:endParaRPr lang="zh-CN" altLang="en-US" b="1">
              <a:solidFill>
                <a:srgbClr val="FF9A2D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id：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空闲时花费的cpu时间占比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不包含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wa)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wa：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等待磁盘io完成花费的cpu时间占比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使用率解释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小结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7" name="C9F754DE-2CAD-44b6-B708-469DEB6407EB-1" descr="C:/Users/meng/AppData/Local/Temp/wpp.gQUuJZ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785" y="1830705"/>
            <a:ext cx="6238240" cy="45339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695325" y="1124585"/>
            <a:ext cx="10615295" cy="9188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通过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top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命令，就可以识别出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是进程占用高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用户态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，还是内核态占用高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！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进程</a:t>
            </a:r>
            <a:r>
              <a:rPr kumimoji="0" 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CPU</a:t>
            </a: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高分析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838835" y="1196975"/>
            <a:ext cx="10471785" cy="6343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以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为例，排查进程导致的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使用率高，如下：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983615" y="2108200"/>
            <a:ext cx="2456180" cy="3527425"/>
            <a:chOff x="1776" y="3897"/>
            <a:chExt cx="3868" cy="5555"/>
          </a:xfrm>
        </p:grpSpPr>
        <p:sp>
          <p:nvSpPr>
            <p:cNvPr id="5" name="圆角矩形 4"/>
            <p:cNvSpPr/>
            <p:nvPr>
              <p:custDataLst>
                <p:tags r:id="rId3"/>
              </p:custDataLst>
            </p:nvPr>
          </p:nvSpPr>
          <p:spPr>
            <a:xfrm>
              <a:off x="1776" y="4499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什么进程占用高？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" name="圆角矩形 6"/>
            <p:cNvSpPr/>
            <p:nvPr>
              <p:custDataLst>
                <p:tags r:id="rId4"/>
              </p:custDataLst>
            </p:nvPr>
          </p:nvSpPr>
          <p:spPr>
            <a:xfrm>
              <a:off x="1776" y="5880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什么线程占用高？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圆角矩形 8"/>
            <p:cNvSpPr/>
            <p:nvPr>
              <p:custDataLst>
                <p:tags r:id="rId5"/>
              </p:custDataLst>
            </p:nvPr>
          </p:nvSpPr>
          <p:spPr>
            <a:xfrm>
              <a:off x="1776" y="7261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哪个调用栈占用高？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圆角矩形 9"/>
            <p:cNvSpPr/>
            <p:nvPr>
              <p:custDataLst>
                <p:tags r:id="rId6"/>
              </p:custDataLst>
            </p:nvPr>
          </p:nvSpPr>
          <p:spPr>
            <a:xfrm>
              <a:off x="1776" y="8642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哪个请求数据占用高？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7" name="直接箭头连接符 16"/>
            <p:cNvCxnSpPr>
              <a:stCxn id="4" idx="2"/>
              <a:endCxn id="5" idx="0"/>
            </p:cNvCxnSpPr>
            <p:nvPr>
              <p:custDataLst>
                <p:tags r:id="rId7"/>
              </p:custDataLst>
            </p:nvPr>
          </p:nvCxnSpPr>
          <p:spPr>
            <a:xfrm>
              <a:off x="3710" y="3897"/>
              <a:ext cx="0" cy="60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5" idx="2"/>
              <a:endCxn id="7" idx="0"/>
            </p:cNvCxnSpPr>
            <p:nvPr>
              <p:custDataLst>
                <p:tags r:id="rId8"/>
              </p:custDataLst>
            </p:nvPr>
          </p:nvCxnSpPr>
          <p:spPr>
            <a:xfrm>
              <a:off x="3710" y="5309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7" idx="2"/>
              <a:endCxn id="9" idx="0"/>
            </p:cNvCxnSpPr>
            <p:nvPr>
              <p:custDataLst>
                <p:tags r:id="rId9"/>
              </p:custDataLst>
            </p:nvPr>
          </p:nvCxnSpPr>
          <p:spPr>
            <a:xfrm>
              <a:off x="3710" y="6690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9" idx="2"/>
              <a:endCxn id="10" idx="0"/>
            </p:cNvCxnSpPr>
            <p:nvPr>
              <p:custDataLst>
                <p:tags r:id="rId10"/>
              </p:custDataLst>
            </p:nvPr>
          </p:nvCxnSpPr>
          <p:spPr>
            <a:xfrm>
              <a:off x="3710" y="8071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3684905" y="2164715"/>
            <a:ext cx="8418195" cy="6343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top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即可发现什么进程占用高，如下：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3684905" y="5301615"/>
            <a:ext cx="8418195" cy="6343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发现是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189977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进程占用高！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791585" y="2924810"/>
            <a:ext cx="7821930" cy="213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51180" y="1701165"/>
            <a:ext cx="2456180" cy="3527425"/>
            <a:chOff x="1776" y="3897"/>
            <a:chExt cx="3868" cy="5555"/>
          </a:xfrm>
        </p:grpSpPr>
        <p:sp>
          <p:nvSpPr>
            <p:cNvPr id="5" name="圆角矩形 4"/>
            <p:cNvSpPr/>
            <p:nvPr>
              <p:custDataLst>
                <p:tags r:id="rId2"/>
              </p:custDataLst>
            </p:nvPr>
          </p:nvSpPr>
          <p:spPr>
            <a:xfrm>
              <a:off x="1776" y="4499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什么进程占用高？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" name="圆角矩形 6"/>
            <p:cNvSpPr/>
            <p:nvPr>
              <p:custDataLst>
                <p:tags r:id="rId3"/>
              </p:custDataLst>
            </p:nvPr>
          </p:nvSpPr>
          <p:spPr>
            <a:xfrm>
              <a:off x="1776" y="5880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什么线程占用高？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圆角矩形 8"/>
            <p:cNvSpPr/>
            <p:nvPr>
              <p:custDataLst>
                <p:tags r:id="rId4"/>
              </p:custDataLst>
            </p:nvPr>
          </p:nvSpPr>
          <p:spPr>
            <a:xfrm>
              <a:off x="1776" y="7261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哪个调用栈占用高？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圆角矩形 9"/>
            <p:cNvSpPr/>
            <p:nvPr>
              <p:custDataLst>
                <p:tags r:id="rId5"/>
              </p:custDataLst>
            </p:nvPr>
          </p:nvSpPr>
          <p:spPr>
            <a:xfrm>
              <a:off x="1776" y="8642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哪个请求数据占用高？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7" name="直接箭头连接符 16"/>
            <p:cNvCxnSpPr>
              <a:stCxn id="4" idx="2"/>
              <a:endCxn id="5" idx="0"/>
            </p:cNvCxnSpPr>
            <p:nvPr>
              <p:custDataLst>
                <p:tags r:id="rId6"/>
              </p:custDataLst>
            </p:nvPr>
          </p:nvCxnSpPr>
          <p:spPr>
            <a:xfrm>
              <a:off x="3710" y="3897"/>
              <a:ext cx="0" cy="60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5" idx="2"/>
              <a:endCxn id="7" idx="0"/>
            </p:cNvCxnSpPr>
            <p:nvPr>
              <p:custDataLst>
                <p:tags r:id="rId7"/>
              </p:custDataLst>
            </p:nvPr>
          </p:nvCxnSpPr>
          <p:spPr>
            <a:xfrm>
              <a:off x="3710" y="5309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7" idx="2"/>
              <a:endCxn id="9" idx="0"/>
            </p:cNvCxnSpPr>
            <p:nvPr>
              <p:custDataLst>
                <p:tags r:id="rId8"/>
              </p:custDataLst>
            </p:nvPr>
          </p:nvCxnSpPr>
          <p:spPr>
            <a:xfrm>
              <a:off x="3710" y="6690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9" idx="2"/>
              <a:endCxn id="10" idx="0"/>
            </p:cNvCxnSpPr>
            <p:nvPr>
              <p:custDataLst>
                <p:tags r:id="rId9"/>
              </p:custDataLst>
            </p:nvPr>
          </p:nvCxnSpPr>
          <p:spPr>
            <a:xfrm>
              <a:off x="3710" y="8071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3397885" y="1662430"/>
            <a:ext cx="8418195" cy="6343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top -H -p 189977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即可发现什么线程占用高，如下：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360420" y="2422525"/>
            <a:ext cx="8187690" cy="21463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3360420" y="4726940"/>
            <a:ext cx="8418195" cy="6343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发现是190992线程占用高！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767080" y="1593850"/>
            <a:ext cx="2456180" cy="3527425"/>
            <a:chOff x="1776" y="3897"/>
            <a:chExt cx="3868" cy="5555"/>
          </a:xfrm>
        </p:grpSpPr>
        <p:sp>
          <p:nvSpPr>
            <p:cNvPr id="5" name="圆角矩形 4"/>
            <p:cNvSpPr/>
            <p:nvPr>
              <p:custDataLst>
                <p:tags r:id="rId2"/>
              </p:custDataLst>
            </p:nvPr>
          </p:nvSpPr>
          <p:spPr>
            <a:xfrm>
              <a:off x="1776" y="4499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什么进程占用高？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" name="圆角矩形 6"/>
            <p:cNvSpPr/>
            <p:nvPr>
              <p:custDataLst>
                <p:tags r:id="rId3"/>
              </p:custDataLst>
            </p:nvPr>
          </p:nvSpPr>
          <p:spPr>
            <a:xfrm>
              <a:off x="1776" y="5880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什么线程占用高？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圆角矩形 8"/>
            <p:cNvSpPr/>
            <p:nvPr>
              <p:custDataLst>
                <p:tags r:id="rId4"/>
              </p:custDataLst>
            </p:nvPr>
          </p:nvSpPr>
          <p:spPr>
            <a:xfrm>
              <a:off x="1776" y="7261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哪个调用栈占用高？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圆角矩形 9"/>
            <p:cNvSpPr/>
            <p:nvPr>
              <p:custDataLst>
                <p:tags r:id="rId5"/>
              </p:custDataLst>
            </p:nvPr>
          </p:nvSpPr>
          <p:spPr>
            <a:xfrm>
              <a:off x="1776" y="8642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哪个请求数据占用高？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7" name="直接箭头连接符 16"/>
            <p:cNvCxnSpPr>
              <a:stCxn id="4" idx="2"/>
              <a:endCxn id="5" idx="0"/>
            </p:cNvCxnSpPr>
            <p:nvPr>
              <p:custDataLst>
                <p:tags r:id="rId6"/>
              </p:custDataLst>
            </p:nvPr>
          </p:nvCxnSpPr>
          <p:spPr>
            <a:xfrm>
              <a:off x="3710" y="3897"/>
              <a:ext cx="0" cy="60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5" idx="2"/>
              <a:endCxn id="7" idx="0"/>
            </p:cNvCxnSpPr>
            <p:nvPr>
              <p:custDataLst>
                <p:tags r:id="rId7"/>
              </p:custDataLst>
            </p:nvPr>
          </p:nvCxnSpPr>
          <p:spPr>
            <a:xfrm>
              <a:off x="3710" y="5309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7" idx="2"/>
              <a:endCxn id="9" idx="0"/>
            </p:cNvCxnSpPr>
            <p:nvPr>
              <p:custDataLst>
                <p:tags r:id="rId8"/>
              </p:custDataLst>
            </p:nvPr>
          </p:nvCxnSpPr>
          <p:spPr>
            <a:xfrm>
              <a:off x="3710" y="6690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9" idx="2"/>
              <a:endCxn id="10" idx="0"/>
            </p:cNvCxnSpPr>
            <p:nvPr>
              <p:custDataLst>
                <p:tags r:id="rId9"/>
              </p:custDataLst>
            </p:nvPr>
          </p:nvCxnSpPr>
          <p:spPr>
            <a:xfrm>
              <a:off x="3710" y="8071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03" name="图片 102"/>
          <p:cNvPicPr/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647440" y="1949133"/>
            <a:ext cx="6172200" cy="1666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431540" y="3714750"/>
            <a:ext cx="8634095" cy="28301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3397885" y="1375410"/>
            <a:ext cx="8418195" cy="6343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jstack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获取所有线程栈，用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awk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过滤出高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的线程栈，如下：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767080" y="1593850"/>
            <a:ext cx="2456180" cy="3527425"/>
            <a:chOff x="1776" y="3897"/>
            <a:chExt cx="3868" cy="5555"/>
          </a:xfrm>
        </p:grpSpPr>
        <p:sp>
          <p:nvSpPr>
            <p:cNvPr id="5" name="圆角矩形 4"/>
            <p:cNvSpPr/>
            <p:nvPr>
              <p:custDataLst>
                <p:tags r:id="rId2"/>
              </p:custDataLst>
            </p:nvPr>
          </p:nvSpPr>
          <p:spPr>
            <a:xfrm>
              <a:off x="1776" y="4499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什么进程占用高？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" name="圆角矩形 6"/>
            <p:cNvSpPr/>
            <p:nvPr>
              <p:custDataLst>
                <p:tags r:id="rId3"/>
              </p:custDataLst>
            </p:nvPr>
          </p:nvSpPr>
          <p:spPr>
            <a:xfrm>
              <a:off x="1776" y="5880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什么线程占用高？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圆角矩形 8"/>
            <p:cNvSpPr/>
            <p:nvPr>
              <p:custDataLst>
                <p:tags r:id="rId4"/>
              </p:custDataLst>
            </p:nvPr>
          </p:nvSpPr>
          <p:spPr>
            <a:xfrm>
              <a:off x="1776" y="7261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哪个调用栈占用高？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圆角矩形 9"/>
            <p:cNvSpPr/>
            <p:nvPr>
              <p:custDataLst>
                <p:tags r:id="rId5"/>
              </p:custDataLst>
            </p:nvPr>
          </p:nvSpPr>
          <p:spPr>
            <a:xfrm>
              <a:off x="1776" y="8642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哪个请求数据占用高？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7" name="直接箭头连接符 16"/>
            <p:cNvCxnSpPr>
              <a:stCxn id="4" idx="2"/>
              <a:endCxn id="5" idx="0"/>
            </p:cNvCxnSpPr>
            <p:nvPr>
              <p:custDataLst>
                <p:tags r:id="rId6"/>
              </p:custDataLst>
            </p:nvPr>
          </p:nvCxnSpPr>
          <p:spPr>
            <a:xfrm>
              <a:off x="3710" y="3897"/>
              <a:ext cx="0" cy="60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5" idx="2"/>
              <a:endCxn id="7" idx="0"/>
            </p:cNvCxnSpPr>
            <p:nvPr>
              <p:custDataLst>
                <p:tags r:id="rId7"/>
              </p:custDataLst>
            </p:nvPr>
          </p:nvCxnSpPr>
          <p:spPr>
            <a:xfrm>
              <a:off x="3710" y="5309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7" idx="2"/>
              <a:endCxn id="9" idx="0"/>
            </p:cNvCxnSpPr>
            <p:nvPr>
              <p:custDataLst>
                <p:tags r:id="rId8"/>
              </p:custDataLst>
            </p:nvPr>
          </p:nvCxnSpPr>
          <p:spPr>
            <a:xfrm>
              <a:off x="3710" y="6690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9" idx="2"/>
              <a:endCxn id="10" idx="0"/>
            </p:cNvCxnSpPr>
            <p:nvPr>
              <p:custDataLst>
                <p:tags r:id="rId9"/>
              </p:custDataLst>
            </p:nvPr>
          </p:nvCxnSpPr>
          <p:spPr>
            <a:xfrm>
              <a:off x="3710" y="8071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3397885" y="1593850"/>
            <a:ext cx="8418195" cy="38169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可用发现我们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找线程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与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找调用栈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是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分两步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进行的，这里场景是我故意构造了一个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100w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次的超大循环，请求需要执行好长时间，导致我们能找到问题代码。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但如果是那种有点慢，但又不是特别慢的代码，比如循环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2w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次只需要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280ms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这种，由于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手速来不及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，当我们做完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找线程后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，再做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找调用栈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时，会发现问题代码早已执行完了，这样会导致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获取的线程栈不准确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这种情况，可以使用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thread -n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命令，它将两步合并起来，使得线程栈尽量准确。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7715" y="1772920"/>
            <a:ext cx="10782300" cy="427355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767080" y="1052830"/>
            <a:ext cx="8418195" cy="6343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thread -n 4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，表示获取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占用前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4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个线程的调用栈。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java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67080" y="1196340"/>
            <a:ext cx="10031730" cy="6343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通过</a:t>
            </a:r>
            <a:r>
              <a:rPr 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profiler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火焰图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，也可以跳过找线程，一步到位到具体调用栈，它一般适合于做性能优化。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4" name="图片 103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03388" y="2276475"/>
            <a:ext cx="7267575" cy="1981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java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9770" y="981075"/>
            <a:ext cx="10792460" cy="5556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java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67080" y="1052830"/>
            <a:ext cx="10031730" cy="10915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profiler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命令，定时从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的栈寄存器出发，采集正在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上运行的线程栈，可以想像，越占用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的调用栈，一定被采集到的次数越多，如右图就是采集的线程栈统计数据。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57140" y="2132965"/>
            <a:ext cx="6877685" cy="426529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551180" y="2924810"/>
            <a:ext cx="4512945" cy="13303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可以发现，直接看</a:t>
            </a:r>
            <a:r>
              <a:rPr 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栈统计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，数据量大，且非常的</a:t>
            </a:r>
            <a:r>
              <a:rPr 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不直观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，因此就有了</a:t>
            </a:r>
            <a:r>
              <a:rPr 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火焰图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，在火焰图中表现得</a:t>
            </a:r>
            <a:r>
              <a:rPr 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越宽的栈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，它执行得越慢，需要</a:t>
            </a:r>
            <a:r>
              <a:rPr 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重点关注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非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67080" y="1052830"/>
            <a:ext cx="10031730" cy="10915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是用于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的，对于非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进程，可以使用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 record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或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中的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profile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命令，以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举例，如下：</a:t>
            </a:r>
            <a:endParaRPr kumimoji="0" lang="en-US" alt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5" name="图片 114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86853" y="4004945"/>
            <a:ext cx="6867525" cy="1924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691255" y="5949315"/>
            <a:ext cx="768159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forceAA="0" upright="0">
            <a:spAutoFit/>
          </a:bodyPr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FlameGraph</a:t>
            </a: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下载地址：https://github.com/brendangregg/FlameGraph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  <p:pic>
        <p:nvPicPr>
          <p:cNvPr id="114" name="图片 113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487170" y="2061210"/>
            <a:ext cx="8572500" cy="1924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非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7" name="图片 116"/>
          <p:cNvPicPr/>
          <p:nvPr/>
        </p:nvPicPr>
        <p:blipFill>
          <a:blip r:embed="rId2"/>
          <a:stretch>
            <a:fillRect/>
          </a:stretch>
        </p:blipFill>
        <p:spPr>
          <a:xfrm>
            <a:off x="751205" y="1196975"/>
            <a:ext cx="10516235" cy="54019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进程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767080" y="1593850"/>
            <a:ext cx="2456180" cy="3527425"/>
            <a:chOff x="1776" y="3897"/>
            <a:chExt cx="3868" cy="5555"/>
          </a:xfrm>
        </p:grpSpPr>
        <p:sp>
          <p:nvSpPr>
            <p:cNvPr id="5" name="圆角矩形 4"/>
            <p:cNvSpPr/>
            <p:nvPr>
              <p:custDataLst>
                <p:tags r:id="rId2"/>
              </p:custDataLst>
            </p:nvPr>
          </p:nvSpPr>
          <p:spPr>
            <a:xfrm>
              <a:off x="1776" y="4499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什么进程占用高？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7" name="圆角矩形 6"/>
            <p:cNvSpPr/>
            <p:nvPr>
              <p:custDataLst>
                <p:tags r:id="rId3"/>
              </p:custDataLst>
            </p:nvPr>
          </p:nvSpPr>
          <p:spPr>
            <a:xfrm>
              <a:off x="1776" y="5880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什么线程占用高？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圆角矩形 8"/>
            <p:cNvSpPr/>
            <p:nvPr>
              <p:custDataLst>
                <p:tags r:id="rId4"/>
              </p:custDataLst>
            </p:nvPr>
          </p:nvSpPr>
          <p:spPr>
            <a:xfrm>
              <a:off x="1776" y="7261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哪个调用栈占用高？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0" name="圆角矩形 9"/>
            <p:cNvSpPr/>
            <p:nvPr>
              <p:custDataLst>
                <p:tags r:id="rId5"/>
              </p:custDataLst>
            </p:nvPr>
          </p:nvSpPr>
          <p:spPr>
            <a:xfrm>
              <a:off x="1776" y="8642"/>
              <a:ext cx="3868" cy="810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哪个请求数据占用高？</a:t>
              </a:r>
              <a:endPara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7" name="直接箭头连接符 16"/>
            <p:cNvCxnSpPr>
              <a:stCxn id="4" idx="2"/>
              <a:endCxn id="5" idx="0"/>
            </p:cNvCxnSpPr>
            <p:nvPr>
              <p:custDataLst>
                <p:tags r:id="rId6"/>
              </p:custDataLst>
            </p:nvPr>
          </p:nvCxnSpPr>
          <p:spPr>
            <a:xfrm>
              <a:off x="3710" y="3897"/>
              <a:ext cx="0" cy="60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5" idx="2"/>
              <a:endCxn id="7" idx="0"/>
            </p:cNvCxnSpPr>
            <p:nvPr>
              <p:custDataLst>
                <p:tags r:id="rId7"/>
              </p:custDataLst>
            </p:nvPr>
          </p:nvCxnSpPr>
          <p:spPr>
            <a:xfrm>
              <a:off x="3710" y="5309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7" idx="2"/>
              <a:endCxn id="9" idx="0"/>
            </p:cNvCxnSpPr>
            <p:nvPr>
              <p:custDataLst>
                <p:tags r:id="rId8"/>
              </p:custDataLst>
            </p:nvPr>
          </p:nvCxnSpPr>
          <p:spPr>
            <a:xfrm>
              <a:off x="3710" y="6690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9" idx="2"/>
              <a:endCxn id="10" idx="0"/>
            </p:cNvCxnSpPr>
            <p:nvPr>
              <p:custDataLst>
                <p:tags r:id="rId9"/>
              </p:custDataLst>
            </p:nvPr>
          </p:nvCxnSpPr>
          <p:spPr>
            <a:xfrm>
              <a:off x="3710" y="8071"/>
              <a:ext cx="0" cy="57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3">
              <a:schemeClr val="accent4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3780155" y="1772920"/>
            <a:ext cx="7530465" cy="34461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可以从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mysql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火焰图看到，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row_search_mvcc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函数栈挺宽的，从网上搜索得知，此函数用于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扫描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SQL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的行数据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，因此从调用栈上看不出具体问题，还要将函数调用再一次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细分到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SQL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上。</a:t>
            </a:r>
            <a:endParaRPr lang="zh-CN" altLang="en-US" sz="20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当然，对于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MySQL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，我们可以去查看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慢查询日志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，大概率可以找到问题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SQL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，但对于一些扫描了几万数据但单个执行起来不慢的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SQL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慢查询日志可能会漏记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，但这种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SQL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量大时，也会导致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高。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因此，我们有时要做最后一步，找出哪个请求数据占用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高，这一般需要用到函数追踪工具，如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bpftrace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85725"/>
            <a:ext cx="11100435" cy="11398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实例：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找出扫描大量行的SQL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4" name="图片 123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7715" y="932180"/>
            <a:ext cx="10772775" cy="5483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85725"/>
            <a:ext cx="10640060" cy="11398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bpftrace</a:t>
            </a: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实例：找出扫描大量行的SQL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5" name="图片 124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2000" y="1628458"/>
            <a:ext cx="10668000" cy="4410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839470" y="981075"/>
            <a:ext cx="8903970" cy="5842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脚本执行效果，如下，可以发现，只要扫描行数变大，耗时就会变长。</a:t>
            </a:r>
            <a:endParaRPr kumimoji="0" lang="zh-CN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2526030" y="5949315"/>
            <a:ext cx="8903970" cy="5842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r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注：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id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列是主键，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seq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列没有索引。</a:t>
            </a:r>
            <a:endParaRPr kumimoji="0" lang="zh-CN" altLang="en-US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系统态</a:t>
            </a:r>
            <a:r>
              <a:rPr kumimoji="0" 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CPU</a:t>
            </a: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高分析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系统态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系统调用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809625" y="1052830"/>
            <a:ext cx="841819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系统态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占用，大致由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系统调用、中断、内核线程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这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3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个部分组成。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09625" y="2061210"/>
            <a:ext cx="1987550" cy="1634490"/>
            <a:chOff x="2683" y="7895"/>
            <a:chExt cx="3130" cy="2574"/>
          </a:xfrm>
        </p:grpSpPr>
        <p:sp>
          <p:nvSpPr>
            <p:cNvPr id="63" name="矩形 62"/>
            <p:cNvSpPr/>
            <p:nvPr>
              <p:custDataLst>
                <p:tags r:id="rId3"/>
              </p:custDataLst>
            </p:nvPr>
          </p:nvSpPr>
          <p:spPr>
            <a:xfrm>
              <a:off x="2683" y="7895"/>
              <a:ext cx="3130" cy="257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4" name="矩形 63"/>
            <p:cNvSpPr/>
            <p:nvPr>
              <p:custDataLst>
                <p:tags r:id="rId4"/>
              </p:custDataLst>
            </p:nvPr>
          </p:nvSpPr>
          <p:spPr>
            <a:xfrm>
              <a:off x="2880" y="9060"/>
              <a:ext cx="1525" cy="60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系统调用</a:t>
              </a:r>
              <a:endParaRPr kumimoji="0" lang="zh-CN" altLang="en-US" sz="16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5" name="矩形 64"/>
            <p:cNvSpPr/>
            <p:nvPr>
              <p:custDataLst>
                <p:tags r:id="rId5"/>
              </p:custDataLst>
            </p:nvPr>
          </p:nvSpPr>
          <p:spPr>
            <a:xfrm>
              <a:off x="4749" y="9049"/>
              <a:ext cx="861" cy="60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中断</a:t>
              </a:r>
              <a:endParaRPr kumimoji="0" lang="zh-CN" altLang="en-US" sz="16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6" name="矩形 65"/>
            <p:cNvSpPr/>
            <p:nvPr>
              <p:custDataLst>
                <p:tags r:id="rId6"/>
              </p:custDataLst>
            </p:nvPr>
          </p:nvSpPr>
          <p:spPr>
            <a:xfrm>
              <a:off x="3514" y="8111"/>
              <a:ext cx="1525" cy="601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60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内核线程</a:t>
              </a:r>
              <a:endParaRPr kumimoji="0" lang="zh-CN" altLang="en-US" sz="16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68" name="文本框 67"/>
            <p:cNvSpPr txBox="1"/>
            <p:nvPr>
              <p:custDataLst>
                <p:tags r:id="rId7"/>
              </p:custDataLst>
            </p:nvPr>
          </p:nvSpPr>
          <p:spPr>
            <a:xfrm>
              <a:off x="2722" y="9869"/>
              <a:ext cx="1611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系统态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3143885" y="2077720"/>
            <a:ext cx="8418195" cy="12395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系统调用：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由于系统调用由用户进程触发，可通过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syscount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命令检查系统调用情况，以及哪些进程系统调用较多。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5" name="图片 104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601585" y="3481070"/>
            <a:ext cx="4422775" cy="1905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>
            <p:custDataLst>
              <p:tags r:id="rId11"/>
            </p:custDataLst>
          </p:nvPr>
        </p:nvSpPr>
        <p:spPr>
          <a:xfrm>
            <a:off x="3144520" y="5467350"/>
            <a:ext cx="8418195" cy="5988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可以看到，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mysqld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的系统调用最多。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6" name="图片 105"/>
          <p:cNvPicPr/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847340" y="3481070"/>
            <a:ext cx="4664710" cy="18910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系统态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中断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196975"/>
            <a:ext cx="841819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09625" y="1052830"/>
            <a:ext cx="841819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中断占用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情况，可以通过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top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hi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与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si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确认。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11860" y="1844675"/>
            <a:ext cx="6070600" cy="9906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809625" y="3717290"/>
            <a:ext cx="6240145" cy="19545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具体是什么中断占用高，可以查看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/proc/interrupts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硬中断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或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/proc/softirqs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软中断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文件，用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watch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找出哪些中断次数增长最快。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或使用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irqtop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命令，它解析了上面两个文件数据，可看出，软中断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占用主要由磁盘与网络引起</a:t>
            </a: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176135" y="3357245"/>
            <a:ext cx="4537710" cy="2932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系统态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中断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196975"/>
            <a:ext cx="841819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09625" y="1052830"/>
            <a:ext cx="841819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中断也可以使用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工具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hardirqs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硬中断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和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softirqs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软中断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)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来诊断。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9425" y="2348865"/>
            <a:ext cx="5289550" cy="2000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96000" y="2139315"/>
            <a:ext cx="5276850" cy="2419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系统态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内核线程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196975"/>
            <a:ext cx="841819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09625" y="1052830"/>
            <a:ext cx="841819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内核线程的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使用率，可以通过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pidstat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%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system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来确认，内核线程一般以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开头。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09625" y="3715385"/>
            <a:ext cx="1017460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其中，</a:t>
            </a:r>
            <a:r>
              <a:rPr kumimoji="0" lang="en-US" altLang="zh-CN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kworker/u257:0+flush-8:0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就是一个内核线程，用于将文件系统脏页保存到磁盘。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08" name="图片 107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25818" y="1916113"/>
            <a:ext cx="10467975" cy="1666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系统态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196975"/>
            <a:ext cx="841819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09625" y="1268095"/>
            <a:ext cx="841819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其实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pidstat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%system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，大多来自系统调用、缺页异常、内核线程这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3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个方面，而缺页中断通过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-r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选项可以看到。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767715" y="2374900"/>
            <a:ext cx="10771505" cy="2513965"/>
            <a:chOff x="1209" y="3132"/>
            <a:chExt cx="16963" cy="3959"/>
          </a:xfrm>
        </p:grpSpPr>
        <p:pic>
          <p:nvPicPr>
            <p:cNvPr id="109" name="图片 108"/>
            <p:cNvPicPr/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209" y="3246"/>
              <a:ext cx="16963" cy="290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" name="矩形 1"/>
            <p:cNvSpPr/>
            <p:nvPr/>
          </p:nvSpPr>
          <p:spPr>
            <a:xfrm>
              <a:off x="11415" y="5400"/>
              <a:ext cx="2381" cy="567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1301" y="6421"/>
              <a:ext cx="4178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缺页异常占用</a:t>
              </a: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%system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0" name="直接箭头连接符 9"/>
            <p:cNvCxnSpPr>
              <a:stCxn id="9" idx="0"/>
              <a:endCxn id="2" idx="2"/>
            </p:cNvCxnSpPr>
            <p:nvPr/>
          </p:nvCxnSpPr>
          <p:spPr>
            <a:xfrm flipH="1" flipV="1">
              <a:off x="12606" y="5967"/>
              <a:ext cx="784" cy="45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>
              <p:custDataLst>
                <p:tags r:id="rId6"/>
              </p:custDataLst>
            </p:nvPr>
          </p:nvSpPr>
          <p:spPr>
            <a:xfrm>
              <a:off x="6198" y="4889"/>
              <a:ext cx="1151" cy="540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5405" y="6495"/>
              <a:ext cx="4178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系统调用占用</a:t>
              </a: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%system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3" name="直接箭头连接符 12"/>
            <p:cNvCxnSpPr>
              <a:stCxn id="12" idx="0"/>
              <a:endCxn id="11" idx="2"/>
            </p:cNvCxnSpPr>
            <p:nvPr>
              <p:custDataLst>
                <p:tags r:id="rId8"/>
              </p:custDataLst>
            </p:nvPr>
          </p:nvCxnSpPr>
          <p:spPr>
            <a:xfrm flipH="1" flipV="1">
              <a:off x="6774" y="5429"/>
              <a:ext cx="720" cy="1066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>
              <p:custDataLst>
                <p:tags r:id="rId9"/>
              </p:custDataLst>
            </p:nvPr>
          </p:nvSpPr>
          <p:spPr>
            <a:xfrm>
              <a:off x="16858" y="4430"/>
              <a:ext cx="1151" cy="540"/>
            </a:xfrm>
            <a:prstGeom prst="rect">
              <a:avLst/>
            </a:prstGeom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0"/>
              </p:custDataLst>
            </p:nvPr>
          </p:nvSpPr>
          <p:spPr>
            <a:xfrm>
              <a:off x="13229" y="3132"/>
              <a:ext cx="4178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内核线程占用</a:t>
              </a:r>
              <a:r>
                <a:rPr kumimoji="0" lang="en-US" altLang="zh-CN" sz="1800" b="1" i="0" u="none" strike="noStrike" cap="none" spc="0" normalizeH="0" baseline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OPlusSans 3.0" panose="00000500000000000000" charset="-122"/>
                  <a:sym typeface="OPlusSans 3.0" panose="00000500000000000000" charset="-122"/>
                </a:rPr>
                <a:t>%system</a:t>
              </a:r>
              <a:endPara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endParaRPr>
            </a:p>
          </p:txBody>
        </p:sp>
        <p:cxnSp>
          <p:nvCxnSpPr>
            <p:cNvPr id="16" name="直接箭头连接符 15"/>
            <p:cNvCxnSpPr>
              <a:stCxn id="15" idx="2"/>
              <a:endCxn id="14" idx="0"/>
            </p:cNvCxnSpPr>
            <p:nvPr>
              <p:custDataLst>
                <p:tags r:id="rId11"/>
              </p:custDataLst>
            </p:nvPr>
          </p:nvCxnSpPr>
          <p:spPr>
            <a:xfrm>
              <a:off x="15318" y="3728"/>
              <a:ext cx="2116" cy="70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5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系统态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196975"/>
            <a:ext cx="841819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09625" y="1124585"/>
            <a:ext cx="9100185" cy="11461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也可以用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perf record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或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lang="en-US" alt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profile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直接采集整个系统的调用栈，绘制一张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oncpu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火焰图，以查看系统态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占用在哪。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10" name="图片 109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5053" y="2438400"/>
            <a:ext cx="9172575" cy="1981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9880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系统态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火焰图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196975"/>
            <a:ext cx="841819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2935" y="836930"/>
            <a:ext cx="10825480" cy="554482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6744335" y="4364990"/>
            <a:ext cx="1511935" cy="360045"/>
          </a:xfrm>
          <a:prstGeom prst="rect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86470" y="4192905"/>
            <a:ext cx="139636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缺页中断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cxnSp>
        <p:nvCxnSpPr>
          <p:cNvPr id="7" name="直接箭头连接符 6"/>
          <p:cNvCxnSpPr>
            <a:stCxn id="6" idx="1"/>
            <a:endCxn id="2" idx="3"/>
          </p:cNvCxnSpPr>
          <p:nvPr/>
        </p:nvCxnSpPr>
        <p:spPr>
          <a:xfrm flipH="1">
            <a:off x="8256270" y="4382135"/>
            <a:ext cx="330200" cy="16319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5462270" y="5955665"/>
            <a:ext cx="1102360" cy="281940"/>
          </a:xfrm>
          <a:prstGeom prst="rect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3792220" y="5877560"/>
            <a:ext cx="139636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内核线程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cxnSp>
        <p:nvCxnSpPr>
          <p:cNvPr id="11" name="直接箭头连接符 10"/>
          <p:cNvCxnSpPr/>
          <p:nvPr>
            <p:custDataLst>
              <p:tags r:id="rId8"/>
            </p:custDataLst>
          </p:nvPr>
        </p:nvCxnSpPr>
        <p:spPr>
          <a:xfrm>
            <a:off x="4728210" y="6093460"/>
            <a:ext cx="720090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839470" y="3789045"/>
            <a:ext cx="1511935" cy="360045"/>
          </a:xfrm>
          <a:prstGeom prst="rect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2681605" y="3616960"/>
            <a:ext cx="139636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系统调用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cxnSp>
        <p:nvCxnSpPr>
          <p:cNvPr id="14" name="直接箭头连接符 13"/>
          <p:cNvCxnSpPr>
            <a:stCxn id="13" idx="1"/>
            <a:endCxn id="12" idx="3"/>
          </p:cNvCxnSpPr>
          <p:nvPr>
            <p:custDataLst>
              <p:tags r:id="rId11"/>
            </p:custDataLst>
          </p:nvPr>
        </p:nvCxnSpPr>
        <p:spPr>
          <a:xfrm flipH="1">
            <a:off x="2351405" y="3806190"/>
            <a:ext cx="330200" cy="16319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空闲</a:t>
            </a:r>
            <a:r>
              <a:rPr kumimoji="0" 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CPU</a:t>
            </a: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高分析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空闲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使用率高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196975"/>
            <a:ext cx="841819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09625" y="1124585"/>
            <a:ext cx="9741535" cy="47180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情况</a:t>
            </a:r>
            <a:r>
              <a:rPr lang="en-US" altLang="zh-CN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1</a:t>
            </a:r>
            <a:r>
              <a:rPr lang="zh-CN" alt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lang="en-US" altLang="zh-CN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id%</a:t>
            </a:r>
            <a:r>
              <a:rPr lang="zh-CN" alt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使用率高</a:t>
            </a:r>
            <a:b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b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这种是空闲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使用率，有两种可能：</a:t>
            </a:r>
            <a:endParaRPr lang="zh-CN" altLang="en-US" sz="20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系统负载不大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，可能是没有业务流量，或由于网络丢包导致流量未进系统，如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tcp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连接队列或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socket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接收缓存配置过小，导致丢包。</a:t>
            </a:r>
            <a:endParaRPr lang="zh-CN" altLang="en-US" sz="20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线程都被阻塞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住了，无线程占用</a:t>
            </a:r>
            <a:r>
              <a:rPr lang="en-US" alt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资源，这时请求的</a:t>
            </a:r>
            <a:r>
              <a:rPr lang="zh-CN" altLang="en-US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耗时会明显增大</a:t>
            </a:r>
            <a:r>
              <a:rPr lang="zh-CN" altLang="en-US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，这种问题的诊断会在《耗时高分析》那一篇再讲。</a:t>
            </a:r>
            <a:endParaRPr lang="zh-CN" altLang="en-US" sz="20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情况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2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：</a:t>
            </a:r>
            <a:r>
              <a:rPr lang="en-US" altLang="zh-CN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wa%</a:t>
            </a:r>
            <a:r>
              <a:rPr lang="zh-CN" altLang="en-US" sz="24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使用率高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这种也是空闲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使用率，有两种可能：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线程阻塞在磁盘访问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上，一般需要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检查磁盘性能指标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，可以用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iostat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或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ioping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命令，检查磁盘是否有明显的性能退化。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使用了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NFS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之类的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网络存储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，由于网络较慢，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wa%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高可能也是正常的。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CPU</a:t>
            </a: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调优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CPU调优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调优工具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988060" y="2025650"/>
          <a:ext cx="9862185" cy="407606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532755"/>
                <a:gridCol w="4329430"/>
              </a:tblGrid>
              <a:tr h="53467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调优参数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13004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echo off &gt; /sys/devices/system/cpu/smt/control</a:t>
                      </a: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echo on &gt; /sys/devices/system/cpu/smt/control</a:t>
                      </a: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关闭或开启超线程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查看超线程状态，</a:t>
                      </a:r>
                      <a:endParaRPr 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cat /sys/devices/system/cpu/smt/active，</a:t>
                      </a:r>
                      <a:r>
                        <a:rPr lang="en-US" altLang="zh-CN" sz="16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1</a:t>
                      </a:r>
                      <a:r>
                        <a:rPr lang="zh-CN" altLang="en-US" sz="1600" b="0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表示已开启</a:t>
                      </a:r>
                      <a:endParaRPr lang="zh-CN" altLang="en-US" sz="1600" b="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0355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cpupower</a:t>
                      </a: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调整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CPU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能耗状态</a:t>
                      </a:r>
                      <a:endParaRPr lang="zh-CN" altLang="en-US" sz="1600" b="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791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taskset -pc 1-2 13333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进程绑核，这样可以提升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CPU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缓存的命中率，进而提升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IPC(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每周期指令数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)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，进而提升性能。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791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renice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调整进程的优先级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791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irqbalance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将中断均衡到各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CPU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上。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911225" y="1075055"/>
            <a:ext cx="8368030" cy="8458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相关的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调优项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CPU调优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JVM JIT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988060" y="2025650"/>
          <a:ext cx="9862185" cy="341439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532755"/>
                <a:gridCol w="4329430"/>
              </a:tblGrid>
              <a:tr h="53467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调优参数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-XX:+TieredCompilation</a:t>
                      </a: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启用分层编译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(JDK8+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默认开启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)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，启动时用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C1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编译器，热点代码用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C2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编译器。</a:t>
                      </a:r>
                      <a:endParaRPr lang="zh-CN" altLang="en-US" sz="1600" b="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-XX:InitialCodeCacheSize</a:t>
                      </a: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-XX:ReservedCodeCacheSize</a:t>
                      </a: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JIT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编译的代码放在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code cache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中，满时会关闭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JIT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编译，故可视情况调整大小。</a:t>
                      </a:r>
                      <a:endParaRPr lang="zh-CN" altLang="en-US" sz="1600" b="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-XX:+UseCodeCacheFlushing</a:t>
                      </a: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code cache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满关闭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JIT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编译前，是否回收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code cache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-XX:CICompilerCount</a:t>
                      </a: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编译线程数，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CPU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核充足时，可考虑增大</a:t>
                      </a:r>
                      <a:endParaRPr lang="zh-CN" altLang="en-US" sz="1600" b="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791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-XX:+PreserveFramePointer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保留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帧指针（frame pointer）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，</a:t>
                      </a:r>
                      <a:r>
                        <a:rPr 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以便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perf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、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bcc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可遍历调用栈。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911225" y="1075055"/>
            <a:ext cx="8368030" cy="8458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JVM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JIT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将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Java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字节码即时编译成可直接执行的二进制指令，以加快代码执行，因此可通过调优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JIT JVM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参数，实现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优化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CPU调优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代码优化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11225" y="1075055"/>
            <a:ext cx="10198735" cy="47764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优化进程的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占用，本质上还是需要调整代码，使用更低时间复杂度的算法。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算法优化，不一定非要手动创建新算法，比如：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合适数据结构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，将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List.contains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优化为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HashMap.containsKey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，实际就从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O(n)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优化到了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O(1)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，指定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List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初始大小等。</a:t>
            </a:r>
            <a:endParaRPr kumimoji="0" lang="en-US" alt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使用缓存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，缓存计算结果，避免重复计算。</a:t>
            </a:r>
            <a:endParaRPr kumimoji="0" lang="en-US" alt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正则优化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id:.*,name:.*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优化为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id:[^,]*,name:</a:t>
            </a:r>
            <a:r>
              <a:rPr lang="en-US" alt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[^,]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*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就可以减少正则的回溯次数。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计算优化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long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替代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BigDecimal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，使用高性能序列化库，使用零拷贝，使用SIMD指令等。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en-US" alt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优化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，将全表扫描优化为索引扫描，本质上就是从穷举算法优化成了树搜索算法。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提升</a:t>
            </a:r>
            <a:r>
              <a:rPr lang="en-US" alt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缓存命中率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，使用数组或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ArrayList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，相比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LinkedList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，对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缓存更友好。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总结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45720"/>
            <a:ext cx="10640060" cy="1251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196975"/>
            <a:ext cx="8418195" cy="8559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11860" y="1341120"/>
            <a:ext cx="9100185" cy="39401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457200" marR="0" indent="-45720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资源占用高问题，适合使用自下而上的资源分析视角，</a:t>
            </a:r>
            <a:r>
              <a:rPr lang="zh-CN" sz="2000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逐步细化资源使用</a:t>
            </a:r>
            <a:r>
              <a:rPr lang="zh-CN" sz="2000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。</a:t>
            </a:r>
            <a:endParaRPr lang="zh-CN" sz="20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lang="zh-CN" sz="2000" b="1">
              <a:solidFill>
                <a:schemeClr val="bg1"/>
              </a:solidFill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高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占用分析，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用户态还是内核态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？可通过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top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命令确认。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若是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用户态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，可进一步通过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top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查看进程及线程的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CPU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占用，通过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thread -n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或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profiler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可细化到调用栈，若有需要，可通过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bpftrace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进一步细化到请求数据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(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如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SQL)</a:t>
            </a:r>
            <a:endParaRPr kumimoji="0" lang="en-US" alt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en-US" altLang="zh-CN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若是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内核态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，可进一步细化为是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系统调用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、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中断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还是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内核线程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占用导致，可通过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或</a:t>
            </a:r>
            <a:r>
              <a:rPr kumimoji="0" lang="en-US" altLang="zh-CN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pidstat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做判断，也可直接绘制一张整体系统的火焰图。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457200" marR="0" indent="-45720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若是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空闲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，则一般是系统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流量过小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，或线程被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长时间阻塞</a:t>
            </a: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了导致的。</a:t>
            </a:r>
            <a:endParaRPr kumimoji="0" lang="zh-CN" altLang="en-US" sz="20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TABLE_ENDDRAG_ORIGIN_RECT" val="776*189"/>
  <p:tag name="TABLE_ENDDRAG_RECT" val="77*159*776*189"/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TABLE_ENDDRAG_ORIGIN_RECT" val="776*189"/>
  <p:tag name="TABLE_ENDDRAG_RECT" val="77*159*776*189"/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1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2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3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4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5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6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7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8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9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0.xml"/></Relationships>
</file>

<file path=customXml/item1.xml><?xml version="1.0" encoding="utf-8"?>
<s:customData xmlns="http://www.wps.cn/officeDocument/2013/wpsCustomData" xmlns:s="http://www.wps.cn/officeDocument/2013/wpsCustomData">
  <extobjs>
    <extobj name="C9F754DE-2CAD-44b6-B708-469DEB6407EB-1">
      <extobjdata type="C9F754DE-2CAD-44b6-B708-469DEB6407EB" data="ewoJIkZpbGVJZCIgOiAiMzI5MjY4NzU3OTM0IiwKCSJHcm91cElkIiA6ICI0Mzg4NTUzOTgiLAoJIkltYWdlIiA6ICJpVkJPUncwS0dnb0FBQUFOU1VoRVVnQUFBdUFBQUFJVUNBWUFBQUJiM1prR0FBQUFBWE5TUjBJQXJzNGM2UUFBSUFCSlJFRlVlSnpzM1hsNFUxWDZCL0R2ZTVPdWRHR1RmUlZCb0VDaENTNG9Lb3FnSW9nYjR6anF1Ty83TmpxT3k0emppTXM0NHpLTyt5aU82empPVDhWOVJSRlpra0NwRldSZkJTeFFLVjNUSk8vdmo5eVV0RTFYa3Q0MC9YNmVwMDl5enozMzVrMG84TzNwdWVjQ1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pDbFZQVlJWNTZscWhhcHVVZFZuVkRVN1FyOXJOV2k3cW5heG9sWWlJaUlpb25aTlZmdXJhcWtackZlbzZrN3orZHdJL2ZhYSsyWlpWUzhSRVJIVkp2emlWd3kvS0FaVTlRa3pWRDl0Ym5kWDFSS3o3Y0N3Zm5QTnRuZXRxOVphZHFzTElDSWlRdTFRSkJIYWlLSkZFZnplMGpwdHRQOXl6Y2QzQVVCRWRxcnFNZ0FUQVF3RHNFNVZ6d0l3RGNCZUFGZGFVbVVjWUFBbklpSXJoWWZ0aGtZcEdjUXBHdW9HN3ZDdlNIMFNscXJPQjNDRXVYbXFpUHhmMkw1bDJCZWtKNG5JVjJIN1RnUndEWURSQUhvQTJBTWdIOEFsSXJJQmdNM3NHcDR2VTgxSHI2cDJCZkNvdVgyN2lHeUozcnRxWHhqQWlZaklLdUZoMjlpd1ljUG9uajE3VHJYYjdZZlliTFpEUktTUHhmVlJBbExWbi94Ky8yS2Z6N2RveDQ0ZG53d2FOS2dBd2VBZENIV3hzTHk0cGFwM0FmaGpuZVlEQUV3RzBBdkFCZ0FlQUljRHVGUlY1d0Z3bUY5bEFGd0lodThlQUJZQWVMSnRLaWNpSXFJUVFYQzBMR24yN05uWmxaV1ZENnVxVDRuYWxxK3lzdkxCSzYrOE1nTkFrdms5bWZDL2NWSFYrV0dmd2N3Nis1YUY3VHZHYkV2VjRLb21xcXJWcW5xaHF1YXE2bFJWZlZSVlI1djkrcWpxN2dpZjg3V3FlcHo1dkVwVlIxcnh2b21JaURxeW12QzlidDI2US94Ky82cG9wU21pMXZENy9jczJiOTU4S0RwSUNOZVdCL0R1WVcxbHFqcXdrWE1QVWRWL3F1b1hxdnFHcWs1VDFUUlZYV01lZjdlNWZZdXFmcUNxLzFQVm0xUTFLZGJ2bTRpSXFLTVNBQWFBcENlZWVLSmJJQkJZRy9VMFJkUUtnVUJnN1RYWFhKT0ZZQWcza01BaFhGc1l3TTMybFdIdFphcjZrcXBPYXViclBXZ2VWNmlxR2FyNmJZUS9nZytqL1Q2SmlJaG9YL2kyQTBndEx5Ly9SOVRTRTFFVWxKZVgveFhCaXdidFNPQVFycTBMNEhtcXVpN0N4elpQRzdtUmpxcU8wK0MwbFlDcVR0RGc5QlZWMVI4MHVCNjRRL2V0Q1Q0eGx1ODduaGhXRjBCRVJCMUs2SUxMQ1dscGFaZGJYUXhSdUxTMHRPczNidHg0QkJJNGZKc0NZYy9UNnV6TGpIU0FpSGdBSEF6Z0xBQnp3ODV4RklDL1JEcEdWVzBBbmtYd0I1b25SV1FCZ0ZDb2YxRkVOb3VJRzhBSFp0dm9GcjZQZG9zQm5JaUkya3JOaWllOWUvZStFdncvaU9LUDBhdFhyd3V3TDRBbmFnai9KZXo1K05BVFZSME9ZRkRkenFwcUFJQ0lWSXZJR3lJeUhjQnBrYzVSeHcwSXJvS3lCY0R0Wmx1eStiZ25yRjlwblgwSmo4c1FFaEZSV3doZjc5c3dET05nSzRzaGFvajV2UmsrQWw3M3BqMkp3QU5ndXZuOEdqTmcvd3pnY2tUK3dYaUFCdTlhK1F5QzYzNTdBVXdKMjcreDdnR3FPaGo3bGkyOFVrVDJtczlYbUk5NVpqOEI0QXlycTBOSTFKL3NpSWdvdm9UUC8wNEtCQUpiUlNUTDRwcUk2bEhWRXNNdytnS29CdUJEY0twRlFnVndWUjBBb0JCQVJwMWRCUWpPZ1I5cWJrOFNrYTlVZFJDQTlRMmNyZ1RBMFNLeXJNNXJmQUxnZUFCdmlzaXZ3dHA3QXZnUlFCYUFOeEZjUS94b0FQTkU1QmgwRVB6MUh4RVJ0U1VCSUF6ZkZLL003ODFFbm40Q0VkbUVZRGllRDZBU1FER0FGd0ZNQWxBZTRaRGRBSjRIc0JyQm0rcVVJamlTL1hjQVl5S0U3L1BNOHhjRHVMYk9hKzhBTUJYQWR3Qk9CWkNENE1qNmpPaTh1L1loWWIrNWlJZ29yb1RXL3JZRFNGYlZQVTMwSjdLTWlHUWpPTTNDQjhDUEJCc0JKK3R4Qkp5SWlOcFNRbzhzVXNMZzl5bkZGQU00RVJHMUJZWVphcS80dlV0Unh3Qk9SRVJFUk5TR0dNQ0ppSWlJaU5vUUF6Z1JFUkVSVVJ0aUFDY2lJaUlpYWtNTTRFUkVSREcwWjA5SnpNNjljOWR1L0xocURTb3FLbUwyR2tRVWZRemdSRVJFTVZCUlVZRjdaeitNcTY2L0ZVVTdkOFhrTmQ3LzhCUGNlc2M5MkxCeGM5VFAvZU9xTlhqa3NTZnh4Ynh2b241dW9vN09iblVCUkVSRXNiSzhvQkR2ZmZoeFZNNDFQbThjcGt5ZTFPeithV2xwU0U1S3h0N1NVano0MThkdy83MTN3bTZQN24rN1ZWVlZBSUNrcE9qL2QvNXpVUkhtZmJNQW5kTFRjZXpSRTF0MURpcy8vL1lxUHo5L3NNL25HNmNpSTFXVk9hMlp4anNjOTFoZFEwdndENWFJaUJKVzBjNWRXTHpFRTVWemRlL2F0Y1hIWEgzRnhWaXpiajFXclZtTGp6LzlBdE5PbkJLVldrSkNJK3VkTzNlTzZubWp4ZXJQdnozeGVEd0QvYXB6cW4yK293QUFxbHlBdkdVWXdJbUlpT0xKR2FkT3h4bW5uUkp4MzROL2ZReWVaY3Z4OFAxL1FyOStmZXJ0OXl4ZGpnY2ZlU3ppc1p1M2JNVi8zbjZuMGRmT3lzaEFXVmtaZmx5OUJqK3VYdE5ndjVrenB1SEFRUU1CQVBrRmhmaHEzdnhHendzQUszNWNCUUNZODhvYnNCbE56eW85Lzl4Zkl6czdxOGwrMFJhcnp6OVJ1TjN1cVFIVi80cXF3REQraEVEZ1U2ZlQyZlEzQUxWYkRPQkVSSlR3N0hZNzBsSlRJKzR6ek9DYW5Kd1VzVTl5Y2xLRDUvMWxUd25tZmJPZ1dUVTAxVy9pRVlmWEJQQXRXN2EyYU83MXZHKytiVmEvV1dmTWJIRUEvM2JoWXF4WnU3NVpmYzgvOTlmSUdUbThYbnVzUHY5RVVGQlEwTFBLNjMxZFZaY2xKeVdkbHB1Yis3UFZOVkhzTVlBVEVSSHRwNk1uVHNBVmwxN1lxbU5mZU9rVmZQTFpsN1hhVHB3NkdjY2YxL2g4NTZlZmV4R2ZmVGtQTnBzTm1aa1ptSDN2WGVqV3hEU04xc3dWTHkwdFEyVmxWYlA2bG5NMWxoYXJxcXFhQTVFa20ySE1Zdmp1T0JqQWlZaUk5cFBOc0RVNHd0c1V1ODFXcjgwd0RDUW5OenlsWkdsK0FUNy82bXYwN2RNYlYxeDZJZTYrZHpidWYranZtSDN2WFVoUFQydFZIUTJaT25rU0xydjQvS2llazRKY0xsZHZpRXhSNEtHOHZMeWZySzZIMmc0RE9CRVJKYnp2RnJtd2JmdU9pUHZXYmRnSUFKano2aHZvbEo1ZWIvK3UzY1V4cmEybENuOVlpUWNlZmhTR1llQ3F5eTVDenNqaHVPU0NjL0hVY3kvaW52c2V3RzAzWFlldVhidFlYV1l0aWZUNVI1T0lERlFBb3JyRTZscW9iVEdBRXhGUnd0dTRhVE0yYm1wOHJXeVhlMWtiVmRNNmdZQmk3b2NmNDZWL3Z3YWZ6NCtyTDcrNFpyNzFpVk1uWTA5SkNWNTc4MjFjZjhzZHVQbjZxekJtZEk3RkZlK1RDSjkvTEtocU40Z0F3RnFyYTZHMnhRQk9SRVROVmxoWW1GRnFHQ20yc3JKa204Mlc0ak9NRkttdVRqWU1JMFZFa3YxK2Y0cUlwQVJFa2lVUVNCR1I1SUJJaXMvblMvRjd2YW1WWG05YVZWVlZkT2RJTk1PczAyZml0SmtuUjl6WEhsYmhLUHhoSlY2WTh5cldyRjJIcEtRa0FINjgrLzVIR0RaMENBWU82QThBT092TTA5RGpnQVB3eEZQUDRjNC8zWStKUnh5R1g4ODZIWDM3OUxhMGRxRDlmLzZ4SWlLaTVxUFZ0VkRiWWdBbkl1cEFWcTVjbVZsYVd0ckZNSXd1ZnBFdVJpRFFKU0RTUlFLQkxpclNSWUF1VUEwK1YrMENrYTVRN2FKQVp4R3hWMVJXd2dZQUl2QUhBcEJBQUJCQlFCVlFCVVJnL2txOTFuT2JDQ1FwQ2FraXNEZGp1YnhvQ1FRQ0FJQzB0TlNZcnNMaEQvaFJVVm5acWhwOWZuL2tjL3I5V0xURWpia2Zmb0xDSDFZQ0FITEhqTUkxVjF5Q0gxYXN4RCtlZmdFMy91NU8vUGFjc3pEOXBLa1FFUng3ekVUMDdkTWJUejd6QXI3NWRpRysvVzRSanB4d09JNmVPQUZqeDR5cWR5T2dRQ0NBS3E4MzR1dFhWL3RxNm12cXZhVWtKOWQ4am5YUEQ4VCs4NCttc3JJeUxGeTBhSzVoR0FFeERJM2xheW5RVlFGQXRWc3NYNGZpRHdNNEVWRUNXRnhZMkV1cXF3ZUl6emNRd0VBQUExUmtvQUE5QUhSRE1FeDNMeTBycXduTW9sb3JMTmNNd1lXZWh3Ymx3dmUxTS81QU1Od21SZmtPbENHaE8xSE8rMlpCczVjamJFcGxaUlZlZlBsVmZMdHdNVXBLOWdJQSt2ZnJpM1BQbm9WRHh6c0FBRWRQUEFJSERoNkUreDU0Qk0rLytHOWtaMlhpNklsSEFBQU9IbllRL3ZiZ24vSCtSNS9pdFRmL2k2L25MOERYOHhjZ1BUME5GNTEvRGlaUE9ycm10ZHhMOC9IbjJYOXR0SjVQUHZ1eTNpb3RkZjNodHBzdzNqR3VYbnVzUC85WUtDc3JnOTF1UDdLdFhrOEFxR0V3Z0hjdzdlZHZCQkZSQitaeXVZWUFHQ0FpQTFXMXY0b01BakJRZ0FFQWhpSTBRaG4ybSt4YW9UbEt2K0ZXMVFvQnZCQ3BVdFdxc09kZUFhcFVwQXFBVjFSclBRZFFGVkN0cnZaNmZlV1ZsWDRBTjBhbG9DWlVlNnNCSU9xM2dBK3BNSmZkNjl1bk53NGFNcmhWNTFpOVpoMSsycmE5WmpzMU5RVy83Q2xCU2NsZTVJN093Y2tuVGNWNHh6alVuYVhRdjE5ZlBIVC9IL0hwNTEvVmhPOFF3ekF3L2FTcG1ITGNNWmozelFKOCtQRm5LQzBydytHSGpJOVlRNS9ldlREMG9BUDN1L2E2WXYzNXgwS1BIajNRczJmUHpnQzhBS29CQk15dnFITzczU2NyOEo2aHVpb1c1NmY0MVg3K1JoQVJKYmpDd3NMa3lzcks0UUdSa1JJSTVFQWtSMVZ6QUF5QmlBMEFGTmpmRVdtdnFoYUx5RzRGaWtXMVdFVkNqN3RGdFZnTm85aFFMUTRZeG02YmFuRWdFQ2pPenM3ZVBYVG8wT1l0QmgyWllYNGxBVWhXMVRZSjRCWG0rdFh6NWkvQW1uV1JieWF6WWVNbUFNQnJiLzRYblRwMXFyZC81NjdkRForL0l2aUR6ekZISFlGWnA4OXNWWTJ2LytkdGZEbHZQbEpUVW1yYUxybndYRnh3M3RubzJlT0FtalpWUlhXMUR6YWJBWnZOaG1YNUJYajduYm00OGRvckd6eDNTa29LcGt5ZWhDbVRKNkc4dktMQkpRckhqaG5WcXFVR24zN3V4VVlEZUt3L2Y2TDJpZ0djaU1nQ0xwZHJ0QnBHamdBakVBamtLakNpb3JKeUdMQnZTZ2lBZXFPZURWSXRCN0FKSWhzQmJCSmdBNEJOSXJKSlZYK3gyKzI3QVJUbjV1YVd4ZVFOeGFtOWU0TlRPRmFzWElVVkt4c2ZaUHh1a2F2RjUvOWxUd2tBN05leWYyZWRlUnJPT3ZPMFdtMmhHK3A4OU9ubjZOcTVDeHg1dVZpemRqMXV2ZU1lVEQ3MmFGeHp4U1ZZdVdvMThnc0tjZE50ZCtJUHQ5Mk13WU1HMURxSHorZkRjLzk2R1hhN0hSZGZjRzdVMXdkdmpsaC8va1R0RlFNNEVWR011Rnl1Skx2ZFBzenY5K2VvU0E0Q2daSG1xUFpRaU5oRnpldTdtamVpWFFSZ2t3SWJBV3dVMVkxbXVON283OVJwNDZFalJ1eUs1WHRwcjNZWC93SUErTk5kdDJQd3dBRVIrL3oxc1NleExMOEE5OTk3Si9yMXFiOEt4OUw4QWp6eTJKTVJqMTF2cm1IZDFCMG9XOFBycmNhTGMxNkRZUmlZODN6OTF6L3J6Tk9RbHBhR0YxNTZCYisvKzE3Yzhic2JNV3JrQ0FRQ0NzTVFlTDNWeUM4b3hFL2J0cU5uandNd2Zkb0pVYSt4S2JIKy9JbmFLd1p3SXFJb3ljL1A3K0h6K1k1VTFRa3FNZ0dBdytmM0p3T29XU0VFYUh4VVcxVTNpOGdQVUMxVXd5ZzBWSDlJVFUzOVBpY25wN1F0M2tPaUNVMlBPSER3UUdSbVpFVHNFN29UWmFmMGRHUmxaZGJiMzlqSWNTaUFIemhvNFA2V1dvOTc2VEpVVkZiaStPT09hWEFPOVNrbm53aTd6WWJuWDNvRnhjVjdBQURmRi82QTUxOTZCZWVlUFF1MzNYd2Ridm45UFhqK3BWZlF1MWN2T0Ixam8xNW5ZMkw5K1JPMVZ3emdSRVN0b0txR0t6OC9WM3krd3lFeVFWVW5WUHQ4d2F2d21qR2lyYXBiUktUUUROby9HS3FGblRwMUtodytmUGplMkZmZk1WUlVWR0RUNWkzSXpNeG9NUHp0aitKZmZzRzI3VHZRdDA5dlpHZG5SZjM4ODc3NUZnRHFYV0JaMTdRVHA4RHBHRmN6WDN6bnJ0M1lzSEVUTm0zZUFtZmVXRng5K1VYNDY2TlA0dUZILzRHSC9uSVArdmZyRy9WYUk0bjE1MC9VbmpHQUV4RTFnOHZseWxiRG1DQ0J3QVFWT2R6dDhSd3FRRVpUbzlxaG9LM0FEeEFwWk5CdU81NWx5K0h6K1RCcTVJaVluUCtycjRNQmVWUk85TSsvYmZzT0xGenNScC9ldlRES3ZOdGxZOEl2MXR6NjB6WUFRTCsrd2VrY1J4MDVBU3RYcmNIN0gzNkNmeno5UEdiZmUxZlU2NDBrMXA4L1VYdkdBRTVFRk1HUy9QeUREWjl2Z3FwT1FIQTZ5UWhSbGNaR3QxVzFBaUpMUkhXQkdzWjM2U2twODNOeWNyaUVnMFcrL1c0eGdPRE5hL2FIYXVSN3NYengxVGNBZ0VsSFIzL0o2SGZlK3dDcWlta25UcW41NFM0MEZTTTByenFTUUNDQVpma0ZBR3BQaTdud3ZOL0FaaGc0ZmViMHFOZmFrRmgvL2tUdEdRTTRFUkdBL1B6OFRqNmZiNHFxVGdOd0VueSszcUVsL3hxeEZhb0xSR1JCd0daYlVKcWI2NWtrNG11VGdxbFJHemR0eG9LRmk1R2NuSVFqSnh5NlgrZjZjZFZxQUVCcTJGMGFQL3R5SGpadDNvSkJBd2RneE1IRDl1djhrWXdlTlJJN2luYml1R01tMXJUMTZ0a0RtWmtaOEN6Tng3MnpINjUzNFdjZ0VNQ2F0ZXV3ZnNNbURCODJGTjI3Nzd1M2k5MXV3MFhubjlQZzYzM3c4V2Y0Nk5QUFcxeG5JQkE1SE1mNjh5ZHE3eGpBaWFqRHlzL1BIMXhkWFQwRHdMUnFuKzlvQU1rTkJXNVY5WWxJUG9LajJ3c2tFRmpnZERvM3RXbkIxR3d2dnZ3YVZCVkhIVG1oeGZPUDczdndFYXhhdlJZcHljbndCd0xZdVRPNHdNeUJnNE1qeW50TFMvR3ZPYThDQUdhZGZrcDBDemNkY2ZpaE9PTHcyc0UxS1NrSk4xMTNGWjU4NWdXNDNNc2lIaWNpR0owekF0ZGVkVm1MWHE5SGp3TXdhR0QvRnRlNVllTm0vUHh6VWIzMldINytSSW1BQVp5SU9neVh5NVVrSWhNRHdNbFFuVmJ0OHcxckpIRHZGdUE3RVZrUU1Jd0YxZDI3TDVyUXYzOUZHNWRNclRRcVp3UitXUGtqenY3VjZVMzI3ZFNwRTdLenMycFdHaG5Rcnk5YzdxVTFvN3NwS1NtWWVNUmhOWUc0VTNvbmpCeHhNRFNnOVVKeXJJM0xIWTFuLy9FM1ZGWld3ZXYxMXRvbklraFBUNFBOWEZXa0paempjbHQ5STU0UFB2NnNYbnNzUDMraVJCQ2RleE1URWNVcGo4ZHpnS3FlSEFDbVFmVjRFV2xvdVFvRjRGRmdydDB3M2g4N2RxeExSRGo1TkhycTNnbXo0WW5NVWJKcTlSb01HM3BRcTQ4UEJBSUlCQUt3Mld6MUxyS3RxcXBDZVVVRnVuVHV2TDlsV2lvUUNLREs2MFdTM1I3MTI4WEg4dk9QTlJGcDAxdlJDK0IwT0J6dVdMd0d4U2VPZ0JOUlFsRlZXYnAwcVVOVnB3V0FhUUZWSjBJenVldi9KMTRLMWMvVU1PYW1KaVhOSFQxNjlJNDJMNWhpWm4vQ0h3QVloZ0hETUNMdVMwbEpRVXJZcmVQYks4TXdrQmFqdWRXeC9QeUoyanNHY0NKS0NQbjUrWU85UHQ5RmJyZjdYSWdNQUNML2lrOVYxd2t3RjhEN0FMNTBPcDNWYlZvb0VSRjFlQXpnUk5SdXVWeXViQmpHcjZINjIycWY3N0JJbzl5cTZvUEl0Nkk2VjBUZWR6cWRLeXdwbG9pSXlNUUFUa1R0aXFyYTNHNzNDUUIrQzVFWlVLMC9EMEIxcDRwOFpBQnpmZG5aSHg0MmRHaEoyMWRLUkpRNFZQVlJBQmNCeUFjd1hVUjRqNFA5d0FCT1JPMkMyKzBlRVFBdWNibmRaNHRJejdyN1ZiVlNSTjVWdzNqSk9YYnNSeUlTazR1bWlJZzZHbFh0QnVCYWMzTUNnSmtBWGpEMzlRYndDSUFURUx5WWZSR0E2MFhreHpybkdBZGdDWUlYWTA4VWtXL2JwdnI0eEFCT1JISEw1WEoxVjVGekJmaXRBcmtScDVnQTN3RjRLVE1qNDFYZTNwMklLQ1oyQTFnTTRCQUFwUUFXQUlDcUdnaGVUek1Pd0U4QXFoQU00bCtwNmxBUktUWDcyUUE4QjhBRzRKOGRQWHdERE9CRUZHY0tDd3VUS3lvcVRrRXdkRStWQ1A5T3FlcG1pTHljYkxjL2w1dWJ1OTZDTXFubGFpM3BxS28vaTBnUHE0b2hhb2lxL2x5M3laSkM0b2lJcUtwT0JKQUhZSzJJaE82K2RCcUM0WHM1Z3VIY0IrQXJBRWNDbUFWemxCekFqZWF4V3dIYzFvYWx4eTBHY0NLS0N5NlhLeHZBZFJXVmxWZEQ1QUNnM2lvbVpRcThEWkU1enJ5OHo3bEdkN3VsQU5UcjlYNmZrcEp5ck5YRkVOWGw5WHEvaC9sOWFuVXQ4VVJFdkFBVzFtbk9OUjgvRVpFcUFGRFZMeEVNNE1QTTdRTUIzR1AydTFKRWVFME9HTUNKeUdMNStmbjlxcXVyYjRISVJRQTYxZG10Q254dEFDL1o3ZlkzYzNOenk2eW9rYUpPS3lvcUdNQXBMbFZVVklRQ2VNSlMxYWNBWEdadTNnN2dNd0N6QVJ3S3dBL2dJd0RYaXNqUFljZHNBZERYM0J3dEl0OGpPS1VFcUowblF3dkxoMjdWK2hTQWRBQnZpY2k3VVg0cjdSWURPQkZad3VQeGpBeW8vdDViWGYwckVhbjFiNUdxcmpORTV2aVRrMTg0WlBUb3pWYlZTRkVYR2xYVVJZc1d2VEpseXBUTFJTVFo2cUtJd25nWExGandNc0srVnkydXB5Mk1BM0EzOWdWbkFQZ1ZnRDRBam1yaVdJLzVlSnFxUG00K24yVSt6bFBWM3dJNEhzQXZBSzZKVHJtSmdRR2NpTnFVeStXYXBDSzNCbFJQQUZEN0Z0T3FYNnJOOXZENGNlTStzS28raWltRmVWdnZFMDQ0WVZWUlVkRmozYnQzdjlucW9vaENpb3FLSHB3MmJkb2E3THY5ZkVjSTRMTUFmQVBnUFFBbkFUakdiSitvcWlORjVJZEdqbjBid1drcGh3RllHOWIrUHdBRkFONHd0MjhXa2UxUnJicWRZd0Fub3BoVFZYRXRYWG82Vkc4Rk1GNXE3L01KOEI4QTl6dWR6Z0tMU3FUWVV3U245WWRDdVArY2M4NTU1TDMzM2pzMUtTbHBpTFdsRVFYbmZoOSsrT0dQSXpnRkl6eDhKM29JTHdBd1NVVDg1bHJmbXdDRWxub2RBNkRCQUM0aUFWV2RpdUJGbGtjZ3VBcktod0NlQmpBSFFEY0FYd0o0UVZYUEFuQUdnbE1OQ3dBOEZIWXhaNGZEQUU1RU1WTllXSmhjWGxsNWdkdmp1VW1Bb2VIN1ZIV3ZBTThtSnlYOUxUYzNkNHRWTlZLYkN2MUtQd0RBLy9ISEgxY3NYNzc4Wm9mRDhUK0w2eUx5ejU4Ly83cTFhOWQ2VVR1QUozcjRCb0M1SXVJSGdoZGFxcW9id1pGd0FNaHE2bUR6b3NwN3d0dFU5U1FBdndaUWllQmM4d2NCaFArMjZ3UUE1Nmhxam9nVTcvOWJhSDhNcXdzZ29zU3pmdjM2VkxmYmZVdEZSY1ZXQ1Y2QXN5OThxMjZENmkzKzdPeCtUcWZ6Sm9idkRxZG1HZ29BbjlQcG5KZVhsOWUzcUtnb05QSkkxSmI4UlVWRi84akx5eHR3M0hISExVVndHYjJPTlAwRUFPcXVTaEorUDRVVzUwUlZ6UUR3VDNQemp3aCtsamNoR01hUEFOQWJ3REx6OGVxV25qOVJjQVNjaUtKR1ZXMGVqK2VpWGJ0MzN3MmdUL2hOYzFSMUdRemprZEs4dk5jbWlmaXNxNUlzRkFvMEFZU0Y3YVZMbDJxUEhqMys5TzY3Ny80M0x5L3Z1S3lzTEVkNmVucWV6V2JyWlUyWmxNajhmdi8yOHZKeVQwbEppY2ZqOFh3Mlk4YU1RZ1NEZCtpcm80MkFSOXQ5QUFZZ2VNdjZod0djaCtEMHN5OUZKSFFEbjJjQVBBbGd0RlZGV28wQm5JaWlZb25IYzRiTDdmNnppQnhjWjlmSEt2THdlSWZqTTBzS28zZ1RIc0xEMndJelpzeFlEcUFRd1ZFM0Nmc2lpcGJ3MVUxQ1B3alcvV0w0YmlWVlBRVEJVVzAvZ0l0RnhLZXFvWldPOW9SMUxUVWZPK3dxU0F6Z1JMUmZQQjdQMFg3VmgwWFZXV2ZFKzF1YllWeWZsNWZuc3JBOGlrK2g4Qk42SGo0dHhZL2FBVHlFUVp6Mmg5WjVYdmQ3THZRWWFtZjRiaUZWVFVMd2R2TUdnRWRFSlBSdi93cnpjYXlxaW5rVHRmRm1td2NkRkFNNEViWEswcVZMeC9yOS9nY0NxbFBxSktQbEtuTGJlSWZqUTJzcW8zWWlGSFJDSzZNWVlkdWhBQTR3ZUZOMGhhOXNFa0R0SU42UjF2Nk9oVnNSbkZLeUhzQ2RZZTFmQS9nT3dPRUlyZzIrRmNHbEQ0c1FYQzJsUTJJQUo2SVdjYmxjUTFUa1BuOGdNS3YySXQ3WW9DSjNPY2VOK3pkdkUwL05GQjZHd2dNNVI3OHBGaUtOZ3RjTjNmeTNxeFZVZFJpQVA1aWJsNHRJZVdpZmlLaXFuZ2JnTVFBbkFzZ0Q4REdBRzBWa1I1c1hHeWY0anhvUk5VdEJRVUhQcXFxcXV3RmNESkdrbWgycU8wWGt2dFRVMUNkemNuSzhEWitCcUZHUkFqZi9qNkpZaUJTMkxRbmVicmY3WkFYZUU4RHBjRGpjVnRSQTF1QUlPQkUxYXVIcTFWbTJrcEpicTZxcWJvQkllczBPMVhJVitWdG1Sc1lEdzRjUDM5dklLWWlhbzI0WUVuQTBrbUtIMzF0a0tRWndJbXFReStVNkd5VWxmd1BRSTNTQnBhcjZJUEo4YWtySzNhTkhqKzZ3dno2a21HTkFJcUtFeFFCT1JQVjRQSjZCZ1VEZ0dZaE1xYlZEOVMwQmJuTTZIR3N0S28ySWlLamRZd0Fub2hxcWFuTXZYWHF6UHhDNFcwVFN3blp0Rk9CY2g5UDVqV1hGRVJFUkpRZ0djQ0lDQUhnOEhxZmI3WDRCSXFObDMzUVR2d0IvOS9ic2VlZUUvdjByTEM2UmlJZ29JVENBRTNWd0sxZXV6TnhiVm5aL1FQVUtpQmhodTFiWWJiYXp4NDBidDh5eTRvaUlpQktRMFhRWElrcFVicmY3dE5LeXNwVUNYSVY5L3g1NG9Yb1hWSE1adm9tSWlLS1BJK0JFSFZCaFlXRkdSVVhGNndwTUMyOVh3R1UzakxQSGpSdTMycXJhaUlpSUVoMERPRkVINDNhN0hSV1ZsVzlCWkZDb1RWVXJCZmpkZUtmek1TdHJJeUxxaUFMQXBVdmM3bTFXMTlIZWlPcURUcWV6dk9tZThZY0JuS2lEVUZWeEwxMTZxd1lDOTlhNWsrV1hOc080SUM4dmI2T0Y1UkVSZFZnQ1hHcDFEZTNVRXdEYVpRRG5iWDZKT29DQ2dvS2VsVjd2dndXWUhOWmNMTUJORG9malg1WVZSa1JFMUFFeGdCTWxPSmZMTlFYQUt4RHBYdE9vK254S1Nzb2R2Sk1sRVJGUjIyTUFKMHBRTHBjckNTSVBBYmdXKy82dWx3cHdrY1BoZU5QQzBvaUlpRG8wQm5DaUJPUnl1WVpBNUw4QWNzT2E4MjJHTVhQY3VIRWJyS3FMaUlpSXVBNDRVY0paNHZGY0JKRjhoSWR2MWNlaE9wN2htNGlJeUhvY0FTZEtFQzZYS3hzaXp3Q1lWZE9vdWdmQWI1eE81L3VXRlVaRVJFUzFNSUFUSlFDMzIzMVlRUFZORWVrZjFyd3drSnc4NjVEUm96ZGJWaGdSRVJIVnd3Qk8xTTR0OFhqT1F5RHdnb2pZekNhRjZnTU9oK01QSXVLM3REZ2lJaUtxaHdHY3FCMWI0bmIvV1lBN2FocFVkd0tZNVhRNnY3U3VLaUlpSW1vTUF6aFJPK1J5dVpKVVpJNEFaOVUwcXM1UFNVazVnMnQ3RXhFUnhUY0djS0oyeHVWeVpRT1lDNUVqdzVxZmRlVGxYUzRpQWF2cUlpSWlvdWJoTW9SRTdZakw1UnFnd09LdzhLMVF2Y1hwY0Z6SzhFMUVSTlErY0FTY3FKMXd1OTBPVmYwbzdKYnlYZ0ZPZHpnY2N5MHRqSWlJaUZxRUkrQkU3WURiN1Q0NW9Eby9MSHdYUS9Vb2htOGlJcUwyaHdHY0tNNHRjYnR2VU9BZEVVa0ZBS2h1MHFRa3A5UHBYR1J4YVVSRVJOUUtkcXNMSUtMSVZOVndlenhQQWJna3JOa040SVR4WThic3RLZ3NJaUlpMmsrY0EwNFVoMXd1VnpwRTNnWXdOYXo1NDI1ZHU4NGNQSGh3cFZWMUVSRVIwZjVqQUNlS013VUZCVDJydk41UEFJd0phK1l5ZzBSRVJBbUNBWndvaml4YnRteVl6Ky8vQWtCZnMwa0YrSjNENFhqSXlycUlpSWdvZWhqQWllS0UyKzBlRVZDZEx5SmR6U1l1TTBoRVJKU0FHTUNKNGtCK2Z2N2dhcDl2RVlBRHpLWmlxSjdJbFU2SWlJZ1NEd000a2NVV0Z4VDBsNnFxYjBXa1A0RGdNb1BKeVpQR2p4bXp6dUxTaUlpSUtBWVl3SWtzNUhLNWVpdndyWWdNQmdCVjNTekFvVTRvV2MwS0FBQWdBRWxFUVZTbmM1dlZ0UkVSRVZGczhFWThSQllwTEN6c0NwRjVvZkFOMVczSlNVbEhNM3dURVJFbE5vNkFFMW5BNVhKbFErUnJtRXNOcXVwdXU4MTIyTGh4NDFaYlhCb1JFUkhGR0VmQWlkcVllWk9kejdGdm5lOVNRMlFTd3pjUkVWSEh3QUJPMUliV3IxK2ZxaUlmQW5BQWdLcFdDbkM4dytGWWJuRnBSRVJFMUVZWXdJbmF5SmVxOXAyN2Q3OG53RkVBb0tvK0dNWjBoOE94ME9yYWlJaUlxTzB3Z0JPMUFWVzFaYnJkL3hGZ3N0a1VFT0RNOFhsNW4xbGFHQkVSRWJVNUJuQ2lHRk5WY1hrOHIwQmtaazJUeVBsT3AvUC9MQzJNaUlpSUxHRzN1Z0NpUk9mMmVKNFc0RmVoYlFFdWMrYmx2V3hsVFVSRVJHUWRCbkNpR0hLNVhMY0J1S1NtUWVST1IxN2VzOVpWUkVSRVJGYmpPdUJFTWVMeGVJNExxSDRDYzZxWEFrK01keml1c2Jnc0lpSWlzaGdET0ZFTUxGbSsvRUR4ZWowUXlRWUFCVjRlNzNDY1ozVmRSRVJFWkQxZWhFa1VaUXMyYjA2RDEvdEJXUGorMnBtWGQ3N1ZkUkVSRVZGODRCeHdvaWhMM3JIalZZZ2NiRzcrbEo2YWVxcUlCQ3d0aW9pSWlPSUdSOENKb3NqbGN0MGV0dHhnRlZTbjUrVGs3TGEwS0NJaUlvb3JuQU5PRkNWMUw3cUU2bStjVHVlcjFsWkZSRVJFOFlZQm5DZ0s2bDUwQ2RYbm5FN25KVTBjUmtSRVJCMFFwNkFRN2FlNkYxMUMxUVBnU211cklpSWlvbmpGaXpDSjlsUDRSWmVxdXR0bUdOUHo4dktxcmE2TGlJaUk0aE5Id0luMlE1MkxMZ00yd3pnMUx5L3ZKMHVMSWlJaW9yakdBRTdVU2g2UDV6aUkvTG1tUWZVUGVYbDVYMXRZRWhFUkViVUR2QWlUcUJVaVhIVDV2dFBwUE5uaXNvaUlpS2dkNEFnNFVRdEZ1T2h5YlZwYTJsa1dsMFZFUkVUdEJDL0NKR3FoNUIwN0hxdTUwNlZxT1lDVGMzSnlTcTJ0aW9pSWlOb0xqb0FUdGNDU3BVdVBoOGpGWVUzbk81M09sWllWUkVSRVJPME81NEFUTlZOK2ZuNm5hcDl2RllBK0FBRFZWNTFPNTIrc3JZcUlpSWphRzQ2QUV6V1QxK2Q3REtId0RmenN5ODYrd3NwNmlJaUlxSDFpQUNkcUJyZmJmYXdBRjRhMlZlVDh3NFlPTGJHeUppSWlvbmlocWttcWVyK3FibEhWTWxWMXFlcEpFZnBscU9wR0RicmRpbHFKcUIxWXVIcDFsc3Z0M3VweXU5WGxkdXNTdC90bHEyc2lJaUtLSjZyNnFCbXFTMVMxd0h3ZVVOWHhEZlRMVjlVT3V4Z0lSOENKbW1Bcktmazd3cWFlK0xPeXJyS3lIaUlpb25paXFqMEJYQVdnQ3NBWUVSa05ZRGFDMXhwZUU5YnZVQUJYQXdnQXVGaEVmQmFVR3hjWXdJa2FZVTQ5dVNDMHpha25SRVJFOVl3Q1lBTlFJQ0liekxaUHpjZGhRSENLQ29CbkVjeWVqNHJJa2phdk1vNHdnQk0xWU9IcTFWa0s3SnR1b2pwbmZGN2VoeGFXUkVSRUZCV3FPa3BWWDFUVk5hcGFvYXJGcXJwWVZVOVMxWjZxV3EzN25GVG5XR2ZZdm1VSWhtK2c5djFsVXMxSHIvbjRPd0NqQVd3QWNHY3MzMXQ3d0FCTzFBRDduajExVnoyNXBySCtSRVJFN1lHcVRnYmdCdkJiQUVNUURNdWRBWXhIY0FySkRnQnp3dzZaWHVjVU04S2V2d3hnT1FBZmdER3FPbGxWT3dNSXJSUTJUMVdIQWZpRHVYMjVpSlJGOC8wUVVZSlk0dkdjR0xybzB1VjI2eEtQNTBTcmF5SWlJb29HVmYwcWJBVDc3Nm82VmxXUFVkWGJWUFUzWnA5cFlYMjIxRGsrMzJ6M3FXb3ZzKzBCclcrTnFuWlQxWG5tTmhjeElLTEl6RlZQZG9RRjhIOVpYUk1SRVZHMHFPcjNZU0g1ekFiNjJGUjFjMWkvUExOOVVGamJSMkg5UlZVdlZ0WDNWUFZUVmIzUEROK1htbjJMVkxXN3FoNnF3YWt2bjZycTA2bzZycTNlTnhIRk1aZkw5VkpZK042NmNQWHFMS3RySWlJaWloWlZmU29zUkFkVTlXTlYvWTJxSnRmcGQyOVl2N3ZOdHV2QzJzNXU0blY2YTNCdXVhcnFPYXA2aXRhZVc2NnE2bFhWaWJGOHYwUVU1K3BPUFhHNzNjZGFYUk1SRVZFMHFXcFhWZjJpN253UkRkNGdKeStzM3lBem9LdXF1c3kyMEhFbHFwcmV4T3Y4TnpSU2JvNlFoMjdBYzQycVpxbnE4K2IyNTdGK3owUVVwMWF2WHAxUzU0WTd6MXRkRXhFUlVheW82bEdxK3B3WnBrTlcxT256YWRoSSthaXdFZXhHcDJlcTZreXpYNmtaNUE4MHQvZXFxbUgyR1dHMi9Sekw5eG1QdUFvS2tXblAzcjNYWTkrcUp6LzVzN0p1c0xJZUlpS2lXRkJWR3dDSXlOY2ljakdBRVFCQ0s1TU1WOVdNc083UG1ZOEM0QTdzVzJwd1RpUG56d0x3RDNQekQrYmE0S0hwTGFVaUVnZzlOeDlyVFgzcENEcnNMVUNKd2kxZnZyeExsZGY3ZXhFQkFBaHdBMis0UTBSRUNlcGJWZjBZd0FJQVJRQU9CWkJtN3R1SmZXRWNBUDRIWUJlQWJnQk9OOXMyQS9pcWtmTS9pT0NBMWhJQWo1bHQ2eEJjRTd5SHF2WVRrUzBJTG5zSUFKNzllamRFMUQ2NVhLN0hhcWFldUZ6OGg0Q0lpQktXcW02SU1QODdOTTNrNGdqOS8xYW4zMThhT2ZlUjVubXFWWFZNblgyenplTlhtZk8vZDZ1cVgxV1BpOFg3SktJNDV2RjRCaTV4dVh4aEYxNGVablZOUkVSRXNhS3FkNnFxUjRNcmxGU3E2bHBWZlYxVkkvNy9aODc5RGplOGdYNHBxcnJDN0hOZmhQMUpHbHd2Zkx1cVZxbXFXMVduUmZ2OXRRZGlkUUZFVmx2aWR2OVhnTk1BUUlGM3h6c2NwMWhkRXhFUlVid3dSNmcvTXplWGlNZ2hWdGFUQ0hnUkpuVm9icmY3c0pyd3JlbzNnSnVzcm9tSWlDak9YQi8yL0JuTHFrZ2d2QWlUT3JTQTZwT2hDeThoOHB6RDRWaGpiVVZFUkVUV1U5V2J6YWVIQURqWmZMNE9qYXgrUXMzSEFFNGRsdHZ0bnFWQThCYTRxdVUydzdqVDRwS0lpSWppeFdRQVU4TzJLd0NjSXlKZWkrcEpLSnlDUWgyU3krVkswdUF5U1NFUDVPWGxGVmxXRUJFUlVYelppR0RvcmtSdy92ZVJJdktkdFNVbERvNkFVNGVrSWxjTE1ORGNMQUx3c0pYMUVCRVJ4Uk1SdVF6QVpWYlhrYWc0QWs0ZHpzTFZxN09nZWs5b1c0QTduRTVudVpVMUVSRVJVY2ZCRVhEcWNPeDc5dHdOa1N4emMwMWVYdDV6alI1QVJFUkVGRVVjQWFjT3hlUHhEQVJ3VFdoYmdCdEVSQzBzaVlpSWlEb1lqb0JUaCtKWGZVQkVrc3pOaFE2SFk2NmxCUkVSRWRXeGJObXlZZFdxZmF5dW96MFlQMjdjVjFiWDBCb000TlJoTE1uUFAxaDh2bG1oYmJYWnJyU3lIaUlpb3BBbHk1Y2ZpT3JxSndRNHl1ZjNkK0t0eXB1dFhYNVVET0RVWVlqUGR4UE12NmdLdkQ1KzdOaWxGcGRFUkVTRUpSN1BSZkI2SHhkQUFieWxoakVQSXV1c3JvdGlwMTMrMUVEVVVzdVhMKy9pcmE3ZURpQVpBTlJ1SHo0K04vZEhpOHNpSXFJT3p1MTJUMVRnYTZpK0ErQUtwOU81emVxYUtQWTRBazRkUW5WMTliVUloVy9nSTRadklpS3lXbjUrZnFmcTZ1cC9RMlRGWG9mampFa2lQcXRyb3JiQkFFNEpyN0N3TUxtaXN2SzYwTGFvL3MzS2VvaUlpQURBNi9mUEVKRUJOc000Z3VHN1krRXloSlR3S2lvcXpnUFFCUUJVOVVlbjAvbUp4U1VSRVJGQmdORlFyUjQ3ZHV4Q3EydWh0c1VBVGdsUGdadER6NFczbkNjaW9qaWhxZ2REWklXSUJLeXVoZG9XcDZCUVFuTzczU2NvY0xDNVdaeVdsamJIMG9LSWlJaE1FcncycWRycU9xanRjUVNjRXBxcTNoaTI4VVJPVG83WHduS0lpSWlJR01BcGNTM0p6ejhZSXNjRGdLcjZrcEtTbnJDNkppSWlJaUlHY0VwWTR2UGRWdk1jZUNVM04vZG5LK3NoSWlJaUFoakFLVUhsNStmM1VOVnpRdHNpOG9pVjlSQVJFUkdGTUlCVFF2TDZmTmVLU1BBaVk5VXZIUTdIY290TElpSWlJZ0xBQUU0SnFMQ3dNRm1BSzBQYklzSWI3eEFSRVZIY1lBQ25oRk5SVlhVaDl0MTRaMzFlWHQ1Y2kwc2lJaUlpcXNFQVRnbEZWVVVEZ1Z0ckdrUWVFUkcxc0NRaUlpS2lXaGpBS2FHNGxpMDdXa1FHQTRDcTdxM3UwZU41cTJzaUlpSWlDc2NBVGdsRkFvR3phNTRELzU3UXYzK0ZsZlVRRVJFUjFjVUFUZ25ENVhJbEFUZ2pyT2xWcTJvaElpSWlhb2hZWFVBMG5mcnRRNlA4ZnB4b1FBOVZsY05FME5mcW1vaW9ObFZzRmRHRnFsaG8yT1dqL3gxeHkvZFcxMFJFWkFXWDIvMGVnTjVPaDhOcGRTM1V0aElpZ0IvejVUMnAyVWFuZXdTNEdRS2IxZlVRVVRNcC9CQTh1RGs5NjI2Mzg3SnFxOHNoSW1wTERPQWRWN3VmZ2pMajY0ZkdaTnZTbDRuZ2R3emZSTzFNOE8vczdmM0tTaGJOL1BiQnNWYVhRMFJFMUJiYWRRQ2Y3cm9uM1lDK0xaQ0RyYTZGaUZwUEJPUGd4MXNPMTlOSlZ0ZENSRVFVYSswNmdOdkswdjhDeUJDcjZ5Q2lhSkFoL2NwSzdyVzZDaUlpb2xocnR3SDgxSzhlT2h5Q2E2eXVnNGlpUjBSdk9XWGVYeWRZWFFjUkVWRXN0ZHNBSGpEME9rRGFiZjFFRklrWUlvRkxyYTZDaUNpUnFlcFR1czl0emVpZnFhcGZxR3FacWo3YkZqVW11blliWUFVeTNPb2FpQ2o2Rk9EZmJTS2krRElGd0NRQTZRQXVWdFVEUXp0VTlWQlZuYWVxRmFxNlJWV2ZVZFhzdWlkUTFXdk53TDlkVmJ1MFllMXhxZDBHY0tnT3Nyb0VJb28rVVdVQUp5S0tMNHNCRkp2UGZ3Q3dCUUJVdFQrQXp3RWNCV0FEZ0ZRQWx3QjRKZnhnczk5OTV1YTFJbEtNRHM1dWRRR3RKbEx2cHlzaVNnRDh1MDFCQ1hHZkNvcGJhblVCN1ltSWJGYlZJUWoraG5LWmlIak5YYjhEMEFuQU15SnltYXAyQjdBT3dEUlZQVkJFMXBuOS9na2dBOEI3SXZKbVc5Y2ZqOXB2QUNjaW9rUWlFWjR6aEZNc0tJTGZXMXFualJwaGpscC9WNmM1MTN4ODEreXpVMVdYQVpnSVlCaUFkYXA2Rm9CcEFQWUN1TEtOeW8xN0RPQkVSR1NsOExCZDk2dHVINkw5VVRkd2gzOUY2dE5ocU9waEFCNEFNQjVBR1lCM0FOd29JaVhtL29NQXJEYTc3eEtSN3ViejBBMFF3L05rcXZub1ZkV3VBQjQxdDI4WGtTMHhlZ3Z0RGdNNEVSRlpKVHhzR3hzMmJCamRzMmZQcVhhNy9SQ2J6WGFJaVBTeHVENUtRS3I2azkvdlgrenorUmJ0MkxIamswR0RCaFVnR0x3RG9TNFdsbWVGUXdEY0F5REYzRTREY0JHQWJnQk9iZUpZRDREREFWeXFxdk1BT015dk1nQXVCTU4zRHdBTEFEd1o5Y3Jic2ZaN0VTWVJFYlZuZ3VEL1FiYlpzMmRuVkZaVzNqOXc0TURGcWFtcGY3SGI3VE1admlsV1JLU1AzVzZmbVpxYWV2L0FnUU1YVjFaVzNuZmxsVmVtSWppYWE2RGovY2JsVkFBTEFkd0tZRjVZK3ltcTJ0VGZ3NzhnZUhIbVNlYmpad2graHI5SGNEVDlmQUJlQUplSVNFZjd3YVpSSEFFbklxSzJGZ3JmeHJwMTY4WU5IRGp3MzRaaERMVzZLT3FRYkNrcEtiYzgvdmpqVTI2Ly9mYkwrdmZ2N3pIYkErZzRJK0hMQVJ3bkluNVZmUnpBVHdDNklQajNkSXk1SFpHSS9LU3E0d0hjRE9CZ0FFVUE1Z0Q0QWtDQjJlMHZBTmFyNmkwSUxtVllCV0ErZ01kRXBEbzJieW4rY1FTY2lJamFVczJVa3llZWVDSnIwS0JCcnpGOGs5VU13OGp0MjdmdnE5ZGNjMDBhOW8yQ2Q1U1I4UGRGeEE4QUlsSUo0UHV3ZlZsTkhTd2lhMFhrQ2hFNVZrUitKU0x2QS9namdDRUlMbG40VndSSHhoOEVjQ0tBbVFBZWhubmhaa2ZGQUU1RVJHMmxKbndEc0YxNDRZVi9FcEVEbXppR3FFMkl5SUVQUFBEQTNhZzlGYVVqaFBDU090dmxZYzlibkJOVmRSeUFHeEQ4RGNJbEFHWUJtQUJnQllBQkFKd0FTZ0djb0tvVFcxTndJbUFBSnlLaXRoUzY0SEpDV2xyYTVWWVhReFF1TFMzdCtvMGJOeDZCamprWGZMK3BxZzNBc3doT2NYNVNSQllBT01iYy9hS0liQllSTjRBUHpMYlJGcFFaRnhqQWlZaW9yZFNNZ1BmdTNmdEs4UDhnaWo5R3IxNjlMa0RIR2dHUHBoc1FYQVZsQzREYnpiWms4M0ZQV0wvU092czZIUDdqUjBSRWJTRjh2Vy9ETUl5RHJTeUdxQ0htOTJiNENEaERlRE9vNm1BRTUzNER3SlVpc3RkOHZzSjh6RFA3Q1lMVFVJRGdNb1lkRWxkQklTS2l0bEt6K29uTlpodGdkVEZFa2Roc3RtRXd2MC9Sc1ZaRDJWOVBBMGdIOEthSXZCZlcvaFNDSStPWHFHbzJnRjRJcnE0eVQwUytidnN5NHdOSHdJbUlxQzBKQUJHUkpsZFhJTEtDK2IzSjZTY3RvS3JuQVRnZXdiWEFydzNmSnlJN0FFeEY4RGIycHdMSUFmQU1nQmx0WEdaYzRRZzRFUkcxRmY1S245cUxoUDVlRlpITEFVUzhDRnBFVG9qUXRnYU5mQllpTWdmQjliOGIycjhJd0JFdHJ6UnhjUVNjaUlqYUVrY1dxVDNnOXluRkZBTTRXU1pKYkZhWGtIQkdaZmVIb3l1WFZhYTR4REJEN1JXL2R5bnFPQVdGTEhOcS8wTndZcDl4V0ZhOEFYTzN1ckcyZEVlempodVcyUnNQalAwTkFPRGpiZmw0YXMybnNTeXpYZWlXbklHYlJrekhpS3krMk91cnhOV3U1MUZTWFdGMVdVUkVSQlFCUjhESk11TzdEVUhucEhRYzAyTWtrZzMrTExnL2lyMWxOWjlocGowVjV3OCtwb2tqaUlpSXlDcE1QVEhTTFNVVGgzWTdDQ096KzZGL2VqZDBTODVFcWkwSkNrV1YzNGRpYnltMlYrN0JxcjNic0t4NFBWYnYzUjd4UEU4NEwwVGZ0SzROdm81UEF5anpWYUxZVzRiVmU3ZGhXZkVHTE55NUdvRW1WazBhM09rQVBKTDMyNXJ0bHpkOGpiYzNMMjd4K3p4endHRTRlK0NSTmRzM2VsN0MrcktpSm8vcmt0d0pReko2QVFCMlZ1M0ZpcEt0TFg3dGFNbTBwK0xGdzY5cTg5ZmRWbEdNcTEwdlJPVmNBU2llWGZzNVp1ZWVEUUE0cG1jT1B2aHBLZGFVUnY2K0lpSWlJdXN3Z0VmWlFSbTk4S3VCaDhQUmRVaURrOGJzZGhzNjJWUFFMNzBibkYwUHhOa0RqOEQvdGl6R25QVXRYdzdUTGdheWs5S1JuWlNPUVowT3dQRzl4bUMzdHhUUHJmMEMzKzFjdFg5dkpvYWNZWi9QTjBVckxhMEZFQmdXVFBHelNlMWZRQ1dKRFdjT09IeS96bG5zTFVPWDVFNFFBRmNObTRvbHU5YTI2anhGVlNYNGRQdnkvYXFGaUlpSUltTUFqNUlrc2VHQ0laTndRdSt4cllweUtVWlMxR3JwbXB5QlcwZk13TnViRitQbERmRzV4djM0YmtOcW5uL3o4dzlJTVpLYS9ibUZUMWV4aVlIVUZueDIxZXFIWHdNTjdxOE1WR1BGbnVhTnhvL003bHZ6NTdiOGw0M3dhOVAzYXJDSmdUR2RJOTkvSk5tdzQ4d0JoelhydFp0alVLY0RNS2pUQWEwNmRrWEpWZ1p3b2hqWXRYczN1blZ0K0xlYUxiVnoxMjdzMnJVYkEvcjNSVnBhV3RUT1MwU3h4UUFlQmRsSjZiaHoxT2tZa3RHejNyNnRGYnV4ckhnRGlpcEw4RXQxT1FBZ3c1NktmdWxkTVNTakZ3N0s3TlhzNFBsejFSNDgvdU5IdGRyU2JNazRJRFVMSTdQNjRaRHVCOVZhV2VTMC9vZGdlK1V2Y1Jla011MXBHTmRsRUFCZ2Mva3VyQzhyd2lzVHJrRzZMYVhGNTVyY2F6UW05eHJkN1A3UHJ2MGNIL3kwdE1IOXU2cjI0ay9mdjlXc2MvMXovTVhvbGRvWkFQRGdEKytpekYvVjVER1o5alRNc1dDNkN4RzFUblYxTmZic0tjRXZlL2Jnb0NHUlZ4ankrZnk0L3BiZlkzVE9DRnh5NFhrd2pNaVhWODM5OEJPODhOSXJ1UHJ5aTNIc01ST2pVdC83SDM2Q3Q5K1ppOW4zM29VUnc0ZEY1WndoUDY1YWcvYy8rZ1JqYzBmajJLT2pVeThSQlRHQTc2Y01leXIrUE9aWDZKZmVyVmI3b2wycjhjcUcrZGhjdnF2UjQ3c2tkOExrWHFNaHpZamhsZjVxZkw5bmM4UjlIL3kwRkYyVE0zRGo4R25JeWU1ZjAzN09vSW40cG1nRkt2M1Z6WGczYmVPWW5pTmhOMzlRK0dqYk1vdXJpUjlsL2lyOCt0dEhXM1ZzcDZSVXpNNDlHeWsyTy82emFTRSszMTZBUURORzVCdlMxRFVFUk8xRmRYVTFLcXVxVUZWWmhjcXFLbFJXVnFLOHZBSmw1UldvcUtoQVdYazV5c3ZMc2JlMERLV2xwZGk3dHhSN1MwdFJVcklYZTBwS1VGNitieldoWjUvOE8zb2MwTDNlYTN6ejdYZll2R1VyK3ZYdDAyRDRCb0JoUTRkQVZmSFBaLytGb1FjZGlQNzkrdTczKzZ1cUN2N2duNVFVL2YvT2Z5NHF3cnh2RnFCVGVucXJBL2p5Z2tLODkrSEhVYWxuZk40NFRKazhLU3JuSXJJYUEvaCtFQUMzanB4UkszeFhCcXJ4dDVYdlkvR3VOYzA2UjdHM0RQL1p0REFxOWV6Mmx1TGU3OS9HSTNubm9VOWFGd0JBVmxJYWp1aCtNRDdmOFgxVVhpTWFqdXM1Q2dCUUZhakdWenNLQVFDdmJKaVBwR2F1aEhKQVNpYW05Y2tEQVB5NDl5ZDh0M04xczE5N3haNHRMYXkyYlZVR2dqOG9wZHFTbXYxRGt3QzRaZWdNZEUvSkJCQmNDL3o5clo0V2gyaWJHSTFPenlGcWIyNi84MTc4c1BMSFp2YzNEQU9aR1JuSXpNeEE1ODdaNk4rL0w3SXlNcEdaR1d4cktGeS9NL2NEaUFoK2M5WVpqWjUvMkVGRGNNYXBNL0QyTzNPeGF2WGFxQVR3b3AzQlFaN09uVHZ2OTdsaW9Xam5MaXhlNG9uS3VicEhjZXBPdkhLNVhMY0RPQkxBT0lqMHRycWVlS2JBZmVNZGpqOVlYVWRyTVlEdmg1UDdPakE2ZTk5ODNrcC9OZTVZL2hyV2xmNXNXVTFWZ1dxOHRYa2hyaDEyWWsxYmJwZUJjUlBBaDJiMndrQnpYdkxYUDY5QXVkOExBSTFPQzZscldHYnZtZ0Mrb2JRSTcyeFpFdjFDTFRRMHN6ZnVISFU2M3R5NEFITi9hdm8vcnJNR0hvRzhMb01CQUV1TE4rQ2hGZS9WQ3QrOVV6dGpXK1V2alo2amIxcFgvR0hVNlhoKzdSZHc3VzdkaFp0RThlYjR5Y2VnVjY4ZVNFOUxRMXBhR3RMVHpjZTBOS2dxWHYvUDI5aTJmUWRPbkRvWjU1NDlDNTNTMDF2OEdvdVhlTEIrd3lZY2UvVEVta0Q5NURNdjRLdXZ2NDNZWDFVUkNBVHc5UE12NGVublg2cTNQMmZFd2JqN2psdVJYMUNJcitiTmIvTDFWL3dZdk5oK3ppdHZ3TmJJNkh2SStlZitHdG5aV1UzMmk3WXpUcDJPTTA0N0plSytCLy82R0R6TGx1UGgrLytFZnYzNjFOdnZXYm9jRHo3eVdLeEx0TlRTcFV2SCt2MysxeUF5SEtxYlZPUXpBT3Vzcml1ZUdVQjhYdVRXVEF6Z3JaUmhUOFZaQXlmVWFudDgxWWVXaHUrUVpjVWJhbTJINWluSGcrTjdqYWw1L3NtMitKcWJIZzh5N2FtNGU5UVo2R1JQd1VWRGprWGY5SzU0ZHMzbkRZNW1uOXduRDdQTWxWT1cvYklSOXhmK0R6NzExK3dmbnRVSGZ4dzlDeHZLaXZETW1zOGkzdXpvNEt3KytQM0lVNUdWbEliZmpUd0ZENjk0RjR1YStSc2NvbmgyN05FVEkwNmRLQ2hjZ2I4LzhSUjI3dHlGVVRrak1QMmtxUkhEOStZdFc3RjV5MVpNT095UUJsL2o5YmZlaHQxdXg5bGhvOTk5ZXZmQ3lEcnpzVGR0M2dyREVQVHJXejlnaGhzNElEaUZjTXVXcmZoaTNqZU45ZzAzNzV2SWdiK3VXV2ZNYkhFQS8zYmhZcXhadTc1WmZjOC85OWZJR1RtOFhydmRia2RhYW1yRVkwSy9XVWhPVG9yWUp6azVlb3NVeEtra2Z5QXdYNEVkQmpERDRYUytaM1ZCRkhzTTRLMDBwZmVZV2hjTmZyZHpGUmJFeWJKL3hkNHkrRFZRczh4ZFpsTExSM1Zpb1d0eUJpYjF6S25aM2xHNXg4SnE0dE5lWHlXZVhQMHhyaDgrRFVsaXd3bTl4NkpIYWpZZStPRWRlQU8rV24ybjkzWGd3Z09EOHlFOXhlc3h1L0QvVUIwV3ZnZWtkOGNmY2s1SHNtSEhzTXplT0d2Z0VmaEw0ZHUxb3Z5eFBVZmg4cUhIMTF5OHU2VjhGOWJId1ErUlJMRlFWbDZPVjE5L0MrOS85Q2t5T25YQ05WZGVnc21Uam83WTk0T1BQOE8vNXJ3Q3I3Y2FOMTU3Slk2ZU9LRmVuNi9uTDhEYWRSdHcrc3pwT0tCN04vaDhmdnpmZSsvajJHT093c3pwSjlYMDIxMzhDNjYrNFZhVWxaWGp1cXN2eCtpY0VVM1dldUxVeVRqK3VNYm5Pei85M0l2NDdNdDVzTmxzeU16TXdPeDc3MnB5aFpYV3pCVXZMUzFEWldYVEY1a0RRSGtGNzhEYkNnZXFhbFZLY3JKenpKZ3h4VllYUTIyREFieVZKdlhJcWJYOTF1Ym96T09PQmdFZ3N1K2l6aXB6bW9mVlR1MDN2dWJpeTBpNkpIZkNrK012YnZJODRXdDJUKzQxR2tmM0hObmtNUyt0bTllc0N6NDdKM1hDNVFjZDMyUS9BTWdLKzhIbWdpR1Q0QXY0RytrZDFKdzdmaTdZdVFwN0N5cHhlODVNcE5tU2tkZGxNTzRaZlNiKy9QMS9VZTczd29EZ3JJRVRhdFlNZCsxZWk4ZFhmWVEwZXpJeXhFQ1MySkNkbkk3YlI1NktUdmJnRDRuZkZLM0VvejkrVUJPK1U0d2tYSHpRc1pqY2M5OEtNb3QycmNiZlYzNVFNdytkS0pGOE9XOCsvdlh5cTlpN3R4UW5UWjJNWDg4NkhabVpHZlg2N2ZpNUNFODg5UnlXRnhRaUxUVVZWMXg2RG80NnN2NzYvRlZWVlhqcGxUZVFuWjJGTTA2ZEFRRDQ1UE12OGZLcmI2Snd4WSs0Ky9lMzFQVDk1ek12b0t5c0hNY2VNN0ZXK041VFVvSVBQLzRjczA0L3BkNzhjc013a0p6YzhKU1NwZmtGK1B5cnI5RzNUMjljY2VtRnVQdmUyYmovb2I5ajlyMTNJVDA5dXNzUlRwMDhDWmRkZkg1VXowbEJBbVFya0FIRE9Kdmh1Mk5oQUcrRkhpblp0UzY4M0ZCV0ZCZFRUMEs2cDJUVkNxbkYzaklMcXduS1NrckQ4YjNITk5ySGdMUm9UVzhnZU9GZzNSdmFSSkprTkJ6OHczV3lwMkJxNzl3VzFRRHN1N0EwV2dyMmJNSmR5OS9FSDhlY2lYUmJDa1prOWNYRlE0N0RZNnMreEkzRFQ4WVJCeHhjMDlmWmRRaGVPcXpocFEwLzJyWU16Nno1ckNaOEp4dDJQRHp1bkpydlliOEc4UHJHQlhIMVF5UlJOSlNWbCtQVHo3L0NaMS9NdytZdFd6RjQwQUJjZnZINTZOS2xNMzVjdlFabFplVW9LeTlIcWJrQ3lwNlNFbnkzeUlXcXFpbzR4dVhpeWtzdlJQZnUzU0tlZTg0cmIyRG56bDI0N3VyTGtKNmVocXFxS3J6eDF2OWdHQVl1T1BmWE5mMCsrZnhMTEhaNTBMOWZYMXhlSjhRKy8rSy9NZStiQlJBQmZuWEdxYzErWDRVL3JNUUREejhLd3pCdzFXVVhJV2ZrY0Z4eXdibDQ2cmtYY2M5OUQrQzJtNjVEMTY1ZFd2ZWh4Y2gzaTF6WXRyMytGRGdBV0xkaEl3Qmd6cXR2Ukp3S3RHdDM0dVpTQmJvQTBOSng0LzVqZFMzVXRoakFXK0hnck5vWEpoZjhzc21pU2lKemRCMWNhL3NIQzIvekhqS2pyN05GTnh2YVVyNEwzKzZNdkhwQnQrVE1tclcvMTVSdWgzdDM1T3RVQnFSM3grSGRvN3N1Ymx0YVU3b2Q5eFM4aFh0R240bXQ1YnZ3L05vdkFBQmY3UGkrVmdBUDhXdHdwcmpkL0lGRUFieTZZWDY5WU8wTitQREdwdTl3dy9CcEtLb3N3U01yNTJMVjNtMnhmanRFYmM3cjllS2xmNytPUUNDNHVzLzZEWnZ3d0Y4YnY1aXZSNDhEY1BINTUrRFE4WTRHKzFSVlZlR0RqejhGQUx6MTlydDQ4NjMvUTNsRkJmYnNLY0hKSjA3QmdQNzlBQVNENVRQUHowR245SFRjOGJzYmtaSlMrMTRINS8zbUxDeDJMY1hyLy9rZnhvMGRnMkVIRGFuM1d1RUNBY1hjRHovR1MvOStEVDZmSDFkZmZuSE5mT3NUcDA3R25wSVN2UGJtMjdqK2xqdHc4L1ZYWWN6b25FYlAxNVkyYnRxTWpac2lMNk1iNG5KM3ZHVnBWYlV6Z0twSklyNG1PMU5DWVFCdmhiN3B0ZWZZclk2ajhKSm1TOFpwL1ErdDFiYlE0cm5wUFZLeU1iMXZ3LytaUmJLNWZCZGUzN2dnNHI2RE0vdlVCUERWZTdjMzJPL0lBNGEzT0lEL1ZGR01tenh6bXRYM2I0N3owU3MxR3dCdzBhS25VTzVyeG8xNGt0THd6Q0dYTnJ1ZTFYdTM0YzdscjJOYnhTK29NS2NTZVlyWDQ1azFuMkZINVI3OFhGV0N2ZFVWcVBCN01TS3JMMjRkT1FOMld3cDg2c2ZqcXo3QzF6K3ZpSGplK1VVclVWcGRnUi8zYnFzNWJ6eFp2bng1RndDdzJXdzF2OG9wTlF3QkFGdFpXVTJiRVdvTDZ4ZHFxekFmQWNDb3FKRHdmZUhQSld5K1ZsWDQvcXFxZXNlRStvYTNlYzAyOFhvYjdSZHFxdzU3UGFtdXJsZERwR09iZTB4NG15L1U1dk0xMmkvMDNCZmVaaDRUcVYrdFk3RHZWMjNpOXpkMmpGUlZWWW5YNnpWS3lzcnN2K3phMVNaWDFYWHAzQmt6cHAyQXZhV2w2TmExQzdLeXNwQ2RsWW5zckN4a1ptWmdiMmtaM25udkE3aVg1aU0xTlFXbno1eU9tZE9ud1RBRTZ6WnN4SUdEQmtZOGIwcEtDa2Jsak1TdVhidVJtWkVCZjhDUGJkdDNvSFBuN0pxTE1YOHUyb243SC9vN2ZENGZmbi9yRGVqZHEvYU4ybncrUDlKU1V6RmoyZ2w0NDYzLzRXK1AvUk9QUG54L2d4Y2NGdjZ3RWkvTWVSVnIxcTc3Zi9idU83ek44dXJqK1BlV3ZKM0UyWHVIaEpIaDJFVDA0N2dBQUNBQVNVUkJWRllnazczM2FJRUNCVnFnTFpUUkFtVVZhTW9vcyt4Vjl0c0NiU216VVBaT0NJUklkcHhnRXNnbWcreVEyUEdVZE40L0pOdnlTcHpFc1R4K24rdlNaVDFUUjBwa0hkODZ6N2xKVEV3RVF2ejNmKzh3WXZpd3FnczNULy9weWZUczBZT0hIbnVTRzI2NmpTbVR4dk96VTAraFg5LzRkN003OVpRVE9mbkVZK3ZkMXA2N29EaVBKeEZULzlmMlNBbjRUdWlXMUxIRzh1YUtsbkhSU1VaaUduL1krM2g2SkZkZjRUNXQzYnp0VGdhMHU1MDM3S0NxMnVmRlJXc1oycUhuTHAwdnByeWRVQ1BxcnJmSEUzdEMySUVhNk9yTEdjdENGWTA2TGpHMDQyKzV5dkttVkc4U0IvVGNoM2QrbU0zYnRlclpEKzg5aGwvdGNTaGU1MkZ6UlRGM3p2c3YzMnhlUVVaaUdtY05tY0tyeTc5aVZVbjExN2o5VXJ2U083VUxjMXJZdHplVnlpc3FOZ0pRVWYyYVZoVVJ4Zng3VlU0MkZBN1dIVHlxVVpnVVBTWjJjcUp3cU83L25lMGRRL1IrS0Z6OWVlbHE3US9WL3pOaTk2dXpmOHd4c1JmR1d1Vnppb212c2NjUUUrdTI0cko2bmxPakgyTW5qL0VtSkpEczhkQWxJWUdPTzlIdWIyZjk0dXd6NnF6YnVPbEhYbnpwVmQ3OTRHTThIc2N4UngzT2FUODVrWXhPa2QrZHQ5MTFIN01DZWZ6bWduTTV2SUVMSVcrKzhkcXErN2ZmZlQ4TEZpN20vSFBQSWowdGplOFdMbUxxelhld3RiaVlwS1FrbnZuN0N6ejJ4RE9VbDFkUVZsNUdXVms1b1ZyLy8xYjlzSnAvdnZneTU1eDFldFc2VUNqRXpGa0Izbno3UFFxK21ROUE1cGhSWEhMaEJYd3piejRQLysxcExyLzZCczQ1NjNTT08vb0luSE1jZk9BVSt2WHR3eU9QUDgyMHo3L2s4eTltTW5uaUJBNllNcEd4WTBhUmtGRHpkMUE0SEthc3ZQNC93aXNxSXUrcllDaEVTV25wTmwvbjVLU2tldnVrVjM3N2tKcWFvaTRvSWpHVWdPK0VaRy9OWHdaRndmZ2s0QjRjSFJKVEdKRFdqZXd1UXptc3p4ZzZKbFQvOHRwUVZzZ3ppeitKUzJ5VnNyc01ZZDl1ZXdDUkh0VUxDMWZ2Y2dJZVcvTmQwUVFEQjQycElZOG5SNlJieVZsRDlxZHpZaHBiZzZWTVd4ZjVNUFk2RDJjUDJaL2orL21BU0xKKzJ6ZXZzcjZza0FUbjVlNnNuOU05dVNNak13WndWZDV6RkFWTFNmSWtjTlUreHpNd3JUdEg5c25reVVVZk5UakRxa2hic25IakpsNSs3UTNlL2VCalFxRVFCeDB3bWROL2NoSTllL2Fvc2QrSnh4MU53VGZ6ZWZpeHAxaTJiRG5ublh0V2c1UHcrQU96K1dMbUxIdzVZNWt5S1hLeFp1d0VPMGxKaWF4YzlRT2hVSWhCQXdlUWx0YVRVRERFZHdzWE1YVElZTEl5UjVPUWtNQi9Ybm1OMTk1NGk4a1R4OU92YngrZS9jY0xmUDdsVjJ6WlVsaDF6cCtmY1dwVmFjd0JVeVl4ZE1oZ2JyM2pIcDU2OWpreU9uWGtnQ21UQU5oenhCN2NlK2N0L08rZDkvbm5peS96MmZRWmZEWjlCbWxwcVp4MzdsazFPcjhFOHZLNTVmYS9idk4xZSsrRGozbnZnNCszdWMvMTExekJ1SnlzT3VzckIwa1NFMXBQdWhISXk4TWZDR3g3OG9TbUV2a2pWVk1QdDBPdDV4M1Jnb1JySlgzYjZ1elJsQWFtZGVmVktWYzJhdDlONVZ1Wit2VkxjYjhBOCtkRDlnY2dhR0dlV3ZRUkIvVGNmc2VTN1VtTWViMkQ0VjB2bTZzOUF0NlNqT2s4a0hPSEhzaVE5T28vV2liMTJKTnA2K2JUTXptREsvYytsdUVkSTE4dmY3eW1nTWNXdmwvVnJqQm9JVjVZTnAxTFJ4eEZuNVRPWExQUENmeHA3bi9vbFpKUk5ldm9vUFFlM0R6bU5LYXZtODh6aXo5aFkzbFI4ei9KK3BodHhybXFBZHZxMVZabm5hdThYNzEvMVhhck1Xd2JXZWRpUCt5Mi9SZzdjMHlyak10aUJzZUpPYmloeHpDb0U4dDJqNGx1QzRmRG5tRGtHNHZKTkpORmk1ZnkzZ2NmODhISG53Snc2RUVIY01wSng5V1pWajRVQ2xGYVdrYVBIdDI1OUtKZmNjOERqL0RtMisreGF2VWFycnI4a2pxanMxdTNGdlBJNDArVG5wYkdSYi82WmRYNjFKUVUvbnJIelhUcTFKSDB0RFF1L3YzVnJGeTFpZ2YrZWhzUTZVTisvZFJiR1QxcUg4NCs4elFBdGhRV011UExyOWhTV01pd2xNSDh1SGtMVzdZVWtqbDZKTWNlZlFUamNySnFkTGVDU0ZKKzEyMS81djBQUDZsS3ZpdDVQQjZPTy9vSURqL2tRRDZkTm9PMzMvMkFvcTFibWJEdnVIcGZvNzU5ZWpOOGo2RTcvTm91V0xpWVZUK3NibkI3Ulhua1c2emFJKzh0V2FjT0hmaHh5NWJOcnVaN2QvY3d5M0RPN2ZwWHVkTHF0SjUzUkF0U1dLdmtwRU5DL1YrcnhVdmVwcVhjLysxYmJLNG9idmJIcnYzYmFuSFJHZ2FuOStDVjVUTlpXYkt4MGVmcG10eWh3ZnJ0NFIxN1Y5M3ZrOXFsd2YxR2RHeGMzV1BzSDFCbExhUUYzNUQwbnB3MVpFclZESmNRK2FQcXVhV2Y4ZkdhQXZidnVUZS8zdU13MHJ4SmxJVXJlSHpoaDN3VU05dHBvdk9TbXBCRXdZOHJLTmk4bkpFWkF4aVpNWUR6aGgzTTR3cy80REwvTTV3NmFBSW45dCtYQk9kaGNvKzl5T2s2bE9lV1R1UHRWWGx4SDQ3eCtYd3RaL1lvYVNxZTZDMFJTREt6M1Q3Q09MZGdIdmM4OEFnYlk3cG9EQm80Z08rWHIrRDJ1Kytqckt5YzBySXlTa3RMS1MwdEkxaFBLUk5BYmw0KzE5MTRDemRlZHlWZFlxWjhmL0RSeDltd2NTT1hYM29SblRwMlpQbUtsYXo2WVRVcHljbGtqcW51akZSYVdrcmFkc3B1Zm43R3FaeDEray9wMENFZGdBdCsrWE4rY2ZZWjlJb1puVGN6S2lxQ2VMMGV2RjR2cy9QbjhzcnJiM0w1cFJjMWVON2s1R1FPUC9RZ0RqLzBJSXFMU3hwc1VUaDJ6S2lkYWpYNHR5ZWYzV1lDWGhMdEgvN3A5QmtzWEZ6L1pENUxsMFZLNGY3NTRzdWtwNmZYMmI1K1ErTS9PNXJDOE9IRGNjNE5Bc3FCQ2lBY3ZUVTVmMjd1YXN3NmJuOVBhV3VVZ08rRUxiVktUbnFuZG9ZNGQwa3FEcFV6NThkbC9HOWxicVBLQ1VKV004WGEyVElNVjdNS3RNNWtNUit2S1dCb2gxNjgrUDBYTzNUZVBUdjI1YXE5ajkvdWZwTjc3TVhrSG5Wblhkc1JxZDZrcXZ1bG9mZ200SVBTZS9EVGdlT1oySDNQcWxjMmFDSGVXSm5MaTkvUG9GTkNHdmZsbk12QXRPcVJ1K0pnT1NmMUg4ZlBCazBpMVp0RWlqZXh3WC9Qby9xTVplNlB5L2hpL1FLZVh6cWR6OWJPNDZMaFI3QlhwNzZrZXBPNFlOZ2g3Tjl6Yng3NDl1MGFOZU1pcmRIUXdZTW9MS3o1cmM0UHExZVRscFpHV21vcWFXbHBKQ1Vtc243OUJ2cjM2OHZvVWZ1UWtweE1Ta29LcVNuUm42a3B2UGJHV3l4YXZKU3JycHZLWDI2NmdSN2R1L0hhRzIveHhVdy9Iby9qdVgrK3lMMFBQbHBWODM3S2ljZlZTTUEzYjlsQ2orNDFSOXRycTkxK3IzSkNuWGZlLzVDdW5idVFrNTNKd2tWTHVPcVBVem4wNEFPNDVNSUxtUC9kQXZMbkZuREZOVGR3L1RWWE1tVHd3QnJuQ0FhRFBQbk1QMGhJU09EOFgveTh5ZnVETjBaaFlhU0VadDc4NzVnM2Y5c05BYjZZNlcrT2tFUmFCQ1hnTzJGRmNjMi94dmZKNk05YnEvSjIrK051S0N2azJTV2ZWaTJITGN6V1lCbWJ5cmV5b25oRGc5T1YxNmM0VkxOalI2bzN1WUU5dHkwdEpua0YyRnFyRThqWG01ZHoxN3ovRW1yQkYzbW5KbFEvaDNoMkJObXpZMTl1RzN0R2pUOXBBaHNYODlTaWovaWhOREpZV0JFdUpLUFd6S1pka3RMcGtsUjMxS2hTeU1JVWg4cElUMGpCZytQaUVVZXlxSEF0YThzMnM3eDRBOWZsdjhBcEE4WnorcUNKZUoySFBUdjI1ZmF4WjNEQnpNZGJ6RGNDSWpzalBUMk5HNjY1Z29URVJIcjM2a0huakF5ODNwb2xnNVhsSUdORzdkUGdDSEQyMkV5dS8vT3RkTy9XamE1ZElpUGdGZEVMaE1OaFkrdldZb2J2TVl4K2ZYdlR0MDhmSnV6bnF6cDIwNDgvVWw1ZVVXTWt1N0hLeXl0NDl1Ly94T1B4OFBlbkhxbXovZlNmbmt4cWFpcFAvOS96WFBlbm0vbmoxWmN6YXArOUNZY05qOGRSWGw1Qi90d0NWdjJ3bWw0OWUzRGNNVWZ1Y0F5N2F1T215Tyt1bTI2OGxpR0RCdGE3ejE4ZmVJVForWE81N2VZYjZOKzNiaGVVdlB5NTNQTkEzZWN2MHBvcEFkOEpYLys0SEtPNkE4Q1l6b05JOGlUVUdmMXRhbHREWlV5UFhueTNxMnEzek91V1ZIZEd1TWFJblEzU3FKdUFBNDBlU2QxVXZwVmZmL1g0ZHZjN2U4Z0JWWDJ3Yi8vbXRRYW5UdmQxRzhZRnd3N1o3dmxpUzRpeXVnemg1U2xYTkNyZTJNbU8vajd4NGtZZHN5M2ZGcTdDdjNFUjQ3b09ZMVhKSnA1YTlCRzVtMnArWlJ1eU1CK3RLV0JNNTRHc0t0bkVsb3BpQ2l0S0tReVdzRFZZUm1tb2d1SmdHVnREcFd3cTMwcHhzTHdxaVQ1ejhHUitNbUE4WmpDNFF3L1dsbTBHSXY5dUx5My9rdndmbDNINVhzZlNPeVdEZnk3OVhNbTN0QW1WSTlIbDVSVTgrT2dUSEh6QWxPMzJ4MzduL1EvNXVtQWV2LzMxZWFTbXB0S2hRem8zLytrNmtwT1NxeEw0QS9lZnpJZzloakdnZjc5dFRucnozWUpGQVBUclZ6ZXhyQzBjRHRlNDJET1FONXVTMGxJT08rVEFCbXVvVHpqMktCSzhYcDc2ditmWnRDbnludjY2NEJ1ZStyL24rZmtacDNMTmxaZnhoK3VtOHRUL1BVK2YzcjN4NVl6ZGJoeE5xYkk4WmVpUVFYVHNVUC9uVEVMME5VMVBTNk5UcDdyVkdQRVl1UmZaM1pTQTc0VENZQWxMdDY2dHVqQ3VZMElLaC9ZZTNTeWo0RTJsT0ZST1ViQzBLdmtjMnJIWGRvNm8zNUNZamlZL2xHd2lhRHQvTFVrWVkyM1pGZ0FHcC9kZ2p3NjkrV0ROM0RyN3hZNzJmck41SllVTmRLRlpVclNXcnpZc2pNYldjTGxwN1BrY2RjdHFHc096RThmVTU3RUY3MVBRWXpuL1c1VkxzSUZ2RGY0ZTh5MUliWS92KzZ1cU5wU25UUHRyalc5Rkt2dWx2N2t5dDk3ckF4WVUvc0R2YzUvbGlENWo2N1E1RkduTmlvdEx1T1dPdjFMd3pYeStXN0NJKys2NmxhU2twSHIzRFFhRHZQM3VoeXhkOW4yazVPT0tTeGs2dUc3eTJLTjdOM3JVTTB0bWNYRUpxMzc0Z1QyR1JTNW8vR3BXTGdCNzc3bjlPUWx1dWYydmRPclVrUXQrY1RicDZXbDhPdTF6Z0RvWFdOWjJ6RkdINDh2SnFocGxYNzloSTB1WGZjLzN5MWZneXg3THhiODVqNy9lL3doMzMvOHdkLzFsYW8wdUxidFRTVWtKM3k5ZlFjZU9IUnBNdmtYYUt5WGdPK250VmJPNWFQamhWY3MvR1RDZXo5ZDlHNWNMSDNmV3dxSTFqTzBjbVdpaWYycFgrcVIwcmlwMWFJeXVTUjBZbUY1ZDE3aXdzT0VMY1hiRWhjTVA0OURla1duclY1ZitXS09tM1JFWnZZWElIMElOSmQ4QTg3YXNaTjQzMjU4Rk5EWUJYN3AxSFNzYTJUZmQxM1VZS2RHV2xGK3NYMENvRVg5OEpIaThqTzgydk1IdEc4dUxlSDNsN3FtRERGbVk1NWRPMytZK3BhRUtYbDh4YTdjOHZrZzhiTjZ5aGFtMzNNbmlKVXNaT21Rd1UvOTRWWVBKTjBTNmRkeCt5NDNjOStCamZQbVZuNnV1bThwdnpqK1hRdzgrb002KzRiQ3hZdVZLdnYxdUlkOHVXTWkzM3kxaytZcVZEQnM2aEwvZWZoTnIxcTdqMCtrelNFbEpKbnZzNk8zR3VuN0RSZ0o1K2Z6eTdEUDVZZlVhdnZ3cVFOOCt2Um0xei9hdmM0a3RjVm01S2pJNVhQL29xUHYra3ljeS83dUYvTy90OTNqNGIwOXgrODAzYnZkOFRTRjM5aHlDd1NDajl0bTdXUjVQcERWUkFyNlRQbDd6TmFjTm5FQzM1TWpYWlYyUzBybDhyMk81NmV1WFduUzljNnh2TmkrdlNzQUJqdTJYd3hPTFBtejA4VWYweWF3eDhqdjd4NlZORXRmcWtoK3J6dnU3UFkvbXN0eG5xMHBiQnFmM0pDMWFyLzd0bGxWTjhuaDlVNnUvUG41dHhTdytYZnRObzQ1N2ROejU5UFpHNmtFZi91NGR0b1lhTVJObVFpcmpKelNjZ0l0STAxbThkQm0zM1hrdmE5ZXRKM1AwU0s3OXcrOUlUZDErT1VOcVNnclhYSGtaTDc3OEdpLzgrMlVlZlBRSkZpOVp5bm5ubm9YWDYyWHIxbUx1dU9jQkZpeGNSSEZ4U1kzanhvNFp4ZVNKNHlrdkwrZmVCeCtsb3FLQ0U0NDl2bEdQVzFoWVNHSmlJaDA3ZHVDRmY3K0VtWEhNVVlkWHRSK3NMTVdvckt1dVR6Z2NablorNUp2RDJKazhmM24ybVhnOUhrNDU4Ymp0eHRGVVB2L2lLNEFhRjZUdURMTjQ5MlVTYVhwS3dIZFMwTUk4dWVnanJ0N25oS3AxWXpvUDVFK2pmOElkQmE4M0tobUxsZUM4dTFTK3NUTStXbFBBNllNbVZTVzdSL1lkeTh3TkN4bzFPK0xnOUI2Y05HRGZxdVhDWUNuVDF6Wk5mZnFySzJZeHRzc1F4blFlU0xma2p0d3c2aFJ1bXZzU3hhRnlKdmFvL2hyM204MHJtdVR4QnNSMEZJbG41NDl6aHg3SUVYMHlkK2tjeVo3cVNhS2VuM1RwTHAzcmdXL2Y0b3YxQzNicEhDTHg4dW0wR1R6MDJCT1VsMWR3NkVFSGNPR3ZmbEZ2SGZYcTFXc0FTS25WNDlzNXgyay9PWW4rL2ZweTMwT1A4YjkzM21mcDk4dTUrb3BMeWVqVUtUcTVUcGlzek5HTUdUMlMwU1AzWWRqUXdYZzhIalp1M01UVVcrNWczdnp2R0RKNElLZjk1S1FhNTA1UGoxdzdzM0ZqOVFYOW16ZHY0Y2ZObStuWHR5L09PVWFQMm9jMTY5Wnp5SUZUcXZicDNhc25IVHQySURjdm41dHZ2N3VxVTBxbGNEak13a1dMV2JMMGUvWWFNWnp1TVNVeUNRbGV6anYzckFaZnI3ZmUvWUIzM20vOEFFejFZOWFmSEMvN2Zqa3p2dnlLcEtSRUprL2NiNGZQRyt2Yjd5Sy9oMnIvRzRtMFprckFkOEdYR3hidytrby9KL1NydnVKOWRNWkE3dmY5Z244dCs1eVBWbis5M2M0a3d6cjA0cGkrMld3Tmx2TFU0bTNQTk5iVU5wUVZNbjN0ZlBidkdmbDYwSVBqanlOUDV2R0ZIL0RSbXE4YmpEeTd5eEIrdDljeE5TYkVlWDNGTENxYThBK0krNzk5aTN1eXp5WWpNWTA5Ty9ibHBqR25jY2MzcjFlVnBnQjhzWDdiTGEwYUk4V1R5SUMwNmcrcFZUdlFxN3lwSlRvdktaNm1tM0o1VjgvbGJhWUpwa1NhMmcrcjEzRC93MzhqSEE1ejdzOS94a25ISDFPMTdaWFgzK1RkOXoraVU2ZE9KSGk5Zkxjd2NwSGtpT0hENmozWHBBbjcwYU43TjI2NTR4NFdMMTdLaG8yYnlPalVpWnR1dUlaZVBYdlVTT3JMeXNwNCs3MFArYzhycjFOVXRKWEJnd2J5NXh1dXFUT1ZlcjgrdlVsUFQyUDZqSmxzTFM0aE9TbVJSWXVYRWc0Ym8wYnVYZlc0a3liVVRGd1RFeE81NHJMZjhzampUK01QMUgrZGhuT08wU1AzNXRMZi9ucUhYck9lUFhzd2VOQ0FIVG9HWU9teTVheGR1NjdPK21mLzhVL01qUDBuVDl6aCt1OWI3N3lIN3hZc0lqa3BpVkE0elByMWtiTEFvVU1HYmVkSWtkWkRDZmd1K3Z2aVQrbVlrTUxCdmFxL1l1dVcxSUhmRGorQ3M0Y2N3T3hOUzFoWXVJYk5GY1dVaHNwSjlTYlJPU21kd2VrOTJEdWpIejJUTXdEaWRnSG5rNHMrWkhUbmdWVjEwRW1lQkM0ZWNTUW5EOWlQV1JzWHNYenJlb3FDWmFSNEUrbVQycG5zTGtOclRJUURrVktRVjVkLzFhUnhiU3d2NHNZNUwzTFRtRlBKU0V4aldJZGVQT0Q3UlZWU1diQjVPYXRMTisveTQ0enNQS0NxWi9hNnNpMzFkbkZwTHZPM3JDTEpzMnR2eWNrOTlxcXFTLzlnemR4ZG11QjQ5VFl1WEJWcHlmcjA3c1h2THY0MWFhbHBkYnArOU96Um5kVnIxcko2VGFSN1VvY082Ung2ME9GTTJLLytHU0lCUmd6Zmc3dHZ1NGwxNnpkVWxYWDA2MXQzb3ErMTY5Ynp3cjlmcHJ5OG5DTVBPNFR6emoyejNucno1T1JrZm4vSmhUejE3SFBrNXVVRGtlUTZjOHdvZm5icXlkdDhibG1abzNuaTRYc3BMUzJqdkx4bTIxVG5IR2xwcVhWYUxUYUdMeXR6cHlmaWVldmREK3FzSHpWeWI3NloveTFubkhiS2RzK1JucDVPUmthbnFqOW1CdmJ2aHorUVZ6VzZucHljekpSSjQrdjhRU0xTbXJYY09iaTM0OFRQN21wUlJXRW45ZCtYczRaTTJlbHVHRyt0eXF1My92b2gzeS9wbHhyNW12SDc0dlZjRm5oMmwrS3N6NUQwbnR3dzZwUnQ5cEp1eUx3dEs3bXQ0RlVLZzZXTjJ2K01RWlA1NmNEeEFKejl4Y1BidklnU1lFQmFOMjRlYzFxZDN0ZC9tdnNmNXZ5NGJJZmpyZTJTRVVkVy9mSDA3Zy81UExidy9VWWYrK2k0OCttZEVxa0JQMnZHZzQydUFmLzdoTjhDa1F0TUw1ejE1RTVFM2JCdGRVRnBUVjdiL3crdDluZVROS2paWjhMY2xtQXdCRmlUVDVIdXo1MU50NjVkNjB5SzAxS0Z3MkhLeXN0SlRFaG84dGZpdXdVTEdURjhqNTArUGh3T0V3Nkg4WHE5VlhYd3pjVTUxNWxtbkFuVGw1T3o0eC9BMHFydDNQU0hVc2VySzc3aUV2L1RmTDd1MngxT2VSWVZyV0htaHZqVjJpN1p1cFkvekg2T0dldS9hM1RzeGFGeVh2eitDMjZjODJLamsrK2Q4VVBKSnZJMzFVMjBMeDV4QkVmMnlhd3hqZnlPU3ZZa01ySDdubFhMZVp2cW55WlpSTnFlaEFSdmt5ZWNBTDdzc2EwbStRYndlRHlrcHFUc2x0ZGlWNUp2aU1TV2tKRFE3TW0zU0hOUUNVb1RXbFd5aWJ2bnYwRzNKWitRM1dVSVk3c01wbTlxRnpJUzAraVltRXJZd3BTR0t0aFVYc1NLa28wc0tGeE4zc1lsZkYrOFB0NmhzNkdza0x2bS9aZithZDBZMzIwNG96c1BvSGRxWnpvbXBKTG9TV0Jyc0pRdEZTVXNMbHJEMXo4dTU4c05DeWphallrM3dJaU9mYmh3K09FTVRxODdnMXlQNUU3OGVvL0QrTW5BQ2J6L3d4dytYLzl0bzlzSFZqcXE3OWlxY28zU1VFVzlpWDVUNjVoWWZSRlI2eHliRmhFUmtWMmxCSHczMkZCV3lQdXI1L0QrNmptN2ZLNkwvVTgzUVVTTnQ2SjRBeThWYitDbDVWODI2K1BHR3B6ZWcxTUhUbUJDOStxT0oyR01meStid2J6Tkt6bG42QUVNNnhDWk9LaGJVZ2RPSHpTUjB3ZE5aRVh4QnI3Y3NJRDVXMWF4c0hEMU5udXlwM2dUT2JGL2RjM24rNnZuVU5wRU16OG1lUklJVzdqT1JEcEpuZ1IrT25CQzFYTHQyVWhGUkVTa2ZWQUNMaTFDb3ZNeXJ0c3dqdTZiemNpTS9qVzJyUzNiekNQZnZVZCt0T2I3eXJ4L01LWEgzcHcyYUVKVmZUeEEvN1J1L0NTbW84bjZza0tXYkYzTCtySkNOcFFWc3FtOGlNVkZhMW02ZFIxbkR6bWdxcTQ4WkdIZVdCbG9zdWR5VE45c3poNnlQeFVXb2pSVVRua29pQUdkazlKSmNOVlZYMHVLMWpiWlk0cUlpRWpyb1FSYzRxcERRZ3JuRFR1WS9icnRRYXEzWnJlQXNuQUYvMTNoNTZYbE15a1BCMnRzbTdadUh0UFd6V09malA0YzNuc01FN3FQcU5OQnBIdHlSN3BISjBxQ3lDajZkZm4veElNanE4dVFxdlVmcnBuTHVySXRUZmFjRmhWRitnb25PaStKQ2FuMXZzc3FMTlNrU2IrSWlFaFRNN1A3Z2ZPQWZPQTQ1MXo4ZXZXMk1VckFKYTZLZ3FWVWhJTTFrdS9pVURsdnI4cmp2eXY5YktuWWRwZVViemF2NEp2TksvamJ3ZzhZMDNrZ21WMEdrOWw1VUkzWkxTdTl1VEpRTlh2bVh3cGU0ZmF4WjFJU0xPUFp4Wi91Vk94clM2dVQ5bERNQmZMTHRxNmpORnhCb3ZOV3RUaXNGTFF3MzI1WnhmTkxwN1dJMm44UkVaSDZtRmszb0hKR3Q0bkFpY0RUMFcxOWdIdUFJNGxjMGpRVCtKMXo3dHRhNThnQ1poRnArakhGT2ZkNTgwVGY4aWtCbDdoN2ZPRUhERXp2amdjUDc2K2V3N1MxODNhNEhyc2tWTTdNRFF1WnVXRWhBRjJpdmRZSHBuVm5RSHAzTWhKVGVYN3A5S3I5bHhkdjRLNXZYc2M1UjBtb3ZLSFRidE9mNXI1WTcvck5GY1g4N1BQN3E1WVRuQmRQOUNyKzJpUDVJdTFJamV1T3pXeXRjNjVudklJUmFZaVoxYTRQYksvWHpHOEV2Z0wyQllxQUdRQm01Z0grQjJRQnE0QXlJb240SjJZMjNEbFhGTjNQQ3p3SmVJRkhsWHpYMUdwNys3UzBQdUN5YTd6T1E4aDJTNXRWYVlYVUI3eE5ja1EraUJPQXBOTFMwbGVUazVNUGpuTk1JbldVbFpWOWxKS1NjaEtSUHVCQklOSTBmamRvNlgzQXpTd0p5QVlXT2VmV1JkZjlCUGdQTUlkSWNoNEVQZ0VtQStjNTV5cEh5ZjhBM0Ftc0JQWnh6alZkcldjYm9EN2cwaUlvK1JacFY2eWtwT1RyZUFjaFVwL28vMDBOOGdIT3VYTG4zSmVWeVhkVVp2VG5lODY1TXVkY0NQZzR1bTRFZ0prTkJhWkcxMTJrNUxzdUplQWlJdEpjclBJMmMrYk01ODFzNStxL1JIYWY4aGt6WnZ5RG1QK3JjWTVudHpHelVXYjJySmt0TkxNU005dGtabCtaMmRFeCs2eXdhcU9pcXl0bndJc3RZNjZjNUtMeVBmMFlrQWE4NUp6NzcyNTlJcTJVRW5BUkVXa3VSblJhN3lPUFBQSzdEUnMyUEJEdmdFUmlyVnUzN3M1ampqbG1JZFhUejdmSkJOek1EZ1VDd0RuQU1DSUpkR2RnSERCbU80Zm5SbitlYkdaRG82UGRwMGJYZldwbTV3Q0hBVDhDbHpSMTdHMkZFbkFSRVdrT0Z2TXpESVRPT3V1c2V5b3FLaGJGTVNhUkt1WGw1VjlQbUREaFFTSTEzN0hKZDF0TXdxOEhLdHVQM1Uva2dzcURnR3VCNWRzNTloWGdTMkFnc0NoNkd3UzhDc3dGL2hyZDcwcm4zT3FtRGJ2dFVCY1VFUkZwTHBWZjZZZUIwTHZ2dmxzeVo4NmNLM055Y2w2TmMxd2lvZW5UcDErMmFOR2ljbW9tNEcweCtRYm9IblAvYytmYzdPajlUN1ozb0hNdWJHWkhBSmNEazRoMFFYa2IrQnZ3ZDZBYmtacndwODNzZE9BblFEcVI1UHl1V3ZYazdaWkd3RVZFcERsVmxhRUFRWi9QOTJsMmRuYS9kZXZXVlk0OGlqU24wTHAxNng3T3pzNGVlTWdoaCtRUjZlalJwc3RQb3FiSDNQKzNtYjFyWm1kR3U1NXNsM051aTNOdXFuUHVNT2Zjc2M2NWg0SERnWjhCcGNDdmlYUkErU2R3Q3BFMmhYOEE4czJzN2tRZDdaQVNjQkVSYVM0MVJzQ0pKRHNWZVhsNXhUMTc5cnpwalRmZU9HVGx5cFUzRnhZV3ZoVUtoZlRWdGV3V29WQm9kV0ZoNFZzclY2Njg1WTAzM2ppa1o4K2VVL1B5OG9xQkNxcmJEcmIxRWZEcnFPNWM0b2drejg4QkM4d3NlMGRQWm1ZZGdFZWppMzhtOHZwZFFTUVpud1QwQVdaSGYxNjhTNUczRVNwQkVSR1I1bFNaMElScnJRc2ZmL3p4YzRBQ0lvTkRMdVltMGxSaXU1dFUvaUZZKzliV2syK2lVOG9mYkdiN0EyY1R1WWl5STVHNjd1ZUJ2WGZ3bExkR2o4MEg3bzZlMHdFZk8rY3FKL0I1SEhnRUdOMFV6NkcxVXdJdUlpTE5yVEw1cWJ3Zlc1WVNvbVlDWGttSnVPd0txM1cvOXYrNXlwK1Y2OXRzOGcyUldTcWRjeUhuM0dmQVoyYjJKK0JiSXJYYWU1bFpoOG9aTFJ0eHJuMkpqR3FIZ1BPZGM4R1lVcGJOTWJ0V25xOVJaUzV0blJKd0VSR0poOHBFeDBYdmUyS1dLeE53VU9JdFRhdDJONTdZUkx6TjkvNk84Ym1adlV0a2V2bDF3SDVBYW5UYmVtQnJZMDVpWm9sRXBwdjNBUGM0NS96UlRmT2lQOGVhbVhQT0daRVdoMURkeHJCZFV3SXVJaUx4RXBzTXhTYmtHdjJXM2FHK1VmRGFTWGQ3U0w0QmVnTTMxclBlZ0d1akNYTmpYRVdrcEdRSmNFUE0rcytBTDRBSlJIcURyeVJTNXJLT1NMZVVkcS9WSnVCbXRzWTUxeXZlY1loSTB6S3pOZkdPUVpwVjdhUUlOUG90dTFkOXlYWjdTYndyUFFXY0JBd2hNdks5RXBnRjNPZWMrN0l4SnpDekVVVDZpUVA4eGpsWFhMbk5PV2RtZGpMd0FIQVVrQTI4QzF6dW5OUHZlRnB4QWs2a1orVVI4UTVEUkpwWWRUOWFhVjlxSjBPTzlwY1VTZk5wMS8rM25ITTNBemMzWXIvKzI5ajJIZFZsSy9WdFgwMzFESmxTUyt0TndJM1pPQ1hnSW0yT29RUmNvSjBuU0NMU3RyWGFQdUFlaitkcE04cmlIWWVJTkNVcnQwVHZrL0dPUWtSRVpIZHF0UW40cTFPdStNN0I3ZkdPUTBTYWpobC8rdS9FeXhmR093NFJFWkhkcWRVbTRBQ0ozYmYreGJCdjR4MkhpT3c2TS9KZTM3LzR6bmpISVNJaXNydTE2Z1Q4UHlPbmxudmcxL0dPUTBSMmtSRnlDZlpMM05UdzluY1dFUkZwM1ZwMUFnN3c2djVYZmJvOHJWTVNjQnRHS043eGlNZ09NRUptM0xFOHZWUHFhNU91MHNXWElpTFNMclNwSHFzbmZYN1hxSERRam5TTzhXWnV2SFAwaTNkTUlsS1RHU3Vkc3kvRHVKbGVMMisvT3VrUFg4YzdKaEdSZVBEbjVxN0dyS012SnljOTNyRkk4MnE5YlFqckVmMGcxNGQ1T3pVck4vZHNaL1ovQUFhZmpjdkpPU0RlTVltSWlJalUxcVpHd0tWOW16OS9mc2Vpb3FJTk9KY0lXRGdscGUrK0kwZXVqbmRjSWlJaTlabmw5NjkyenZVd21CYnZXRm9ERDd5UWs1UHplTHpqYUFxdHZnWmNwTkplZSsxVmlITnZSaGVkUUZSbHR3QUFJQUJKUkVGVUt5MzlXVndERWhFUjJSYm5Db0hpN2U0bmJVNmJLa0VSY2ZBdmc1T2k5eThBN28xelNDSWlJdlZ5TUIvWVBDNG41OEI0eHlMTlN5UGcwcVowNnRUcGRUUGJHRjNjMisvM0h4N1hnRVJFUkVScVVRSXViY3J3NGNQTG5NZnpVT1d5T2ZmN2VNWWpJaUlpVXBzU2NHbHpraE1USHpHeklJQ0RJd09Cd043eGprbEVSRVNra2hKd2FYTkdqeDY5eGpuM1hPVnlHSDRYejNoRVJFUkVZaWtCbHpiSndaMHg5ODhwS0Nqb0dzOTRSRVJFUkNvcEFaYzJLU2NuWng3d1VYUXh1YmkwOU1KNHhpTWlJaUpTU1FtNHRGa083cXRhTUx2a1l6TzEzUlFSRVpHNFV3SXViVloyZHZhYlpyWVl3RG5YcTBOZW5pYm1FUkVSa2JoVEFpNXRsblBPUE03ZFU3VWlITDQ4anVHSWlJaUlBRXJBcFkwenMyZk1yQkRBT1RjMk56ZjNnSGpISkNJaUl1MmJFbkJwMDN3K1h6SE9QVnE1SEE2SE5UR1BpSWlJeEpVU2NHbnpraElTSGdUQ0FEaDMvS3c1YzRiR055SVJFUkZwejVTQVM1dVhtWm01d3VBLzBVWG55c3MxTVkrSWlJakVqUkp3YVJjU1BKN2JZeGJQbXo5L2ZzZTRCU01pSWlMdG1oSndhUmV5c3JKbUczd0JnSE5wUlVWRnY0NXpTQ0lpSXRKT0tRR1hkc09aM1Z1OTRQNlFuNStmSHNkd1JFUkVwSjFTQWk3dFJrNU96c3RtOWwxMHNXZDVNUGlIdUFZa0lpSWk3WklTY0drM25ITmh2TjZxTm9RT3JzelB6KzhaejVoRVJFU2svVkVDTHUzS3VLeXN0ekQ3T0xxWVhsRlJjV3RjQXhJUkVaRjJSd200dER1V21IaHAxWUp6djV3OWUvYUlPSVlqSWlJaTdZd1NjR2wzeG1WbWZnMDhIMTMwQklQQmU3ZTF2NGlJaUVoVFVnSXU3VktDMTNzMVpoVUFPSGUwMys4L0tNNGhpWWlJU0R1aEJGemFwYkZqeDY3RXVmc3JsdzBlaUdjOElpSWkwbjRvQVpkMks5aXAwODFtdGdYQU9UZHFWbTd1eitNZGs0aUlpTFI5U3NDbDNSby9mUGdXbkp0YXVlek1ibHV5WkVsS1BHTVNFUkZwaWN5c1h6M3JFczNzTmpOYllXWmJ6Y3h2WmtmWHMxOEhNMXRtRWRjMlQ4UXRteEp3YWRlYzJVUEEwdWhpdncyYk5sMFd6M2hFUkVSYUNqTkxNN003ekd3dU1MK2VYZTRHcmdFNkFZdUJIT0JOTXh0WGE3OWJnWUhBSE9DdTNSaHlxNkVFWE5vMW44OVhZYzVWL1RWdTRmQjFCUVVGWGVNWms0aUlTQXZSRmJnS0dBVzQyQTFtMWd2NExWQUdqSEhPalFadWorNTNTY3grK3dFWEEySGdmT2Rjc0hsQ2I5bVVnRXU3Tnk0NysxK1k1UUk0NXpxVmxKVDhLZDR4aVlpSXRIQ2pBQzh3MXpsWCtVM3krOUdmSXlCU29nSThRU1Rmdk44NU42dlpvMnlobElDTEFGNnZ0L3F2ZGZodFhsN2U0SGpHSXlJaXNqdVoyU2d6ZTliTUZwcFppWmx0TXJPdkttdTR6V3crc0R6bWtIU3JkanFSNUJzZ0lXYWZ5dXVveXFNL3J3WkdFeW4xdkdIM1BadldSd200Q0pDVmxUWEQ0QTBBNTV3M0dBN2ZIZStZUkVSRWRnY3pPeFFJQU9jQXc0Z2t6cDJCY2NDWVJwNW1EaEFFeHBqWm9XYldHYmd3dXUxVE14c0JYQjlkL28xemJtdFR4ZDhXS0FFWGlVcjBlcTgwc3hDQWcxTnljM01QaVhkTUlpSWl1OEgxUUZMMC92MUFGbkFRY0MzVm85NlhFNm54cmxRRy9DeDZtK0djV3czY1F5U1hmQi9ZQkJ3TExBTHVJMUo2a2d3ODU1eDdkM2MrbWRiSWJYOFhrZmJESHdqY0JWd1pYVnlKMlVpZno3YzVuakdKaUVqYjVBOEUzZ0Q2K0hKeWZNMzV1R2IyTlRBeXVuaXFjKzQvRGV6WG4rcUVmS3R6cmtPdDdRNDREemlCeUNqNlYwU1M4bE9BdndIcmdiMkpqTEpmQ1BRajBpM2xNZWRjWGxNK3A5WkdJK0FpTVZKVFV2NElMSXd1OXNPNSsrSVpqNGlJeUc0d1BlYit2ODNzWFRNNzA4eVNHanlpSHM0NWM4NDk2Wnc3empsM21IUHVqMFJHMXUrSTd2SjdZRkwwOGM0QkRnVitCY3cwc3ltNy9qUmFMeVhnSWpGR2poeFpibDd2bVlCRlY1M3I5L3VQaVdkTUlpSWlUZXc2NE9Qb2ZRY2NEandITERDejdGMDg5ME5FNnNuZkJaNEhIaUJ5b2VhbFFBYndOSkFJVEczb0JPMkJFbkNSV3NhTkhmdVZSV3JpSXB4NzJ1LzNaOFF4SkJFUmtTYmpuTnZvbkRzWU9BQjRDaWlNYmhwSUpHbmVLV1oySW5BeXNCWDREVEFrZXM0aTRHSG4zQllpay9kQXBEdEt1NlVFWEtRZUZUMTdYZ2NzaXk3MkpQSVh2SWlJU0t0blpsNEE1OXhuenJuemlkUnBWM1lwMmN2TUttdTl5Mk1PU3pPemp0czRaeWZnNGVqaTlkSGU0SlVsTFVYT3VYRGwvZWpQSFNwM2FXdVVnSXZVWStLQUFTV1luVVZsS1lwelo2c1VSVVJFMm9qUHplelBablpFdE9Ua2VDQTF1bTA5MWNuNE9xQWtldDhCTDVyWnRXWTJvWjV6M2duMEJXWlJQV2kxbUVnUzN6TjZRU2RFV2gwQzVEYlpzMm1GbElDTE5NRG44MDNIN0tHcUZTcEZFUkdSdHFFM2NDUHdEcEYrNEk4UXlRa051Tlk1WnhDNXlCSjRJZWE0STRHL0FJTmlUMlptazRsY1hCa2tNdDE4T0hwOE9YQnY5TndmbWRsVHdKTkVwcVcvZFhjOXVkWkFDYmpJTnBUMzZuVTFNYVVvNXR4RDI5cGZSRVNrRlhnS3lBTitKTkxmZXpId2IyQ2ljKzdKV3Z2K0huZ1VXRUZrTkhzeDhIM2xSak5MSnRMejJ3RjNPdWZtMURyK0JpS2o0NTJBczRBbHdQSE91UStiK0RtMUt1b0RMcklkZnI5L01zNU5xMXBoZHF6UDUvdGZIRU1TRVpFMklGNTl3Q1grTkFJdXNoM1JVcFJIcTFhb0ZFVkVSRVIyZ1JKd2tVWklUVTI5Q2xnWlhleEpwRjVPUkVSRVpJY3BBUmRwaEpFalJ4WjVuRHVuYW9Welo2Z3Jpb2lJaU93TUplQWlqWlNkbmYyaHdlTlZLNXg3WnVhOGVkM2lHSktJaUxSdW03ZlZXMXZhTGlYZ0lqc2dMU1hsQ3FwTFVYcDRpb3RmTVRPOWowUkVaSWNaekhITzdURmorZkxVN2U4dGJZa1NCNUVkVUxzVXhjSCsvdHpjMitNWms0aUl0RTdPYkRiZ1NWcTM3dng0eHlMTlMyMElSWGFDMysrL0Z1ZitVcm5zNEpTY25KeFg0aG1UaUlpMExtYm05UWNDczRBOXd1bnBRL2JiZSs4TjhZNUptb2RHd0VWMmdzL251ODJnS3VFMnMzLzQvZjY5NGhtVGlJaTBMczY1VUlMWGU3Snp6dVBadXZYejJiTm5qNGgzVE5JOE5BSXVzcFA4Zm44YUVNQzVTT0p0dGdqSThmbDhtK01hbUlpSXRDcTV1Ym1aNFhENFh6aTNsOEYvbmRsU2MyNVR2T05xeVR6d1dVNU96a2Z4am1ObktRRVgyUVYrdjM4WWtTUThBOERnQTE5Mjl1SE9PWXR6YUNJaTBzcjQvZjVyemJrcG1HVTU1M3JITzU2V3pPRFdjVGs1MThjN2pwMmxCRnhrRjgzS3pUM1VtYjFIOVAzVTJuOHBpSWlJeU82bEduQ1JYVFF1Ty9zRG5MdXhjdG5CSHpWSmo0aUlpRFJFSStBaVRjVHY5NytKYzVXSmR4Rm00M3crMy95NEJpVWlJaUl0amtiQVJacElhbXJxNlpoVkp0d2RnRGNMQ2dvNnhETW1FUkVSYVhtVWdJczBrWkVqUnhZQnh3SkZBRGczcktTazVGOXhEVXBFUkVSYUhDWGdJazNJNS9NdHd1eDBJTklGeGJsai9INy9EZkdOU2tSRVJGb1MxWUNMN0FhQlFPQlBCbE9qaTJiT0hUNHVPL3VEdUFZbElpSWlMWUlTY0pIZHdNeGNJQkI0by9LaVRETXJUUEI2RDhuS3lwb1Y3OWhFUkVRa3ZsU0NJckliT09jc2VsSG1vdWh5eDFBNC9ON3MyYk5IeGpzMkVSRVJpUzhsNENLN3ljaVJJNHNTRXhNUHcreUg2S3JPd1ZEb285bXpaNCtJYTJBaUlpSVNWMHJBUlhhanpNek1KVjZ2OXdBejJ4aGQxVE1ZQ24zODFkeTVBK0lhbUlpSWlNU05FbkNSM1N3cksydUJ4N21ETU5zY1hkWFhsWlY5a3ArZjN6T3VnWW1JaUVoY0tBRVhhUVk1T1Rsem5IT0hFTzBSN3B3YldsNVI4ZEhNZWZPNnhUazBFUkVSYVdaS3dFV2FTVTVPVHNEQllXWldDdUNjRytrdEx2NXcvdno1SGVNZG00aUlpRFFmdFNFVWFXYXpjbk1QZFdiL0E1SUFER1k0czhOOFBsOXhuRU1URVJHUlpxQVJjSkZtTmk0Nyt3UHplRTR5c3hDQWc0bkEvd29LQ3BMaUhKcUlpSWcwQXlYZ0luRXdMaXZyTFk5elp3SmhBSnc3c0tTMDlHVXo4OFkzTWhFUkVkbmRsSUNMeEVsT1RzNi96Ymx6WTFZZEd3Z0UvbUZtZWwrS2lJaTBZZnFnRjRtamNkblovekM0cEdxRmN6OEw1T1krRmNlUVJFUkVaRGRUQWk0U1orTnljaDR5dUQ1bTFibitRT0E1bGFPSWlJaTBUZXFDSXRKQytBT0J1NEFySzVjTlB1aVlubjd5WG52dFZSakhzRVJFUktTSktRRVhhVUg4Z2NEandBV1Z5MlpXWUttcGgrNDdjdVRxT0lZbElpSWlUVWdsS0NJdGlDOG41MWNHdDFZdU8rZEd1cEtTV2JQeTgvZU1aMXdpSWlMU2REUUNMdElDemNyTi9TWGg4T1BPdVVnZHVObG1qOGR6VkhaMjloZHhEazFFUkVSMmtSSndrUlpxVm03dW9TNGNmaDNuMHFLcnlzempPVzFjVnRicmNRMU1SRVJFZG9sS1VFUmFxSEhaMlI5NHZkNUpabFpaLzUzc3d1RlhBNEhBNytJYW1JaUlpT3dTallDTHRIRDUrZm45eXlzcTNuSE9qYXhhYWZab1RrN09iNTF6RnNmUVJFUkVaQ2NvQVJkcEJlYlBuOSt4Y092V054d2NVTFhTN1BXTWpJelRoZzhmWGhiSDBFUkVSR1FIS1FFWGFTWDhmbjhpemowRG5GbTV6dUFMWjNhVXorZmJITWZRUkVSRVpBY29BUmRwWlFLQndKOE1wbFl1bTltM1NZbUpoMlptWnE2SVoxd2lJaUxTT0VyQVJWcWhRQ0J3WnRqcy8yTGFGSzRIVHZYNWZCL0hOeklSRVJIWkhuVkJFV21GY25KeW5zZmpPZExNSXRQVU85Y2Q1ejcwKy8yM201azN6dUdKaUlqSU5tZ0VYS1FWbXoxNzlzaUtZUEFkNTF6L21OVmZocE9TVHQxMzlPamxjUXRNUkVSRUdxUVJjSkZXYk96WXNRVU9zakI3TDJiMWVFOVoyVnkvMzM5TTNBSVRFUkdSQm1rRVhLU05DQVFDdnpPNEEwaXFYR2R3bnpPN3l1ZnpWY1F4TkJFUkVZbWhCRnlrRGNuTnpjME1oOE12NDl5d21OWDVYby9ueEt5c3JLVnhDMHhFUkVTcXFBUkZwQTNKenM3T0I4WVlQQjJ6T2pNVURzLzErLzBueGlzdUVSRVJxYVlSY0pFMktoQUluR3BtaitOY1J0VktzOGN5TWpKK3A5a3pSVVJFNGtjSnVFZ2I5dFhjdVFNODVlVXZBdU1yMTVsWmdZTVRmRDdmb2ppR0ppSWkwbTRwQVJkcDQ4ek02OC9OL2JPRGE2a3NPek1yQmg3TXlNajRrMGJEUlVSRW1wY1NjSkYyd3UvM1R3WmV4TGsrbGV2TWJMSEh1WE56Y25LbXhURTBFUkdSZGtVSnVFZzdNbWZPbkM3bDVlWC93TG1hUGNMTm5nS3U4UGw4bStNVG1ZaUlTUHVoQkZ5a0hmTDcvUmZoM01PeDY4eHNqY2U1UzNOeWNsNk1WMXdpSWlMdGdSSndrWFlxTnpmWEZ3NkhuOGE1MFRVMm1QMFB1TURuOC8wUW44aEVSRVRhTmlYZ0l1MlltWGx6YzNNdk43T3BPSmNXczM0THpsM2x5ODUrM0RsbjhZeFJSRVNrclZFQ0xpTGs1dVlPQ29mRHorRGNRYlUyZmVuMWVNN095c3BhRUpmQVJFUkUyaUFsNENKU3hlLzNuNEZ6OXdFOVlsYVhHZHpzek83MCtYd1Y4WXBOUkVTa3JWQUNMaUkxekprenAwdFpSY1ZmSGZ3aWRyMlpmZWZnYXAvUDkxcThZaE1SRVdrTGxJQ0xTTDBDZ2NDVXNObXp6cm1oTlRhWXpmUjRQQmRuWjJmNzR4U2FpSWhJcSthSmR3QWkwakxsNU9STTY1eVJzUTltdDJCV1hYcmkzSDVoczFsK3YvL0Z2THk4d1hFTVVVU2tYbVoycHBtdE43UEZaclp2STQvNXhLcWR1THRqbFBaTkNiaUlOR2o0OE9GbFBwL3Zoc1RFeEQweCt5ZFEzUkhGdVorR3d1RnYvWUhBZlhQbXpPa1N2eWhGUk9xNEJ1Z0dEQUV1M3BVVG1WbWltZDFtWml2TWJLdVorYzNzNkhyMjYyQm15NklKL0xXNzhwalM5aWtCRjVIdHlzek1YT0x6K2M3d09EY3EyaWU4VWhKd1dYbDUrWkpaZ2NCVkJRVUZTZkdLVWRvY3A5c3UzZHE3ZDZJL0RYaC9GODkxTjVHRXZoT3dHTWdCM2pTemNiWDJ1eFVZQ013Qjd0ckZ4NVEyVG05U0VkbGhnVUJndk1HOXdQZ2FHOHkrZDg3OU1UczcrM24xRDVjZDVPcTVyOCtvbldPMWZ0YSszeTZZMlZpZ3lEbTNzSkg3ZndJY0VGMDh5VG4zbXBuMUFsWUNRV0F2NTl4U003dU5TRUwrRCtmYzJkRmo5d05tUkk4ZDc1eWIxWlRQUmRvZS9YSVRrWjBXQ0FTT0RKdjl4VG1YRmJ2ZXpMNzJSaTdVL0RSZXNVbXJFWnRzTnpTS3E4K3F4cW1kY05lKzFkNUhZalNRZ0I4Q2ZBRDRuWFBqb3ZzZERId0l6SFRPalRlelJDQUFqQWJ1ZGM1ZEhvZndwWlZKaUhjQUl0SjY1ZVRrdkFPOEV3Z0V6alN6UCtQY01BRG4zS2l3MlNkK3YvOS9IbzlucWpxbVNBTmlrMjNQMHFWTFIvZnExZXVJaElTRWZiMWU3NzdPdWI1eGpxOVZNck5Wb1ZEb3EyQXdPSFBObWpYdkRSNDhlQzZSeER0Y3VVc2N3MnNXWnZZY2NHWjA4UkxuM0VNeDJ3WUFOd0ZIQVoyQmVjRDFEWnpLRy8wWm15K2xSSCtXUjM5ZVRTVDVYZ3Jjc012Qmk0aUlOSmFaZWYxKy8vbXovUDdsL2tEQVltK3pBb0hQQTRIQVNXYW1rVXlwNUlna040bTMzMzU3Um1scDZkMW1GalJwYXNIUzB0STdMN3Jvb2c1QVl2UTFiL1B2UXpON0x1WTF1RGhtL1RBeis2R2UxNm5jekZiRkxKOFkzYiszbVZXWVdjak1Eald6em1iMlJuU2ZtODFzaEptVlJwZVBpTjh6bHRhbXpiOEpSYVI1TFZpd0lIbHpZZUZ2Q1lldnhibnV0VFl2eE95ZThsNjlucDA0WUVCSlhBS1Vsc0FSYVFMZ1dieDRjZGFnUVlPZTgzZzh3K01kVkZzV0RvZnpWNjFhOWVzQkF3YmtFaGtKRDlPR1I4S3RnUkZ3TS9zSU9DaTYva2ZnVWFBTXVCRG9GWE9LazV4enIwV1B1UU80cXRaRExBTDJBMTRCOWdlZWM4NzlmRGM4RldtajFBVkZSSnJVOE9IRHkzeloyZmNBZzNEdVVqTmJFck41RDV4N0pISE5tdVgrM053L3o1dzNyMXU4NHBTNHFTbzVlZWloaHpvTkhqejRuMHErZHorUHg1UFpyMSsvVnkrNTVKSlVJcC85N2E1YmlwbnRSWFh5RFhDNGMrNDY1OXlmZ2NsQWFRT0hYZ05jQUx4SnBCNzhMMFNTNzFPSUpOL3JnZCtiMlg1bTlxeVp2VzltZnpPenJBYk9KOUsrM253aTB2ek16Qk1JQkU0eHVOSTV0Mit0YmFVNDkzY1AzSldUazlPb1RnWFNxbFVsMzBCQ2NYSHhYMU5UVXkrS2MwenRTa2xKeVQxcGFXbC9KTkxWbzNJa3ZNMnBid1Rjekg0QlBCMWRONnVlMzBlZkFWT2lpMVVqNEEyY3Z3L3dEWkVhOHA4RGhjQkwxS3dWcndBT2NjNU4yOVhuSTIyUFJzQkZaTGR5em9WOVB0OS94dmw4K3puWTMrQy9STC82ZHM2bE9QaVZ3WGV6QW9IL0JnS0JLZHM1bmJSK2xSZGNUa3hOVGYxTnZJTnBiMUpUVTMrM2JObXlTYlRQVWZDZU1mZS9yMmQ3NFE2YzZ5RWl5ZmU3d1BQQUEwU1M3MHVCRENLSmZpSXdkYWNpbFRaUENiaUlOSnVjbkp4cDQzSnlUbkF3d3VCeE02djh5dGM1T003Z3MxbUJ3RmQrdi8rblpxYmZUMjFQMVFoNG56NTlMa0tmUWZIZzZkMjc5eTlvbndsNGJJbEpmZVZ2QXh0emt1Z0ZtaWNEVzRIZkVKbHRjeUJRQkR6c25OdENaUEllaUhSSEVhbER2L3hFcE5ubDVPUXNISmVUOCt0d2VucC9uTHZKekRaVWJuTXdEdWRlRE9UbWZ1LzMrMitibForL1p6eGpsU1lUMisvYjQvRjQ5TzhhSjlIWHZqSUJoL2FUaE0rUHVUL1J6QVpYTHBqWkpHRFU5azVnWnAyQWg2T0wxenZubGhLWkVSZ2lrLzVVbHZRVVJYOXFkbUNwVjN0NTA0bElDelpqK2ZMVXBEVnJmb0Z6dndmMnFHZVhMdzJlZFdiLzh2bDhtNXM3UG1rU1ZiWGZRR0k0SEY3cG5Pc1U1NWphSlRQYjR2RjQraEdwVWE2c0JXOVRIVkVhcUFGUEJwWURQYUxyVndLUEUrbnIvVnNpVTgxWHFyY0czTXdlQTM0TnpDSXk0MlhZekpLSWxLOGtBSU9jY3l2TTdHVGdaZUJqNTl6QlRmOE1wYlZUQWk0aUxZYVp1ZHpjM0pQQ2NLV0RDZlZzTDhXNTF6endiSFoyOWdmT3VWQTg0cFNkVXBtQUp3S0pacllsenZHMGE5RS9maXFpdDNhUmdFZlhud3I4aTdyNXp4cGdNekFpdWx3bkFUZXp5Y0JuUUFqSWNjN05pZGwyTzVFSmVSWUEwNENUaU5TQ0grNmMrN0FKbjVxMEVTcEJFWkVXd3psbk9UazVyNHpMeVpub0lCT3plOHhzVGN6MkZBZW5HN3dUTFZHNVhTVXFyVXA3SzNsb3lkcmx2NFZ6N2tYZ0dHQUdVRUlrNlg2TlNCdkNIeG82TGpwNi9nU1IxK3ZPMk9RNzZnYmdUaUtqNkdjQlM0RGpsWHhMUTlyVkcwOUVXaDh6OC9yejhnN0g3QnpNVG5ET3BkU3owMHc4bm1lOXp2MHJLeXZyeHppRUtkdFhOZk1sa0dSbStuZUtJK2RjWnlKVHFWY1FHZEZ0VXlQZ0lpMmRFbkFSYVRYbXo1L2ZzYWlvNkRUZ0hKeWJYTTh1WlFhVkpTcnZxMFNsUmZGUVhZS2lCRHpPYWlYZ2JiWWZ1RWhMcFFSY1JGcWwzTnpjUVdaMmJ0anNiT2ZjMERvN21LMEgzZ0xlREdaa3ZEdCsrSERWSE1lWEV2QVdSQW00U0h3cEFSZVJWbTlXWHQ0a0Z3NmZnOW1wT0pkUlp3ZXpDbUM2T2ZkR2dzZnpabFpXMW9MbWo3TGRVd0xlZ2lnQkY0a3ZKZUFpMG1iNC9mNUU1OXpCWm5hQ3dYSE91ZjRON0xyQTRFMW45Z1l3M2VmelZUUm5uTzJVRXZBV1JBbTRTSHdwQVJlUk5zdnY5MmViYzhkSEw5NGNXOTgrWnJiRndidm04YnlabHB6ODVzaVJJemMyZDV6dGhCTHdGa1FKdUVoOEtRRVhrWFpoOXV6Wi9VS2gwSWxtZGp6T0hVajlNOVFaTU5mZ00yZjJtY2ZqK1NRN08zdGRNNGZhVnJYWUJEd1lESkdRNE4zcDR5c3FLa2hNVEd6Q2lIWS9KZUFpOGFVRVhFVGFuWUtDZ2c0bEpTVkhtWFBIdTBoUDRDN2IySDFoWlVLZW1KajRXV1ptNXBMbWlyT05hWEVKZURnYzVzbG5uMlBHRjE5eHo1MjMwTFZMNXgwK3gvUVpYL0xNMzE5ZzZ2VlhNNkIvdjkwUTVlNmhCRndrdnBTQWkwaTdabWJldkx5OHlTR3pFMXhrZEh6WWRnNVppZGxuZUR5ZkpYZzgwOGFPSFZ2UUxJRzJmaTB1QVFlNDk4RkgrZVN6ejVrMFlWK3V1dnpTSFQ3K0h5Kzh5RXV2L3BlTWpFN2NkdE1OOU92YkI0QjdIbmlVOHZMeUhUcFhUbFltaHgxeTRBN0hzRE9VZ0l2RWx4SndFWkVZZVhsNWc0Tm1VNXpaRk15bTROeGUyOXJmekRZNG1JN0g4NWtIUHN2S3lzcFQvL0Y2dGNnRWZPT21IL25OSlZlUWtPRGxvWHZ2M0tsUjhQc2Vlb3lQUDUxTzkyNWR1ZTNtRytuWm96dW5ublVlWldWbE8zU2VvNDg0bEYrZmYrNE9QLzdPaUZjQ25wdWIyemRzZHBXWitaeHptVUNINW5qYzFzNlhrNk44clkzUlA2aUl5RFlVRkJSMExTMHRQU0FNVTRBcG1JMTF6aVUwdEwrWmxlQmNBVERIbWMwQjVuaTkzanpOME5uOENmalB6cm1BMHRMUzdlNFhEaHZPT1Z3alBoR3Z2ZkwzN0RzdXU4YTZZRERJalRmZHhvSkZpNW42eDZzWnVjOWVGQllXWWRhNHlTWG5mZnNkZjduejNqYWZnUHY5L3ZOeDdsNmdnNW5sNGR3bmdQcnpiNGR6THVqTHpyNGwzbkZJMDJyd1EwUkVSQ0RhRmVYVjZBMi8zNTltemsxME1JVndlQXF3SDg2bFZlN3ZuRXNGZklDdk1xTUxoY1A0QTRGVkJuT0lKT2I1bHBnNHAyak1tUGtIT1JkczlpZlZUb1JDWWNKaFk5alF3YnQ4cnJYcjFsTllXRVRZSW5scVlWRVJiNzcxTHYzNzlXWEtwQWxjKzRmZnMyVHBNa2J1RS9uQ3BHUEh5TUJ1TUJnaUhBNlRsTlR3UlpwcGFXa05ibXNyQW9IQUx3eWVNUGd3S1NIaEFsMUxJZTJkRW5BUmtSM2c4L21LZ1EraU56NDJTK2dZQ09RQVU4eTVLWmhOZHM1MXJlZlF2Zzc2QWtmaUhDNFlwR051YnJrL0VKaG5NYVBsNGRUVU9mdU9ITG02K1o1UjI1YVFrTUE5ZCt6NjRPR0RqejdCQng5OVdyVmNWTFNWZi8zblZmWWRsODJVU1JQbzJMRURZMGFQckhQY24vOXlKM1BtRnZEQ3M0K1RudDcyRSszNmZGVlEwTnRLU3g4MGVIdGNUczdSOFk1SHBDVlFBaTRpc2d1aUk5Z3pvN2U3SVZKSEhnNkhSd09qd3pBYXM5SEFudldVcmlRQm1RNHlLMGZMUGFXbCtQMyt6VGkzRkxPbE9MZlV3Vkl6VytyMWVwY0NTMVhPc21zS3ZwblBvMDg4dzhVWG5zOWVJNFpYcmErb3FPQ20yKzVtOU1oOU9QbUVZMGhJMEVka1UvQ1VsRnlFYzVhU2xQU0xlTWNpMGxMb3Q0dUlTQlBMeXNwYUNpd0YzcWhjNS9mN0V4M3NEWXcyczlIbTNCak1SdGM3VzZkekdVU1M4a3lJTkNmSE9VTGhjT1c1cWhKMGMyNkpNMXRxWHU5U3I5blNjRGk4MU9memJkNzl6N0xsTytiSXd3aUhxMHVidzJIanhaZGY0OTh2dlVJNGJMei80U2MxRXZCbDN5OW42Ykx2bVRPM2dJOC9uY1pGdi9vbG8wZnRBOERZTWFOSlRVbWhUKzllemY0OFdqM25KaGxNR3oxNjlKcDRoeUxTVWlnQkZ4RnBCdEhwN3VkRWIxVytYTENnVStLV0xaa1dHU1VmYlRBYUdPMmM2OVRneVdJU2RCZFp4b1hEa2F2b25NUHY5eGNENjNGdUhiRGVZQjJ3SGxqdnFiNGYyV2EyTGljblo2TnpyczIxb1R2bnJOT3I3bS9jdUltL1B2QUlYeGZNSXlIQnkvbm5uc2t4UngxZVkvODloZzNsa2Z2dTRzbG4vOEVubjMzTzlYLytDd2NmT0lWZm5uTW1VeWFOWjhxazhRMCsxdlFaWC9MSzYyL1dXYjlxVmFTYTZJOVRiOEhqOGRUWmZ1ZXRVM2YyNmJVYVpqWWhldkdsaUVRcEFSY1JpYVB4dzRkdkFhWkZiMVh5OC9ON2hzUGhRVUd6UVM0Y0htek9EUUlHT1JpRTJhQm9FbDYveUVXaEE2TzNHdTJ1NnZUbGNJNUFiaTZ6L1A2TndEcm4zRnJNTmxLWnFIczg2d3pXZTh6V09PZEtRODRGUGVGd3lPUHhoSUxPQlQyaFVNanI5WVlxbkF0NmdzRlFRa0pDcUtLaUl1VHhlSUtKaVltaHNyS3lrTmZyRGY3d3d3L2h1WFBuMnRWWFg5MnNGNTJHUWlIZWV1ZDkvdm5pSzJ3dExtWkEvMzVjZnRsRkRCMDhxTjc5TzNic3dPOHZ1WkJKRS9iajRiODl4VWVmVENPUWw4K0ZGL3lTQ2Z2NUdueWNZRERFMXEzRk5kYUZ3MkZLb2wxWXRoYVg0R2xNbTVVMnh1LzNKK0pjcWtIeDl2Y1dhVCtVZ0l1SXRFQ1ptWmxyZ2JYQXJQcTI1K2ZucHdlRHdXSEFvSEIxWWo3WW5JdmNoNTQ3OG5qUkMwZTdBbnZXNk1kbmhpT1N1SnNaemd3ajB0bWxjbjB3RktxNlh4RU1nbk9FelNnckw2OHFuZW5lb3djSEhIZ2cwei8vbkdCRnhRNi9IanRqZHY1Y25uejJPWmF2V0lsemptT1BPcHh6enZyWk5qdVNWTnJYbDgzZWU0M2c0Y2VlNG91WnM3ajk3dnZZZi9KRWZuUCt1ZlZlVEhuZy9wTTRjUDlKTmRiOSs2VlhlZUhmTHdOdzM1MjN0dHVMTUVXa0xpWGdJaUt0VUdabTVsYnFLV21wOUxGWlF2ZXZ2KzVXVVZIUnpjeTZoVDJlcnBoMTg1aDFNN091T05mTm9CdlF6VVdYaVN3bk4rUFQyRzBlZWZ4cDNuMy9Jd0Q2OWUzREpSZGV3TjU3amRpaGMzVHMwSUZycnJ5TTl6LzhoTWVmL2p1ZlRaL0Jnb1dMZVBDZTI3ZDc3TEx2bC9QaXk2L3RWT3pOd1I4SU5PdUZ2TTVzZitEVzVueE1rWlpNQ2JpSVNCc1U3YzZ5Sm5wcnRQejgvUFNLaW9wdWxwRFF6UnNPZDdWSXd0N05JaVBrYWM0c0dVZ3k1NUpyM0lja3pKTE51U1FIeVJiZDVweEx4aXpKekpKZDVYNncyNGVDanp2NkNQeUIyUng5NUtIOHVIa0xUenp6OTEwNjMxMS9tY3BkOXo3RUtTY2RSMkxpdGtmUXk4c3J1UGZCUjNIT1E2K2VYVm16ZGgxUFB2c1B1bmZyeXM5T1BhWGVXdkRtRmd3R3AzczhuckR6ZUJvM1c5RE9Db2VkODNqMmQ4NHQyNjJQSTlMS0tBRVhFWkVxMFpIMXJjRDNUWHpxWnAwSmMwRC9mano1NkgxNFBCN3V2T2RCbGl5dFAvOHpvMnJHU28rbjRScnRnUVA2Yy8vZHQ1R1E0TjN1WXovNnhOTXNXZm85dnp6N0RQeDUrYXhadTQ1djVuM0w2alZyS1pqM0xWZGU5bHU2ZHUyeWMwK3NpWXpmYjc5amFZYVpNUDErZnlKUUhnWWw0Q0l4bElDTGlFaWJWRG5TZk5YbGx6UzR6N1RQditEdSt4NW04c1R4L09IM0YyL25mTnQvek5mZmZKdVBQcGxHNXVpUkhIZk1VZmp6OGdINHkwM1g4OHpmWDJEYTUxOXkyUit1NDVvckxxdWFOVk5FMnAvNGZ3OG1JaUxTQm56MHlUU2Uvci9uNmRhMUsxZjg3cmMxUnRSVGtsTzQ4bmNYODh0enpxUitoS1F6QUFBSkRrbEVRVlN3c0lnYmJycU45ejc4T0k3UmlrZzhhUVJjUkVSa0Y3Mzkzb2M4L3RTenBLYWs4TWVyTHllalUvMXQzRTg0OWlpNmRNN2czZ2NmNCtISG5xSjcxNjRrSmlVMWM3UWlFbTlLd0VWRVJIYkI1MTk4eFdOUFBFTkNRZ0xYWEhrWnc0WU8zdWIrKzArZVNHcHFLbm41YzhuT3ltUnV3YnhtaWxSRVdnb2w0Q0lpSXJ0Z3duNCtEanBnTWdjZE1JWE0wU01iZGN5NG5Dekc1V1R0NXNoRXBLVlNBaTRpSXJJTFBCNFB2N3Y0Tnp0OWZEZ1VBc0MxdzVreVJkb3JKZUFpSXRMbUZCWVdjZTJOTjI5M3YrTGlFZ0J5WitkejhlK3YzdTcrcDU1eUF2dFBudGpvT1BiZWN3UXBLY2w0dlEyM0w1eVZPeHVBTGwwNk4vcThJdEs2S1FFWEVaRTJKeHdPczNiZCtrYnRtNXljVENqVXVQMUxTa3AzS0k0elRqdWx4dkovLy9jT2I3LzdBU25KeVhnVHZHemV2SVcxNjliam5DTnI3SmdkT3JlSXRGNUt3RVZFcE0zSnlPakVpODg5RmU4dzZ1alR1eGVyZmxoZHRlenhlT2pYdHcrbi9lUWs5aGc2Skk2UmlVaHpVc0daaUlnMGgyYWRDYk9sQzRWQ2hNTmh2TjZFYmM3QXViczQ1enJ6LyszZFc0aGRWeDNIOGU4eU43V3hqVVpHMU9JTkxDcTlhQ2JUa0thdG9URVlqTVMwNG9NUThLWFdCQy9nZzFneExkRWFsU2hWVzRNVnBRaGFYOFFIbVJwb0pnbUUxRURJbVk2T3NRL1Mxb2daQ1U1RDBjbk5tVG56OTJIdDNkazVqSlBiekQ2VE05OFBIUGI5N0xYM0RzbnZyS3k5VmwwallhWTBHckM5cDd0NzUyeWNRN29XV1FNdVNWTE5GaXhZTUcyN2NFbWR6WkV3SlVtU3BCb1p3Q1ZKa3FRYUdjQWxTWktrR2huQUpVbVNwQm9ad0NWSmtxNUNSQ3lLaU85RXhJbUlPQk1SallqNDJCVDdMWTJJdjBmMnRYYVVWWE9EQVZ5U0pPbnFmQjk0RUxnZWVBbm9CcDZPaUo2Vy9YWUM3d0FHZ2UvVldrTE5LUVp3U1ZJZDRvS0ZpSCsxcXlEejNSVDNQcWJjVVpja0l0NENmQjc0TDNCclN1a1c0THZrc1ZhK1dObHZGZkFGY3Avcjk2ZVV4dHRRWE0wUkJuQkpVcDBDaU5IUjBXUHRMc2g4VmR6N3dPQTlVMjRHRmdCL1Rpa2RMOWIxRmRPYklEZFJBWDVHemwwL1Npa2RyYjJVbWxNTTRKS2t1c1c1YytjTTRHMVMzUHVPRGQ4UnNTY21QVkJaLzdxSU9GL1o5dDdLdGwyVjlSdUtkWGRHeEJNUk1WaTA2ejRmRWM5SHhNTVJzYmh5eW5KRXBlcmdocTh0cHFQRjlLdkFMY0J4NEtHWnZtWmRld3pna3FTNmxMV3VjZVRJa2FjaVl2UmlCMmpHalI0K2ZQaVhWSjVGbThzekcvWlc1bGRWNXRjQVMxcVdTeXVLNlhuZ1lESC9jK0J6NU9EOCt1TFk5d1BmQUg1VE9YWVFHQWR1allpUFJNUXlZRnV4N1dCRTNBUnNMNWEzcHBUT1hNbEZxYk1Zd0NWSmRRbHkrOWVKRFJzMi9QWFVxVk9QdGJ0QTg4M3c4UEN1alJzM3ZrRHhIT2o4QUg1N1pYNWR5MzVUQmZCREthVnp4ZnhaNEFuZzQ4QnR3R2JnUkxGdFUvbUNaVXJwSlBBb09WUDFBYThVeDd3SS9KRGM5R1FKOEt1VTBqTlhmbG5xSkFad1NWSWRvaktkQUpwYnRteDVkR3hzN01VMmxtbmVXYjE2OWVOQWt3dkRkMGVGOEpUUzgwd0c1UTlFeE5KaXZnemdmeXltYXdBaTRqM0FHNHQxMVlDOExxVzBMYVgwKzVUU1lFcnBkMEQxUitOZGxma0hnYzhDVHdQN2dHK1RhOTgvQ2R3TnZBeDhPU0pXUmNRdklxSXZJbjRhRVIrNjJ1dVZKRW1hVGlLM2wxMU0vaS85WlkxR1kzTm8xbzJQai8ranI2OXZMYkNzdVBlTGkyZVJadk9CTnhxTlJZMysvamphMy8vMTJUeFBxNGg0c25MNWF5UGlob2dZajRobTVEYmNFUkVURWZHbWlQaFVaZCtiSzkreE1DTHVpNGpISStKQVJCd3ZqaS90dkVnWjNob1JyeFQ3Ym9tSVQwVEVXTXVqR1kySXU2YjdIblVtYThBbFNYVjZ0UmtLTUw1eTVjcURLMWFzZVB2dzhIQlpNNnVaMVJ3ZUh0N2QwOU96YXYzNjlYOGl0MVh1NU9ZbnBkWm1LR3ZKUHpqNnliWFVrSDk4M0VIdXN4dmdueW1sWXdBUnNSdzRDdnlXM0hYZzNjWCtmNnQ4N3dLbTkyUHlENTVuZ0tmSXRlY0xnUzhCTndCUEFvdUFIWmQ5ZGJybUdjQWxTWFVwWC9xYklJZnRjV0JzWUdEZ2JGZFgxemQ3ZTN2WERRME5QVEl5TXJLbjJXeWViR3RKcjJITlp2UGt5TWpJbnFHaG9XLzE5dmF1NitycTJqRXdNSEFXR0NQZjgyb1RsRTRONGZ1WXZMYmJtV3grc3AvY0JPWGZ4ZklhSmdONHRmbkpJOEFIaS9tdkFHOUlLYjBUMkhVcEo0K0l6Y0I5d0JsZ0svQnU4Z0E4cDRIZEthWC9rQWZ2Z2Z5U3ArYVpoUmZmUlpLa0dWT0dvb21XZFJPYk5tMGFCUDVDcmh4S2xZOHVYYlYzay9LSFR1dW4wOE0zS2FXWEkyS0EvSEpsTi9DdVl0TytsTkpFUkR3TGJDU0g4eklBVndQNEhjVTB5UDEyanhYTEg3N1l1U1BpZW1CM3NiZzlwWFE4SXQ1WExKOU9LWlYvOWs4WDA4Vm8zakdBUzVMcVZvYkRjcjdhTEtYSmhRRzhaQkNmWHJUTXQ5N1RjbHF1Nzlqd1hiR1hITUJ2Qk41TTdtTHdEOFcyZytRQWZodXduSHhQOWxXT0xjTnhBaDZMaUY3Z284Q25MK0c4dTRDM2tadXdsQzl0dmtUdUU3d3JJbTVNS1owQXltSHFuN3ZzSzlNMXp3QXVTV3FITWdpbVl2NDFsZVV5Z0lQQiszSzE5alpURGVLZDNQZjNWUGFTZXlkWkNDd0Y5cWVVemhmYnlyNitseGZUUmtycFZPWFlYelBaVGVIVzRnTzVDVXRyZDRhdmlvZzdnUWZJVFgzdUwydTdVMHFqRWZFRDhvQThCeUxpRUhBditibE0rektuT3BNQlhKTFVMdFd3V0EzazFuNWZtYWxxd1Z0RDkzd0ozNUJydTg4QTF4WEwreXZibmlQWGNwZGRGRlpmMmdUNENYazB5MjNrR3ZRWHlGMExYc2YvQ2VBUnNZVGM1M2NDZHFXVUJsdDJlYWpZOWhsZ0MzQU1lRGlsdEIvTk8vNmxKa21hQzZZSzNQNGJkV1dtQ3R0dENkNk5SbU1SS1kwR2JPL3A3cmFtVnlwWUF5NUptZ3RhdzJKaWZ0WFd6alR2blRTSEdjQWxTWE9SQVZKU3g3SWZjRW1TSktsR0JuQkpraVNwUmdad1NaSWtxVVlHY0VtU0pLbEdCbkJKa2lTcFJnWndTWklrcVVZT2NpQkprbVpObzc4L2dBTUJoOXBkbGs3VTA5MjlvOTFsME9XekgzQkpralRiN2tsd1Q3c0wwYUVNNEpJa1NaSWtTWklrU1pJa1NaSWtTWklrU1pJa1NaSWtTWklrU1pJa1NaSWtTWklrU1pJa1NaSWtTWklrU1pJa1NaSWtTWklrU1pJa1NaSWtTWklrU1pJa1NaSWtTWklrU1pJa1NaSWtTWklrU1pJa1NaSWtTWklrU1pJa1NaSWtTWklrU1pJa1NaSWtTWklrU1pJa1NaSWtTWklrU1pJa1NaSWtTWklrU1pJa1NaSWtTWklrU1pJa1NaSWtTWklrU1pJa1NaSWtTWklrU1pJa1NaSWtTWklrU1pJa1NaSWtTWklrU1pJa1NaSWtTWklrU1pJa1NaTG1pdjhCSktKelJNWDJJY0lBQUFBQVNVVk9SSzVDWUlJPSIsCgkiVGhlbWUiIDogIiIsCgkiVHlwZSIgOiAibWluZCIsCgkiVmVyc2lvbiIgOiAiIgp9Cg=="/>
    </extobj>
  </extobjs>
</s:customData>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11.xml>��
</file>

<file path=customXml/itemProps220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customXml/itemProps221.xml><?xml version="1.0" encoding="utf-8"?>
<ds:datastoreItem xmlns:ds="http://schemas.openxmlformats.org/officeDocument/2006/customXml" ds:itemID="{f7bc79f2-c455-434b-bca9-875aecb91bf3}">
  <ds:schemaRefs/>
</ds:datastoreItem>
</file>

<file path=customXml/itemProps222.xml><?xml version="1.0" encoding="utf-8"?>
<ds:datastoreItem xmlns:ds="http://schemas.openxmlformats.org/officeDocument/2006/customXml" ds:itemID="{3c132078-98b1-4deb-b4fd-a1bec46831f1}">
  <ds:schemaRefs/>
</ds:datastoreItem>
</file>

<file path=customXml/itemProps223.xml><?xml version="1.0" encoding="utf-8"?>
<ds:datastoreItem xmlns:ds="http://schemas.openxmlformats.org/officeDocument/2006/customXml" ds:itemID="{c5c661d3-4756-4449-af8a-01387bd7a269}">
  <ds:schemaRefs/>
</ds:datastoreItem>
</file>

<file path=customXml/itemProps224.xml><?xml version="1.0" encoding="utf-8"?>
<ds:datastoreItem xmlns:ds="http://schemas.openxmlformats.org/officeDocument/2006/customXml" ds:itemID="{58dabdbb-c60f-4057-89a4-b5f24a98f472}">
  <ds:schemaRefs/>
</ds:datastoreItem>
</file>

<file path=customXml/itemProps225.xml><?xml version="1.0" encoding="utf-8"?>
<ds:datastoreItem xmlns:ds="http://schemas.openxmlformats.org/officeDocument/2006/customXml" ds:itemID="{6ad86b82-52b5-47a8-ba6d-e9bbe075a083}">
  <ds:schemaRefs/>
</ds:datastoreItem>
</file>

<file path=customXml/itemProps226.xml><?xml version="1.0" encoding="utf-8"?>
<ds:datastoreItem xmlns:ds="http://schemas.openxmlformats.org/officeDocument/2006/customXml" ds:itemID="{8fd2a99b-51ca-42d4-8a98-ac38bf31ee8f}">
  <ds:schemaRefs/>
</ds:datastoreItem>
</file>

<file path=customXml/itemProps227.xml><?xml version="1.0" encoding="utf-8"?>
<ds:datastoreItem xmlns:ds="http://schemas.openxmlformats.org/officeDocument/2006/customXml" ds:itemID="{667e9340-f440-47f7-819a-cdc7dab5fa96}">
  <ds:schemaRefs/>
</ds:datastoreItem>
</file>

<file path=customXml/itemProps228.xml><?xml version="1.0" encoding="utf-8"?>
<ds:datastoreItem xmlns:ds="http://schemas.openxmlformats.org/officeDocument/2006/customXml" ds:itemID="{ae649005-3b55-4298-8017-458659bde268}">
  <ds:schemaRefs/>
</ds:datastoreItem>
</file>

<file path=customXml/itemProps229.xml><?xml version="1.0" encoding="utf-8"?>
<ds:datastoreItem xmlns:ds="http://schemas.openxmlformats.org/officeDocument/2006/customXml" ds:itemID="{eb8fafd0-aa01-4764-b4e6-708160bc6a19}">
  <ds:schemaRefs/>
</ds:datastoreItem>
</file>

<file path=customXml/itemProps230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5458</Words>
  <Application>WPS 演示</Application>
  <PresentationFormat/>
  <Paragraphs>418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2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Wingdings</vt:lpstr>
      <vt:lpstr>微软雅黑</vt:lpstr>
      <vt:lpstr>Arial Unicode MS</vt:lpstr>
      <vt:lpstr>Helvetica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1708</cp:revision>
  <dcterms:created xsi:type="dcterms:W3CDTF">2019-02-26T11:09:00Z</dcterms:created>
  <dcterms:modified xsi:type="dcterms:W3CDTF">2024-09-24T14:58:32Z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