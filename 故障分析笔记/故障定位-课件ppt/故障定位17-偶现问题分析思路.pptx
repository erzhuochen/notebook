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0"/>
  </p:handoutMasterIdLst>
  <p:sldIdLst>
    <p:sldId id="406" r:id="rId3"/>
    <p:sldId id="360" r:id="rId4"/>
    <p:sldId id="689" r:id="rId5"/>
    <p:sldId id="702" r:id="rId7"/>
    <p:sldId id="703" r:id="rId8"/>
    <p:sldId id="714" r:id="rId9"/>
    <p:sldId id="726" r:id="rId10"/>
    <p:sldId id="727" r:id="rId11"/>
    <p:sldId id="719" r:id="rId12"/>
    <p:sldId id="720" r:id="rId13"/>
    <p:sldId id="721" r:id="rId14"/>
    <p:sldId id="723" r:id="rId15"/>
    <p:sldId id="724" r:id="rId16"/>
    <p:sldId id="725" r:id="rId17"/>
    <p:sldId id="712" r:id="rId18"/>
    <p:sldId id="713" r:id="rId19"/>
  </p:sldIdLst>
  <p:sldSz cx="12192000" cy="6858000"/>
  <p:notesSz cx="6858000" cy="9144000"/>
  <p:custDataLst>
    <p:tags r:id="rId34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53.xml"/><Relationship Id="rId33" Type="http://schemas.openxmlformats.org/officeDocument/2006/relationships/customXml" Target="../customXml/item10.xml"/><Relationship Id="rId32" Type="http://schemas.openxmlformats.org/officeDocument/2006/relationships/customXml" Target="../customXml/item9.xml"/><Relationship Id="rId31" Type="http://schemas.openxmlformats.org/officeDocument/2006/relationships/customXml" Target="../customXml/item8.xml"/><Relationship Id="rId30" Type="http://schemas.openxmlformats.org/officeDocument/2006/relationships/customXml" Target="../customXml/item7.xml"/><Relationship Id="rId3" Type="http://schemas.openxmlformats.org/officeDocument/2006/relationships/slide" Target="slides/slide1.xml"/><Relationship Id="rId29" Type="http://schemas.openxmlformats.org/officeDocument/2006/relationships/customXml" Target="../customXml/item6.xml"/><Relationship Id="rId28" Type="http://schemas.openxmlformats.org/officeDocument/2006/relationships/customXml" Target="../customXml/item5.xml"/><Relationship Id="rId27" Type="http://schemas.openxmlformats.org/officeDocument/2006/relationships/customXml" Target="../customXml/item4.xml"/><Relationship Id="rId26" Type="http://schemas.openxmlformats.org/officeDocument/2006/relationships/customXml" Target="../customXml/item3.xml"/><Relationship Id="rId25" Type="http://schemas.openxmlformats.org/officeDocument/2006/relationships/customXml" Target="../customXml/item2.xml"/><Relationship Id="rId24" Type="http://schemas.openxmlformats.org/officeDocument/2006/relationships/customXml" Target="../customXml/item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.xml"/><Relationship Id="rId4" Type="http://schemas.openxmlformats.org/officeDocument/2006/relationships/image" Target="../media/image8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image" Target="../media/image11.png"/><Relationship Id="rId7" Type="http://schemas.openxmlformats.org/officeDocument/2006/relationships/tags" Target="../tags/tag30.xml"/><Relationship Id="rId6" Type="http://schemas.openxmlformats.org/officeDocument/2006/relationships/image" Target="../media/image10.png"/><Relationship Id="rId5" Type="http://schemas.openxmlformats.org/officeDocument/2006/relationships/tags" Target="../tags/tag29.xml"/><Relationship Id="rId4" Type="http://schemas.openxmlformats.org/officeDocument/2006/relationships/image" Target="../media/image9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2.png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偶现问题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分析思路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600" b="1">
                <a:solidFill>
                  <a:schemeClr val="bg1"/>
                </a:solidFill>
                <a:latin typeface="+mj-ea"/>
                <a:ea typeface="+mj-ea"/>
                <a:cs typeface="+mj-ea"/>
                <a:sym typeface="OPlusSans 3.0" panose="00000500000000000000" charset="-122"/>
              </a:rPr>
              <a:t>偶现问题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分析思路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偶现问题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分析思路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39470" y="1056640"/>
            <a:ext cx="10615295" cy="44494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相信大家也一定遇到过这种场景，一些接口平均耗时挺小的，但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偶尔耗时会抖动一下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，耗时很高，体现在耗时监控上，就是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p99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指标会很高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，还有些时候，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或内存占用偶尔会很高。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这种偶现问题，诊断难度取决于问题出现频率，毕竟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不可能一直盯着系统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，所以需要一些不一样的分析思路。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分析这种问题，可考虑如下思路：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使用带有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事件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过滤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的诊断工具，等待问题出现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采集每一个事件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，问题出现后停止，然后做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case by case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分析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挂诊断脚本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，检测到问题出现后运行诊断工具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其它方式，如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压测尝试重现、添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加更详细的日志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事件过滤的诊断工具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39470" y="1052830"/>
            <a:ext cx="10940415" cy="11328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watch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stack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命令，都可以添加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耗时过滤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条件，以实现只监测高耗时问题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如果耗时高问题很偶现，为避免等待，可添加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&amp;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让其后台运行，将输出记录在日志中，如下：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1" name="图片 11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3570" y="2185670"/>
            <a:ext cx="10988040" cy="2886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事件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过滤的诊断工具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39470" y="1052830"/>
            <a:ext cx="10940415" cy="22936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但由于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 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只能观察下一层子方法耗时，如果每次都手动追踪下一耗时方法，这会导致分析过程很慢。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解决办法是，可以通过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挂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shell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脚本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，检测日志输出，当发现耗时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case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产生时，自动通过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listenerId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添加下一层子方法的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事件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过滤的诊断工具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39470" y="1052830"/>
            <a:ext cx="10376535" cy="11639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offcputime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工具，采集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offcpu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调用栈时，也可以通过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-m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过滤离开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的时间，用此可找到那些耗时极高的调用栈，如下：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6" name="图片 115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71905" y="2348548"/>
            <a:ext cx="9467850" cy="1666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473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事件过滤的诊断工具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高耗时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07670" y="908685"/>
            <a:ext cx="11334750" cy="5549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0640060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采集每一个事件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case by case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15695"/>
            <a:ext cx="10615295" cy="26371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偶现的问题，也可以通过采集每一个事件，然后再分析</a:t>
            </a:r>
            <a:r>
              <a:rPr lang="en-US" alt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case</a:t>
            </a: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出现时间段的事件数据，以找到问题原因。</a:t>
            </a:r>
            <a:endParaRPr lang="zh-CN" altLang="en-US" sz="2000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000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举例：偶现的高耗时问题</a:t>
            </a:r>
            <a:endParaRPr lang="zh-CN" altLang="en-US" sz="24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可以使用</a:t>
            </a:r>
            <a:r>
              <a:rPr lang="en-US" alt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 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profiler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wall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模式采集，并将采集数据保存为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jfr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格式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r>
              <a:rPr kumimoji="0" 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它会将每次采集的线程快照保存起来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，适合诊断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偶尔耗时高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问题，以及优化</a:t>
            </a:r>
            <a:r>
              <a:rPr kumimoji="0" lang="en-US" alt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p99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长耗时。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50" name="图片 14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99198" y="4098290"/>
            <a:ext cx="8067675" cy="1066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0640060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采集每一个事件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case by case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996950"/>
            <a:ext cx="10615295" cy="14592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由于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profiler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并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不适合单次执行太长时间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对于一些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非常偶现的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case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，比如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1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天才出现一次，可以使用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shell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脚本来循环采集，直到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case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出现后，停止脚本即可。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9" name="图片 148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760" y="2348865"/>
            <a:ext cx="9772650" cy="228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056005" y="4797425"/>
            <a:ext cx="10615295" cy="6788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jfr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文件可以通过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jmc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工具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来分析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0640060" cy="5588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采集每一个事件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case by case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5370" y="840740"/>
            <a:ext cx="10615295" cy="6788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比如通过日志系统发现，</a:t>
            </a:r>
            <a:r>
              <a:rPr lang="zh-CN" altLang="en-US" sz="20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http-nio-8080-exec-28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线程在</a:t>
            </a:r>
            <a:r>
              <a:rPr lang="zh-CN" altLang="en-US" sz="20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21:14:10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到</a:t>
            </a:r>
            <a:r>
              <a:rPr lang="zh-CN" altLang="en-US" sz="2000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21:14:18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时间段是一次耗时近8s的慢调用，</a:t>
            </a:r>
            <a:r>
              <a:rPr lang="zh-CN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r>
              <a:rPr lang="en-US" altLang="zh-CN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jmc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打开</a:t>
            </a:r>
            <a:r>
              <a:rPr lang="en-US" altLang="zh-CN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jfr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，在</a:t>
            </a:r>
            <a:r>
              <a:rPr lang="en-US" altLang="zh-CN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jmc</a:t>
            </a:r>
            <a:r>
              <a:rPr lang="zh-CN" altLang="en-US" sz="2000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中找到此线程此时段的调用栈，如下：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22935" y="1612265"/>
            <a:ext cx="10927080" cy="4992370"/>
            <a:chOff x="981" y="2805"/>
            <a:chExt cx="17208" cy="7862"/>
          </a:xfrm>
        </p:grpSpPr>
        <p:grpSp>
          <p:nvGrpSpPr>
            <p:cNvPr id="5" name="组合 4"/>
            <p:cNvGrpSpPr/>
            <p:nvPr/>
          </p:nvGrpSpPr>
          <p:grpSpPr>
            <a:xfrm>
              <a:off x="981" y="2805"/>
              <a:ext cx="17208" cy="7862"/>
              <a:chOff x="981" y="2805"/>
              <a:chExt cx="17208" cy="7862"/>
            </a:xfrm>
          </p:grpSpPr>
          <p:pic>
            <p:nvPicPr>
              <p:cNvPr id="2" name="图片 1"/>
              <p:cNvPicPr/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>
                <a:off x="981" y="2805"/>
                <a:ext cx="17209" cy="786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" name="圆角矩形标注 3"/>
              <p:cNvSpPr/>
              <p:nvPr>
                <p:custDataLst>
                  <p:tags r:id="rId5"/>
                </p:custDataLst>
              </p:nvPr>
            </p:nvSpPr>
            <p:spPr>
              <a:xfrm>
                <a:off x="8012" y="8689"/>
                <a:ext cx="4591" cy="1607"/>
              </a:xfrm>
              <a:prstGeom prst="wedgeRoundRectCallout">
                <a:avLst>
                  <a:gd name="adj1" fmla="val -56708"/>
                  <a:gd name="adj2" fmla="val -34567"/>
                  <a:gd name="adj3" fmla="val 16667"/>
                </a:avLst>
              </a:prstGeom>
              <a:blipFill rotWithShape="1">
                <a:blip r:embed="rId6"/>
                <a:stretch>
                  <a:fillRect/>
                </a:stretch>
              </a:blipFill>
              <a:ln w="31750" cap="flat">
                <a:solidFill>
                  <a:srgbClr val="FF9A2D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6" name="圆角矩形标注 5"/>
              <p:cNvSpPr/>
              <p:nvPr>
                <p:custDataLst>
                  <p:tags r:id="rId7"/>
                </p:custDataLst>
              </p:nvPr>
            </p:nvSpPr>
            <p:spPr>
              <a:xfrm>
                <a:off x="3817" y="6791"/>
                <a:ext cx="3406" cy="999"/>
              </a:xfrm>
              <a:prstGeom prst="wedgeRoundRectCallout">
                <a:avLst>
                  <a:gd name="adj1" fmla="val -33932"/>
                  <a:gd name="adj2" fmla="val 68280"/>
                  <a:gd name="adj3" fmla="val 16667"/>
                </a:avLst>
              </a:prstGeom>
              <a:blipFill rotWithShape="1">
                <a:blip r:embed="rId8"/>
                <a:stretch>
                  <a:fillRect/>
                </a:stretch>
              </a:blipFill>
              <a:ln w="31750" cap="flat">
                <a:solidFill>
                  <a:srgbClr val="FF9A2D"/>
                </a:solidFill>
                <a:prstDash val="solid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</p:grpSp>
        <p:sp>
          <p:nvSpPr>
            <p:cNvPr id="9" name="圆角矩形标注 8"/>
            <p:cNvSpPr/>
            <p:nvPr>
              <p:custDataLst>
                <p:tags r:id="rId9"/>
              </p:custDataLst>
            </p:nvPr>
          </p:nvSpPr>
          <p:spPr>
            <a:xfrm>
              <a:off x="6731" y="4039"/>
              <a:ext cx="5739" cy="1785"/>
            </a:xfrm>
            <a:prstGeom prst="wedgeRoundRectCallout">
              <a:avLst>
                <a:gd name="adj1" fmla="val -50052"/>
                <a:gd name="adj2" fmla="val -56330"/>
                <a:gd name="adj3" fmla="val 16667"/>
              </a:avLst>
            </a:prstGeom>
            <a:blipFill rotWithShape="1">
              <a:blip r:embed="rId10"/>
              <a:stretch>
                <a:fillRect/>
              </a:stretch>
            </a:blipFill>
            <a:ln w="31750" cap="flat">
              <a:solidFill>
                <a:srgbClr val="FF9A2D"/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0640060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采集每一个事件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case by case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15695"/>
            <a:ext cx="10615295" cy="22186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再比如排查耗时问题，最终发现是查数据库慢，但又是很简单的</a:t>
            </a:r>
            <a:r>
              <a:rPr lang="en-US" alt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</a:t>
            </a: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，想看看</a:t>
            </a:r>
            <a:r>
              <a:rPr lang="zh-CN" altLang="en-US" sz="2000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是不是网络抖动</a:t>
            </a: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导致的，这时就又可以通过</a:t>
            </a:r>
            <a:r>
              <a:rPr lang="en-US" altLang="zh-CN" sz="2000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tcpdump</a:t>
            </a: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采集每一个网络包，直到问题出现。</a:t>
            </a:r>
            <a:endParaRPr lang="zh-CN" altLang="en-US" sz="2000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网络流量一般较大，为避免抓包文件占满磁盘，一般需要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滚动保留最近几个抓包文件</a:t>
            </a:r>
            <a:r>
              <a:rPr kumimoji="0" lang="zh-CN" altLang="en-US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，如下：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2" name="图片 11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03705" y="3573145"/>
            <a:ext cx="7067550" cy="137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0640060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挂诊断脚本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15695"/>
            <a:ext cx="10615295" cy="14274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比如像</a:t>
            </a:r>
            <a:r>
              <a:rPr lang="zh-CN" sz="2000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偶尔</a:t>
            </a:r>
            <a:r>
              <a:rPr lang="en-US" altLang="zh-CN" sz="2000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或内存高</a:t>
            </a: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的问题，我们可以通过</a:t>
            </a:r>
            <a:r>
              <a:rPr lang="zh-CN" altLang="en-US" sz="2000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挂</a:t>
            </a:r>
            <a:r>
              <a:rPr lang="en-US" altLang="zh-CN" sz="2000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shell</a:t>
            </a:r>
            <a:r>
              <a:rPr lang="zh-CN" altLang="en-US" sz="2000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脚本</a:t>
            </a: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的方式进一步诊断，比如当检测到</a:t>
            </a:r>
            <a:r>
              <a:rPr lang="en-US" alt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高后，自动开启</a:t>
            </a:r>
            <a:r>
              <a:rPr lang="en-US" alt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 profiler</a:t>
            </a:r>
            <a:r>
              <a:rPr lang="zh-CN" altLang="en-US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绘制火焰图，如下：</a:t>
            </a:r>
            <a:endParaRPr kumimoji="0" lang="zh-CN" altLang="en-US" sz="20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3" name="图片 11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760" y="2493010"/>
            <a:ext cx="9867900" cy="3200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94005"/>
            <a:ext cx="10640060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其它方式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15695"/>
            <a:ext cx="10615295" cy="2987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除上述方法外，还有如下一些常见手段：</a:t>
            </a:r>
            <a:endParaRPr lang="zh-CN" sz="2000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尝试重现问题</a:t>
            </a:r>
            <a:r>
              <a:rPr kumimoji="0" 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，偶现问题可能在高流量压力下才出现，可以压测看看是否能稳定重现。</a:t>
            </a:r>
            <a:endParaRPr kumimoji="0" lang="zh-CN" sz="20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添加更详细日志</a:t>
            </a:r>
            <a:r>
              <a:rPr kumimoji="0" 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，有时可能无法使用诊断工具，如果这个问题有必要找出原因，可以添加更详细日志看看。</a:t>
            </a:r>
            <a:endParaRPr kumimoji="0" lang="zh-CN" sz="20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放平心态</a:t>
            </a:r>
            <a:r>
              <a:rPr kumimoji="0" lang="zh-CN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，偶现问题是最难诊断的一类问题，但大多都不会明显影响线上，所以需要放平心态，有些问题查不出来很正常，甚至可能是偶尔有人踩了一下网线！</a:t>
            </a:r>
            <a:endParaRPr kumimoji="0" lang="zh-CN" sz="20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总结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173480"/>
            <a:ext cx="9980930" cy="48463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偶现问题一般排查难度都较大，可尝试使用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事件过滤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记录所有事件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case by case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挂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shell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脚本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等方法。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trace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可通过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耗时过滤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，过滤出高耗时调用。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 profiler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jfr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模式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记录所有线程栈采集数据，以及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tcpdump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抓包，然后再分析问题时间段的数据。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偶现高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或内存占用，可通过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挂后台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shell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检测脚本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方式排查。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43.xml><?xml version="1.0" encoding="utf-8"?>
<ds:datastoreItem xmlns:ds="http://schemas.openxmlformats.org/officeDocument/2006/customXml" ds:itemID="{f7bc79f2-c455-434b-bca9-875aecb91bf3}">
  <ds:schemaRefs/>
</ds:datastoreItem>
</file>

<file path=customXml/itemProps44.xml><?xml version="1.0" encoding="utf-8"?>
<ds:datastoreItem xmlns:ds="http://schemas.openxmlformats.org/officeDocument/2006/customXml" ds:itemID="{3c132078-98b1-4deb-b4fd-a1bec46831f1}">
  <ds:schemaRefs/>
</ds:datastoreItem>
</file>

<file path=customXml/itemProps45.xml><?xml version="1.0" encoding="utf-8"?>
<ds:datastoreItem xmlns:ds="http://schemas.openxmlformats.org/officeDocument/2006/customXml" ds:itemID="{c5c661d3-4756-4449-af8a-01387bd7a269}">
  <ds:schemaRefs/>
</ds:datastoreItem>
</file>

<file path=customXml/itemProps46.xml><?xml version="1.0" encoding="utf-8"?>
<ds:datastoreItem xmlns:ds="http://schemas.openxmlformats.org/officeDocument/2006/customXml" ds:itemID="{58dabdbb-c60f-4057-89a4-b5f24a98f472}">
  <ds:schemaRefs/>
</ds:datastoreItem>
</file>

<file path=customXml/itemProps47.xml><?xml version="1.0" encoding="utf-8"?>
<ds:datastoreItem xmlns:ds="http://schemas.openxmlformats.org/officeDocument/2006/customXml" ds:itemID="{6ad86b82-52b5-47a8-ba6d-e9bbe075a083}">
  <ds:schemaRefs/>
</ds:datastoreItem>
</file>

<file path=customXml/itemProps48.xml><?xml version="1.0" encoding="utf-8"?>
<ds:datastoreItem xmlns:ds="http://schemas.openxmlformats.org/officeDocument/2006/customXml" ds:itemID="{8fd2a99b-51ca-42d4-8a98-ac38bf31ee8f}">
  <ds:schemaRefs/>
</ds:datastoreItem>
</file>

<file path=customXml/itemProps49.xml><?xml version="1.0" encoding="utf-8"?>
<ds:datastoreItem xmlns:ds="http://schemas.openxmlformats.org/officeDocument/2006/customXml" ds:itemID="{667e9340-f440-47f7-819a-cdc7dab5fa96}">
  <ds:schemaRefs/>
</ds:datastoreItem>
</file>

<file path=customXml/itemProps50.xml><?xml version="1.0" encoding="utf-8"?>
<ds:datastoreItem xmlns:ds="http://schemas.openxmlformats.org/officeDocument/2006/customXml" ds:itemID="{ae649005-3b55-4298-8017-458659bde268}">
  <ds:schemaRefs/>
</ds:datastoreItem>
</file>

<file path=customXml/itemProps51.xml><?xml version="1.0" encoding="utf-8"?>
<ds:datastoreItem xmlns:ds="http://schemas.openxmlformats.org/officeDocument/2006/customXml" ds:itemID="{eb8fafd0-aa01-4764-b4e6-708160bc6a19}">
  <ds:schemaRefs/>
</ds:datastoreItem>
</file>

<file path=customXml/itemProps52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1615</Words>
  <Application>WPS 演示</Application>
  <PresentationFormat/>
  <Paragraphs>84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1925</cp:revision>
  <dcterms:created xsi:type="dcterms:W3CDTF">2019-02-26T11:09:00Z</dcterms:created>
  <dcterms:modified xsi:type="dcterms:W3CDTF">2024-09-21T08:59:51Z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