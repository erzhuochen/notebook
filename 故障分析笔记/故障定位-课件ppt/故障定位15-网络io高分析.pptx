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51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8"/>
  </p:handoutMasterIdLst>
  <p:sldIdLst>
    <p:sldId id="406" r:id="rId3"/>
    <p:sldId id="360" r:id="rId4"/>
    <p:sldId id="639" r:id="rId5"/>
    <p:sldId id="618" r:id="rId7"/>
    <p:sldId id="688" r:id="rId8"/>
    <p:sldId id="689" r:id="rId9"/>
    <p:sldId id="690" r:id="rId10"/>
    <p:sldId id="691" r:id="rId11"/>
    <p:sldId id="679" r:id="rId12"/>
    <p:sldId id="680" r:id="rId13"/>
    <p:sldId id="694" r:id="rId14"/>
    <p:sldId id="695" r:id="rId15"/>
    <p:sldId id="686" r:id="rId16"/>
    <p:sldId id="693" r:id="rId17"/>
  </p:sldIdLst>
  <p:sldSz cx="12192000" cy="6858000"/>
  <p:notesSz cx="6858000" cy="9144000"/>
  <p:custDataLst>
    <p:tags r:id="rId32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3F969A"/>
    <a:srgbClr val="19DEA6"/>
    <a:srgbClr val="FBDF43"/>
    <a:srgbClr val="BDDAB3"/>
    <a:srgbClr val="161E3B"/>
    <a:srgbClr val="FDED42"/>
    <a:srgbClr val="F04238"/>
    <a:srgbClr val="FFB35A"/>
    <a:srgbClr val="FFC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gs" Target="tags/tag51.xml"/><Relationship Id="rId31" Type="http://schemas.openxmlformats.org/officeDocument/2006/relationships/customXml" Target="../customXml/item10.xml"/><Relationship Id="rId30" Type="http://schemas.openxmlformats.org/officeDocument/2006/relationships/customXml" Target="../customXml/item9.xml"/><Relationship Id="rId3" Type="http://schemas.openxmlformats.org/officeDocument/2006/relationships/slide" Target="slides/slide1.xml"/><Relationship Id="rId29" Type="http://schemas.openxmlformats.org/officeDocument/2006/relationships/customXml" Target="../customXml/item8.xml"/><Relationship Id="rId28" Type="http://schemas.openxmlformats.org/officeDocument/2006/relationships/customXml" Target="../customXml/item7.xml"/><Relationship Id="rId27" Type="http://schemas.openxmlformats.org/officeDocument/2006/relationships/customXml" Target="../customXml/item6.xml"/><Relationship Id="rId26" Type="http://schemas.openxmlformats.org/officeDocument/2006/relationships/customXml" Target="../customXml/item5.xml"/><Relationship Id="rId25" Type="http://schemas.openxmlformats.org/officeDocument/2006/relationships/customXml" Target="../customXml/item4.xml"/><Relationship Id="rId24" Type="http://schemas.openxmlformats.org/officeDocument/2006/relationships/customXml" Target="../customXml/item3.xml"/><Relationship Id="rId23" Type="http://schemas.openxmlformats.org/officeDocument/2006/relationships/customXml" Target="../customXml/item2.xml"/><Relationship Id="rId22" Type="http://schemas.openxmlformats.org/officeDocument/2006/relationships/customXml" Target="../customXml/item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/>
        </p:nvSpPr>
        <p:spPr>
          <a:xfrm>
            <a:off x="11274538" y="306425"/>
            <a:ext cx="579873" cy="52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749"/>
                </a:moveTo>
                <a:lnTo>
                  <a:pt x="0" y="851"/>
                </a:lnTo>
                <a:cubicBezTo>
                  <a:pt x="0" y="381"/>
                  <a:pt x="381" y="0"/>
                  <a:pt x="851" y="0"/>
                </a:cubicBezTo>
                <a:lnTo>
                  <a:pt x="20749" y="0"/>
                </a:lnTo>
                <a:cubicBezTo>
                  <a:pt x="21219" y="0"/>
                  <a:pt x="21600" y="381"/>
                  <a:pt x="21600" y="851"/>
                </a:cubicBezTo>
                <a:lnTo>
                  <a:pt x="21600" y="20749"/>
                </a:lnTo>
                <a:cubicBezTo>
                  <a:pt x="21600" y="21219"/>
                  <a:pt x="21219" y="21600"/>
                  <a:pt x="20749" y="21600"/>
                </a:cubicBezTo>
                <a:lnTo>
                  <a:pt x="851" y="21600"/>
                </a:lnTo>
                <a:cubicBezTo>
                  <a:pt x="381" y="21600"/>
                  <a:pt x="0" y="21219"/>
                  <a:pt x="0" y="20749"/>
                </a:cubicBezTo>
                <a:close/>
              </a:path>
            </a:pathLst>
          </a:custGeom>
          <a:gradFill>
            <a:gsLst>
              <a:gs pos="0">
                <a:srgbClr val="FF6A00"/>
              </a:gs>
              <a:gs pos="100000">
                <a:srgbClr val="FF4C00"/>
              </a:gs>
            </a:gsLst>
            <a:lin ang="5400000"/>
          </a:gradFill>
          <a:ln w="3175">
            <a:miter lim="400000"/>
          </a:ln>
        </p:spPr>
        <p:txBody>
          <a:bodyPr lIns="22859" tIns="22859" rIns="22859" bIns="22859" anchor="ctr"/>
          <a:lstStyle/>
          <a:p>
            <a:pPr algn="ctr" defTabSz="457200">
              <a:defRPr sz="120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.xml"/><Relationship Id="rId4" Type="http://schemas.openxmlformats.org/officeDocument/2006/relationships/image" Target="../media/image5.png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9.xml"/><Relationship Id="rId6" Type="http://schemas.openxmlformats.org/officeDocument/2006/relationships/image" Target="../media/image7.png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image" Target="../media/image6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image" Target="../media/image8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1.png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image" Target="../media/image10.png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网络</a:t>
            </a:r>
            <a:r>
              <a:rPr kumimoji="0" lang="en-US" altLang="zh-CN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高占用分析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网络</a:t>
            </a:r>
            <a:r>
              <a:rPr kumimoji="0" lang="en-US" alt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io</a:t>
            </a:r>
            <a:r>
              <a:rPr lang="zh-CN" sz="6600" b="1">
                <a:solidFill>
                  <a:schemeClr val="bg1"/>
                </a:solidFill>
                <a:latin typeface="+mj-ea"/>
                <a:ea typeface="+mj-ea"/>
                <a:cs typeface="+mj-ea"/>
                <a:sym typeface="OPlusSans 3.0" panose="00000500000000000000" charset="-122"/>
              </a:rPr>
              <a:t>高</a:t>
            </a:r>
            <a:r>
              <a:rPr kumimoji="0" 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占用分析</a:t>
            </a:r>
            <a:endParaRPr kumimoji="0" 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7804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高网络io占用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整体情况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767715" y="1772920"/>
            <a:ext cx="8368030" cy="6965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iftop -nN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可以查看网络使用情况，如下：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767715" y="954405"/>
            <a:ext cx="9414510" cy="9137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高网络</a:t>
            </a: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io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占用，分析方法也是逐步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细分资源占用情况，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分</a:t>
            </a: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3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步：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找连接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 -&gt; 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找进程</a:t>
            </a:r>
            <a:r>
              <a:rPr kumimoji="0" lang="en-US" altLang="zh-CN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 -&gt; </a:t>
            </a:r>
            <a:r>
              <a:rPr kumimoji="0" lang="zh-CN" altLang="en-US" sz="2400" b="1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找调用栈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27760" y="2564765"/>
            <a:ext cx="8502650" cy="3695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7804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高网络io占用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找连接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767715" y="840105"/>
            <a:ext cx="8368030" cy="6965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iftop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中，按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S(Shift+s)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可以按源端口查看网络使用情况</a:t>
            </a:r>
            <a:endParaRPr kumimoji="0" lang="en-US" alt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2613"/>
          <a:stretch>
            <a:fillRect/>
          </a:stretch>
        </p:blipFill>
        <p:spPr>
          <a:xfrm>
            <a:off x="839470" y="1536700"/>
            <a:ext cx="8496935" cy="323342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767715" y="4770120"/>
            <a:ext cx="8368030" cy="5232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可以看到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8080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网络流量最大！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7804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高网络io占用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找进程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91995" y="1845310"/>
            <a:ext cx="3087370" cy="71755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839470" y="1198245"/>
            <a:ext cx="8368030" cy="5232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8080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端口网络流量最大，再通过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lsof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找进程。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39470" y="3789045"/>
            <a:ext cx="9652000" cy="229235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839470" y="2997200"/>
            <a:ext cx="8368030" cy="52324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找进程，也可以通过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nethogs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命令找。</a:t>
            </a:r>
            <a:endParaRPr kumimoji="0" 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7804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高网络io占用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17" name="图片 116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71588" y="2132965"/>
            <a:ext cx="7267575" cy="1981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911225" y="1484630"/>
            <a:ext cx="9686925" cy="378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通过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arthas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profiler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，采集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recv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或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send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方法，可以找到调用栈，如下：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911225" y="4226560"/>
            <a:ext cx="9686925" cy="9639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noAutofit/>
          </a:bodyPr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如果是非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Java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程序，可以通过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bcc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的</a:t>
            </a:r>
            <a:r>
              <a:rPr lang="zh-CN" altLang="en-US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stackcount命令来采集调用栈，如下：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  <a:p>
            <a:pPr marL="0" marR="0" indent="0" algn="l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$ 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stackcount-bpfcc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 -f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  <a:t> ip_output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FF9A2D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7804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高网络io占用</a:t>
            </a: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找调用栈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23215" y="981075"/>
            <a:ext cx="11550015" cy="5009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调优</a:t>
            </a:r>
            <a:endParaRPr kumimoji="0" 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网络</a:t>
            </a: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调优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内核参数</a:t>
            </a:r>
            <a:endParaRPr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986790" y="2009140"/>
          <a:ext cx="9328785" cy="40309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759835"/>
                <a:gridCol w="5568950"/>
              </a:tblGrid>
              <a:tr h="45529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调优参数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</a:rPr>
                        <a:t>作用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A2D"/>
                    </a:solidFill>
                  </a:tcPr>
                </a:tc>
              </a:tr>
              <a:tr h="49149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net.ipv4.tcp_max_syn_backlog</a:t>
                      </a:r>
                      <a:endParaRPr lang="zh-CN" altLang="en-US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tcp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半连接队列最大长度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902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net.core.somaxconn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tcp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全连接队列最大长度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5656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net.core.netdev_max_backlog</a:t>
                      </a:r>
                      <a:endParaRPr lang="en-US" altLang="zh-CN"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网络设备积压队列最大长度</a:t>
                      </a:r>
                      <a:endParaRPr lang="zh-CN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49149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net.ipv4.ip_local_port_range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本地端口范围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5791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net.netfilter.nf_conntrack_max</a:t>
                      </a:r>
                      <a:endParaRPr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sz="1600" b="1"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net.nf_conntrack_max</a:t>
                      </a:r>
                      <a:endParaRPr sz="1600" b="1"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连接跟踪表最大数量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  <a:tr h="10668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</a:rPr>
                        <a:t>net.ipv4.neigh.default.unres_qlen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用于设置网络层对每个未知地址可以排队的最大数据包数量</a:t>
                      </a:r>
                      <a:endParaRPr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  <a:latin typeface="OPlusSans 3.0" panose="00000500000000000000" charset="-122"/>
                          <a:ea typeface="OPlusSans 3.0" panose="00000500000000000000" charset="-122"/>
                          <a:cs typeface="OPlusSans 3.0" panose="00000500000000000000" charset="-122"/>
                          <a:sym typeface="+mn-ea"/>
                        </a:rPr>
                        <a:t>当一个数据包到达但目的 MAC 地址尚未解析时，它会在队列中等待直到 ARP 请求得到响应。如果队列满了，新的数据包将被丢弃。</a:t>
                      </a:r>
                      <a:endParaRPr sz="1600">
                        <a:solidFill>
                          <a:schemeClr val="tx1"/>
                        </a:solidFill>
                        <a:latin typeface="OPlusSans 3.0" panose="00000500000000000000" charset="-122"/>
                        <a:ea typeface="OPlusSans 3.0" panose="00000500000000000000" charset="-122"/>
                        <a:cs typeface="OPlusSans 3.0" panose="00000500000000000000" charset="-122"/>
                        <a:sym typeface="+mn-ea"/>
                      </a:endParaRPr>
                    </a:p>
                  </a:txBody>
                  <a:tcPr>
                    <a:lnL w="19050">
                      <a:solidFill>
                        <a:schemeClr val="bg1"/>
                      </a:solidFill>
                      <a:prstDash val="solid"/>
                    </a:lnL>
                    <a:lnR w="19050">
                      <a:solidFill>
                        <a:schemeClr val="bg1"/>
                      </a:solidFill>
                      <a:prstDash val="solid"/>
                    </a:lnR>
                    <a:lnT w="19050">
                      <a:solidFill>
                        <a:schemeClr val="bg1"/>
                      </a:solidFill>
                      <a:prstDash val="solid"/>
                    </a:lnT>
                    <a:lnB w="190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B35A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911225" y="1075055"/>
            <a:ext cx="8368030" cy="8458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网络调优相关的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参数，如下：</a:t>
            </a:r>
            <a:endParaRPr kumimoji="0" 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网络</a:t>
            </a: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调优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网络编程调优选项</a:t>
            </a:r>
            <a:endParaRPr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11225" y="1075055"/>
            <a:ext cx="8368030" cy="8458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网络编程相关的调优选项，如下：</a:t>
            </a:r>
            <a:endParaRPr kumimoji="0" 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983615" y="1917700"/>
            <a:ext cx="6179820" cy="151130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ServerSocket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accept()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方法，可以传入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acceptCount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，它和</a:t>
            </a:r>
            <a:r>
              <a:rPr lang="en-US" altLang="zh-CN" b="1">
                <a:solidFill>
                  <a:srgbClr val="FF9A2D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+mn-ea"/>
              </a:rPr>
              <a:t>net.core.somaxconn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+mn-ea"/>
              </a:rPr>
              <a:t>共同决定全连接队列的大小，比如</a:t>
            </a:r>
            <a:r>
              <a:rPr lang="en-US" altLang="zh-CN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+mn-ea"/>
              </a:rPr>
              <a:t>springboot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+mn-ea"/>
              </a:rPr>
              <a:t>的</a:t>
            </a:r>
            <a:r>
              <a:rPr lang="en-US" altLang="zh-CN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+mn-ea"/>
              </a:rPr>
              <a:t>tomcat</a:t>
            </a:r>
            <a:r>
              <a:rPr lang="zh-CN" altLang="en-US" b="1"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+mn-ea"/>
              </a:rPr>
              <a:t>如下配置：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08570" y="692785"/>
            <a:ext cx="3333750" cy="241300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983615" y="3997325"/>
            <a:ext cx="6304915" cy="13658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socket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有一系列方法，可以配置选项，如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setTcpNoDelay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，禁用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Nagle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，尽快发送数据，数据包更快发送，但由于不会合并包，可能导致发包更多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392670" y="3284855"/>
            <a:ext cx="3956050" cy="3200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网络</a:t>
            </a:r>
            <a:r>
              <a:rPr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调优</a:t>
            </a:r>
            <a:r>
              <a:rPr 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 - 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编码优化</a:t>
            </a:r>
            <a:endParaRPr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839470" y="1412875"/>
            <a:ext cx="9685655" cy="34607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R="0" algn="l" defTabSz="821690" rtl="0" fontAlgn="auto" latinLnBrk="0" hangingPunct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几个常见的优化策略，如下：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批量查询：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将多个单个查询，合并为批量查询，提升性能。</a:t>
            </a:r>
            <a:endParaRPr lang="zh-CN" altLang="en-US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连接池：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使用连接池复用连接，消除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TLS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握手、</a:t>
            </a:r>
            <a:r>
              <a:rPr lang="en-US" altLang="zh-CN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TCP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握手与拥塞控制耗时。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数据压缩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：</a:t>
            </a: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使用压缩算法压缩数据，减少网络交互数据量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多路复用或零拷贝：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使用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多路复用技术，减少线程与上下文切换开销，或使用零拷贝，减少数据复制开销。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R="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高效网络协议：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比如使用更高效率的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http2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grpc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等网络协议。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总结</a:t>
            </a:r>
            <a:endParaRPr kumimoji="0" 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总结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11225" y="1173480"/>
            <a:ext cx="9980930" cy="17849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iftop -nN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观测网络整体情况，按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可查看连接情况。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lsof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或</a:t>
            </a:r>
            <a:r>
              <a:rPr lang="zh-CN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nethogs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找相关的进程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lang="zh-CN" altLang="en-US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arthas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profiler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，采集对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recv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或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send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的调用栈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，找到网络</a:t>
            </a:r>
            <a:r>
              <a:rPr kumimoji="0" lang="en-US" altLang="zh-CN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的代码位置。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TABLE_ENDDRAG_ORIGIN_RECT" val="734*297"/>
  <p:tag name="TABLE_ENDDRAG_RECT" val="77*158*734*297"/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Props41.xml><?xml version="1.0" encoding="utf-8"?>
<ds:datastoreItem xmlns:ds="http://schemas.openxmlformats.org/officeDocument/2006/customXml" ds:itemID="{f7bc79f2-c455-434b-bca9-875aecb91bf3}">
  <ds:schemaRefs/>
</ds:datastoreItem>
</file>

<file path=customXml/itemProps42.xml><?xml version="1.0" encoding="utf-8"?>
<ds:datastoreItem xmlns:ds="http://schemas.openxmlformats.org/officeDocument/2006/customXml" ds:itemID="{3c132078-98b1-4deb-b4fd-a1bec46831f1}">
  <ds:schemaRefs/>
</ds:datastoreItem>
</file>

<file path=customXml/itemProps43.xml><?xml version="1.0" encoding="utf-8"?>
<ds:datastoreItem xmlns:ds="http://schemas.openxmlformats.org/officeDocument/2006/customXml" ds:itemID="{c5c661d3-4756-4449-af8a-01387bd7a269}">
  <ds:schemaRefs/>
</ds:datastoreItem>
</file>

<file path=customXml/itemProps44.xml><?xml version="1.0" encoding="utf-8"?>
<ds:datastoreItem xmlns:ds="http://schemas.openxmlformats.org/officeDocument/2006/customXml" ds:itemID="{58dabdbb-c60f-4057-89a4-b5f24a98f472}">
  <ds:schemaRefs/>
</ds:datastoreItem>
</file>

<file path=customXml/itemProps45.xml><?xml version="1.0" encoding="utf-8"?>
<ds:datastoreItem xmlns:ds="http://schemas.openxmlformats.org/officeDocument/2006/customXml" ds:itemID="{6ad86b82-52b5-47a8-ba6d-e9bbe075a083}">
  <ds:schemaRefs/>
</ds:datastoreItem>
</file>

<file path=customXml/itemProps46.xml><?xml version="1.0" encoding="utf-8"?>
<ds:datastoreItem xmlns:ds="http://schemas.openxmlformats.org/officeDocument/2006/customXml" ds:itemID="{8fd2a99b-51ca-42d4-8a98-ac38bf31ee8f}">
  <ds:schemaRefs/>
</ds:datastoreItem>
</file>

<file path=customXml/itemProps47.xml><?xml version="1.0" encoding="utf-8"?>
<ds:datastoreItem xmlns:ds="http://schemas.openxmlformats.org/officeDocument/2006/customXml" ds:itemID="{667e9340-f440-47f7-819a-cdc7dab5fa96}">
  <ds:schemaRefs/>
</ds:datastoreItem>
</file>

<file path=customXml/itemProps48.xml><?xml version="1.0" encoding="utf-8"?>
<ds:datastoreItem xmlns:ds="http://schemas.openxmlformats.org/officeDocument/2006/customXml" ds:itemID="{ae649005-3b55-4298-8017-458659bde268}">
  <ds:schemaRefs/>
</ds:datastoreItem>
</file>

<file path=customXml/itemProps49.xml><?xml version="1.0" encoding="utf-8"?>
<ds:datastoreItem xmlns:ds="http://schemas.openxmlformats.org/officeDocument/2006/customXml" ds:itemID="{eb8fafd0-aa01-4764-b4e6-708160bc6a19}">
  <ds:schemaRefs/>
</ds:datastoreItem>
</file>

<file path=customXml/itemProps50.xml><?xml version="1.0" encoding="utf-8"?>
<ds:datastoreItem xmlns:ds="http://schemas.openxmlformats.org/officeDocument/2006/customXml" ds:itemID="{8960f00e-c9fa-4aa6-a52d-50d8f8a99cd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1240</Words>
  <Application>WPS 演示</Application>
  <PresentationFormat/>
  <Paragraphs>100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2" baseType="lpstr">
      <vt:lpstr>Arial</vt:lpstr>
      <vt:lpstr>宋体</vt:lpstr>
      <vt:lpstr>Wingdings</vt:lpstr>
      <vt:lpstr>FZYanSongS-EB-GB</vt:lpstr>
      <vt:lpstr>Segoe Print</vt:lpstr>
      <vt:lpstr>Gill Sans</vt:lpstr>
      <vt:lpstr>OPlusSans 3.0</vt:lpstr>
      <vt:lpstr>Helvetica Neue Light</vt:lpstr>
      <vt:lpstr>Helvetica Neue Medium</vt:lpstr>
      <vt:lpstr>Helvetica Neue</vt:lpstr>
      <vt:lpstr>FZYanSongS-DB-GB</vt:lpstr>
      <vt:lpstr>PingFang SC Light</vt:lpstr>
      <vt:lpstr>等线</vt:lpstr>
      <vt:lpstr>素材集市康康体</vt:lpstr>
      <vt:lpstr>微软雅黑</vt:lpstr>
      <vt:lpstr>Arial Unicode MS</vt:lpstr>
      <vt:lpstr>Helvetica</vt:lpstr>
      <vt:lpstr>1_New_Template7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1924</cp:revision>
  <dcterms:created xsi:type="dcterms:W3CDTF">2019-02-26T11:09:00Z</dcterms:created>
  <dcterms:modified xsi:type="dcterms:W3CDTF">2024-09-21T01:40:06Z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