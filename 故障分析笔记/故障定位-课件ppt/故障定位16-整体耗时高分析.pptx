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3"/>
  </p:handoutMasterIdLst>
  <p:sldIdLst>
    <p:sldId id="406" r:id="rId3"/>
    <p:sldId id="360" r:id="rId4"/>
    <p:sldId id="694" r:id="rId5"/>
    <p:sldId id="618" r:id="rId7"/>
    <p:sldId id="695" r:id="rId8"/>
    <p:sldId id="697" r:id="rId9"/>
    <p:sldId id="696" r:id="rId10"/>
    <p:sldId id="698" r:id="rId11"/>
    <p:sldId id="690" r:id="rId12"/>
    <p:sldId id="688" r:id="rId13"/>
    <p:sldId id="692" r:id="rId14"/>
    <p:sldId id="702" r:id="rId15"/>
    <p:sldId id="703" r:id="rId16"/>
    <p:sldId id="707" r:id="rId17"/>
    <p:sldId id="708" r:id="rId18"/>
    <p:sldId id="709" r:id="rId19"/>
    <p:sldId id="710" r:id="rId20"/>
    <p:sldId id="686" r:id="rId21"/>
    <p:sldId id="687" r:id="rId22"/>
  </p:sldIdLst>
  <p:sldSz cx="12192000" cy="6858000"/>
  <p:notesSz cx="6858000" cy="9144000"/>
  <p:custDataLst>
    <p:tags r:id="rId3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68.xml"/><Relationship Id="rId36" Type="http://schemas.openxmlformats.org/officeDocument/2006/relationships/customXml" Target="../customXml/item10.xml"/><Relationship Id="rId35" Type="http://schemas.openxmlformats.org/officeDocument/2006/relationships/customXml" Target="../customXml/item9.xml"/><Relationship Id="rId34" Type="http://schemas.openxmlformats.org/officeDocument/2006/relationships/customXml" Target="../customXml/item8.xml"/><Relationship Id="rId33" Type="http://schemas.openxmlformats.org/officeDocument/2006/relationships/customXml" Target="../customXml/item7.xml"/><Relationship Id="rId32" Type="http://schemas.openxmlformats.org/officeDocument/2006/relationships/customXml" Target="../customXml/item6.xml"/><Relationship Id="rId31" Type="http://schemas.openxmlformats.org/officeDocument/2006/relationships/customXml" Target="../customXml/item5.xml"/><Relationship Id="rId30" Type="http://schemas.openxmlformats.org/officeDocument/2006/relationships/customXml" Target="../customXml/item4.xml"/><Relationship Id="rId3" Type="http://schemas.openxmlformats.org/officeDocument/2006/relationships/slide" Target="slides/slide1.xml"/><Relationship Id="rId29" Type="http://schemas.openxmlformats.org/officeDocument/2006/relationships/customXml" Target="../customXml/item3.xml"/><Relationship Id="rId28" Type="http://schemas.openxmlformats.org/officeDocument/2006/relationships/customXml" Target="../customXml/item2.xml"/><Relationship Id="rId27" Type="http://schemas.openxmlformats.org/officeDocument/2006/relationships/customXml" Target="../customXml/item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6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tags" Target="../tags/tag24.xml"/><Relationship Id="rId4" Type="http://schemas.openxmlformats.org/officeDocument/2006/relationships/image" Target="../media/image8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.xml"/><Relationship Id="rId4" Type="http://schemas.openxmlformats.org/officeDocument/2006/relationships/image" Target="../media/image10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image" Target="../media/image13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tags" Target="../tags/tag52.xml"/><Relationship Id="rId5" Type="http://schemas.openxmlformats.org/officeDocument/2006/relationships/image" Target="../media/image17.png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整体耗时高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b="1">
                <a:solidFill>
                  <a:schemeClr val="bg1"/>
                </a:solidFill>
                <a:latin typeface="+mj-ea"/>
                <a:ea typeface="+mj-ea"/>
                <a:cs typeface="+mj-ea"/>
                <a:sym typeface="OPlusSans 3.0" panose="00000500000000000000" charset="-122"/>
              </a:rPr>
              <a:t>耗时高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分析思路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耗时高分析思路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1056640"/>
            <a:ext cx="10615295" cy="35826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其实如果将时间也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看成一种资源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的话，耗时问题分析思路和资源占用分析思路一样，也是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逐步细分时间资源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，不同的是，耗时问题适合使用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自上而下的负载视角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，因为耗时问题最终都反映在用户侧的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UI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或接口上。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分析思路如下：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哪个接口耗时高？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接口下哪个子方法耗时高？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逐步深入耗时子方法。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整体哪个调用栈耗时高？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哪个接口耗时高？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960755"/>
            <a:ext cx="10615295" cy="990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一般各个服务都有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接口监控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，可以通过监控确定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哪个接口耗时高。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9470" y="2061210"/>
            <a:ext cx="10615295" cy="9950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如果没有接口监控的话，可以试着找找有没有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接口访问日志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，它记录了接口调用日志，然后通过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命令找出耗时高接口，如下：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1225" y="3056255"/>
            <a:ext cx="9928860" cy="32715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哪个接口耗时高？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960755"/>
            <a:ext cx="10615295" cy="990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如果接口监控与接口访问日志都没有，也可通过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watch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找接口，如下：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4" name="图片 10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1815" y="1844675"/>
            <a:ext cx="11117580" cy="41503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哪个子方法耗时高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055370" y="1196975"/>
            <a:ext cx="1061529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找到耗时高接口后，可使用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，继续追踪子方法耗时来源。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5325" y="2606040"/>
            <a:ext cx="10125710" cy="193230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723900" y="4888548"/>
            <a:ext cx="1094676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可以发现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UserService.getUserByIdCost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方法慢，然后可以再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这个方法。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7" name="图片 106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55053" y="1752283"/>
            <a:ext cx="8772525" cy="75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哪个子方法耗时高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76935" y="1196975"/>
            <a:ext cx="1061529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也可以开一个新的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窗口，通过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listenerId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在之前的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上追加子方法的调用。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1815" y="2692400"/>
            <a:ext cx="10940415" cy="2438400"/>
          </a:xfrm>
          <a:prstGeom prst="rect">
            <a:avLst/>
          </a:prstGeom>
        </p:spPr>
      </p:pic>
      <p:pic>
        <p:nvPicPr>
          <p:cNvPr id="108" name="图片 107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6935" y="1772603"/>
            <a:ext cx="8772525" cy="752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876935" y="5147310"/>
            <a:ext cx="10615295" cy="9779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如果耗时代码，在比较深的调用栈中，可以发现这种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逐层深入的方式，效率会比较低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！</a:t>
            </a:r>
            <a:endParaRPr lang="zh-CN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因此，我们可以使用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方法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，以更快找到调用栈。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7721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oncpu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vs 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715" y="1032510"/>
            <a:ext cx="8909050" cy="13322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线程在运行的过程中，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要么在CPU上执行，称其为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oncpu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要么被锁或io操作阻塞，从而离开CPU进去睡眠状态，称其为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，待被解锁或io操作完成，线程会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被唤醒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而变成运行态。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2" name="图片 11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03705" y="2493010"/>
            <a:ext cx="7581265" cy="34093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767715" y="6007735"/>
            <a:ext cx="1061529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如果是接口耗时高问题，这适合使用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分析法！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bcc/offcpu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1268730"/>
            <a:ext cx="1061529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如果系统接口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整体耗时较高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，可使用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offcputime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命令，绘制一张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火焰图。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3" name="图片 11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1883410"/>
            <a:ext cx="7467600" cy="42792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636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bcc/offcpu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715" y="979805"/>
            <a:ext cx="10022840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offcputime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通过追踪Linux上下文切换函数finish_task_switch，以实现对线程睡眠时间的测量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，故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的栈宽代表的是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线程睡眠时间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1772285"/>
            <a:ext cx="9648190" cy="448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profiler/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996950"/>
            <a:ext cx="10615295" cy="1878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有时因为权限原因，无法使用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offcputime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，这时可以通过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wall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采集模式，也可做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wall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表示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wall clock(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墙上挂钟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的含义，这种采集模式将每隔一段时间，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采集所有线程调用栈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保存下来。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试想一下，当一段代码执行很慢时，那么多次采集线程栈时，慢调用栈采集数量一定会更多，体现在火焰图上就更宽。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6" name="图片 14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71905" y="2924810"/>
            <a:ext cx="9572625" cy="23260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27760" y="5393690"/>
            <a:ext cx="10615295" cy="8032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wall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采集模式，会采集所有线程栈，但一般线程池中大量线程都是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等待任务的状态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，故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wall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采集模式一般要过滤一下，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过滤出与请求处理有关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的线程栈。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profiler/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715" y="1124585"/>
            <a:ext cx="10739120" cy="510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j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stack/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996950"/>
            <a:ext cx="10121900" cy="8540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jdk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jstack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可以采集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线程栈，因此通过不断运行它，就可以类似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wall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模式采集线程栈数据，然后生成火焰图，如下：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83615" y="4437380"/>
            <a:ext cx="10217785" cy="6413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注：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jstack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相比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arthas profiler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来说，会有一定的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safepoint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开销，高流量系统需谨慎使用。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OPlusSans 3.0" panose="00000500000000000000" charset="-122"/>
            </a:endParaRPr>
          </a:p>
        </p:txBody>
      </p:sp>
      <p:pic>
        <p:nvPicPr>
          <p:cNvPr id="115" name="图片 114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99198" y="2061210"/>
            <a:ext cx="8467725" cy="1981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1142345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j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stack/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5370" y="908685"/>
            <a:ext cx="9494520" cy="572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stack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伪文件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996950"/>
            <a:ext cx="9374505" cy="8540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目录中，在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/proc/$pid/tack/$tid/stack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伪文件，记录着线程阻塞时的内核调用栈，如下：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061720" y="3429000"/>
            <a:ext cx="10615295" cy="6413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因此，其它方法不可用时，也可考虑使用此文件采集调用栈，如下：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99740" y="1557020"/>
            <a:ext cx="5016500" cy="1799590"/>
          </a:xfrm>
          <a:prstGeom prst="rect">
            <a:avLst/>
          </a:prstGeom>
        </p:spPr>
      </p:pic>
      <p:pic>
        <p:nvPicPr>
          <p:cNvPr id="114" name="图片 113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27760" y="4004945"/>
            <a:ext cx="9772650" cy="228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1142345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哪个调用栈耗时高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stack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伪文件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1445" y="1343025"/>
            <a:ext cx="11929745" cy="417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173480"/>
            <a:ext cx="9980930" cy="48463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高耗时的分析思路与资源分析类似，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逐步细分时间资源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，接口、方法、调用栈，最终找到耗时根源。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耗时接口可以通过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接口监控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、访问日志或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 watch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获取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慢方法可以通过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 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逐步细分，一步步深入子方法，定位耗时根源，但如果耗时根源较深，会比较费时间。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方法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，可以快速找到耗时调用栈，一种是通过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offcputime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，它直接采集线程上下文切换函数的调用栈，另一种是通过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 profiler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wall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采集模式，它定期采集所有线程栈，运行慢的线程栈一定会更宽。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其实只要能获取到线程栈，就能做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wall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模式的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分析，比如使用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jstack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lang="en-US" altLang="zh-CN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/proc/$pid/tack/$tid/stack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58.xml><?xml version="1.0" encoding="utf-8"?>
<ds:datastoreItem xmlns:ds="http://schemas.openxmlformats.org/officeDocument/2006/customXml" ds:itemID="{f7bc79f2-c455-434b-bca9-875aecb91bf3}">
  <ds:schemaRefs/>
</ds:datastoreItem>
</file>

<file path=customXml/itemProps59.xml><?xml version="1.0" encoding="utf-8"?>
<ds:datastoreItem xmlns:ds="http://schemas.openxmlformats.org/officeDocument/2006/customXml" ds:itemID="{3c132078-98b1-4deb-b4fd-a1bec46831f1}">
  <ds:schemaRefs/>
</ds:datastoreItem>
</file>

<file path=customXml/itemProps60.xml><?xml version="1.0" encoding="utf-8"?>
<ds:datastoreItem xmlns:ds="http://schemas.openxmlformats.org/officeDocument/2006/customXml" ds:itemID="{c5c661d3-4756-4449-af8a-01387bd7a269}">
  <ds:schemaRefs/>
</ds:datastoreItem>
</file>

<file path=customXml/itemProps61.xml><?xml version="1.0" encoding="utf-8"?>
<ds:datastoreItem xmlns:ds="http://schemas.openxmlformats.org/officeDocument/2006/customXml" ds:itemID="{58dabdbb-c60f-4057-89a4-b5f24a98f472}">
  <ds:schemaRefs/>
</ds:datastoreItem>
</file>

<file path=customXml/itemProps62.xml><?xml version="1.0" encoding="utf-8"?>
<ds:datastoreItem xmlns:ds="http://schemas.openxmlformats.org/officeDocument/2006/customXml" ds:itemID="{6ad86b82-52b5-47a8-ba6d-e9bbe075a083}">
  <ds:schemaRefs/>
</ds:datastoreItem>
</file>

<file path=customXml/itemProps63.xml><?xml version="1.0" encoding="utf-8"?>
<ds:datastoreItem xmlns:ds="http://schemas.openxmlformats.org/officeDocument/2006/customXml" ds:itemID="{8fd2a99b-51ca-42d4-8a98-ac38bf31ee8f}">
  <ds:schemaRefs/>
</ds:datastoreItem>
</file>

<file path=customXml/itemProps64.xml><?xml version="1.0" encoding="utf-8"?>
<ds:datastoreItem xmlns:ds="http://schemas.openxmlformats.org/officeDocument/2006/customXml" ds:itemID="{667e9340-f440-47f7-819a-cdc7dab5fa96}">
  <ds:schemaRefs/>
</ds:datastoreItem>
</file>

<file path=customXml/itemProps65.xml><?xml version="1.0" encoding="utf-8"?>
<ds:datastoreItem xmlns:ds="http://schemas.openxmlformats.org/officeDocument/2006/customXml" ds:itemID="{ae649005-3b55-4298-8017-458659bde268}">
  <ds:schemaRefs/>
</ds:datastoreItem>
</file>

<file path=customXml/itemProps66.xml><?xml version="1.0" encoding="utf-8"?>
<ds:datastoreItem xmlns:ds="http://schemas.openxmlformats.org/officeDocument/2006/customXml" ds:itemID="{eb8fafd0-aa01-4764-b4e6-708160bc6a19}">
  <ds:schemaRefs/>
</ds:datastoreItem>
</file>

<file path=customXml/itemProps67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1799</Words>
  <Application>WPS 演示</Application>
  <PresentationFormat/>
  <Paragraphs>94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MingLiU_HKSCS-ExtB</vt:lpstr>
      <vt:lpstr>黑体</vt:lpstr>
      <vt:lpstr>阿朱泡泡体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1940</cp:revision>
  <dcterms:created xsi:type="dcterms:W3CDTF">2019-02-26T11:09:00Z</dcterms:created>
  <dcterms:modified xsi:type="dcterms:W3CDTF">2024-09-21T08:30:34Z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