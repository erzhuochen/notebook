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7"/>
  </p:handoutMasterIdLst>
  <p:sldIdLst>
    <p:sldId id="406" r:id="rId3"/>
    <p:sldId id="360" r:id="rId4"/>
    <p:sldId id="569" r:id="rId5"/>
    <p:sldId id="688" r:id="rId7"/>
    <p:sldId id="618" r:id="rId8"/>
    <p:sldId id="689" r:id="rId9"/>
    <p:sldId id="694" r:id="rId10"/>
    <p:sldId id="690" r:id="rId11"/>
    <p:sldId id="691" r:id="rId12"/>
    <p:sldId id="692" r:id="rId13"/>
    <p:sldId id="693" r:id="rId14"/>
    <p:sldId id="686" r:id="rId15"/>
    <p:sldId id="687" r:id="rId16"/>
  </p:sldIdLst>
  <p:sldSz cx="12192000" cy="6858000"/>
  <p:notesSz cx="6858000" cy="9144000"/>
  <p:custDataLst>
    <p:tags r:id="rId3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222222"/>
        </a:solidFill>
        <a:effectLst/>
        <a:uFillTx/>
        <a:latin typeface="FZYanSongS-EB-GB"/>
        <a:ea typeface="FZYanSongS-EB-GB"/>
        <a:cs typeface="FZYanSongS-EB-GB"/>
        <a:sym typeface="FZYanSongS-EB-GB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A2D"/>
    <a:srgbClr val="3F969A"/>
    <a:srgbClr val="19DEA6"/>
    <a:srgbClr val="FBDF43"/>
    <a:srgbClr val="BDDAB3"/>
    <a:srgbClr val="161E3B"/>
    <a:srgbClr val="FDED42"/>
    <a:srgbClr val="F04238"/>
    <a:srgbClr val="FFB35A"/>
    <a:srgbClr val="FFC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63.xml"/><Relationship Id="rId30" Type="http://schemas.openxmlformats.org/officeDocument/2006/relationships/customXml" Target="../customXml/item10.xml"/><Relationship Id="rId3" Type="http://schemas.openxmlformats.org/officeDocument/2006/relationships/slide" Target="slides/slide1.xml"/><Relationship Id="rId29" Type="http://schemas.openxmlformats.org/officeDocument/2006/relationships/customXml" Target="../customXml/item9.xml"/><Relationship Id="rId28" Type="http://schemas.openxmlformats.org/officeDocument/2006/relationships/customXml" Target="../customXml/item8.xml"/><Relationship Id="rId27" Type="http://schemas.openxmlformats.org/officeDocument/2006/relationships/customXml" Target="../customXml/item7.xml"/><Relationship Id="rId26" Type="http://schemas.openxmlformats.org/officeDocument/2006/relationships/customXml" Target="../customXml/item6.xml"/><Relationship Id="rId25" Type="http://schemas.openxmlformats.org/officeDocument/2006/relationships/customXml" Target="../customXml/item5.xml"/><Relationship Id="rId24" Type="http://schemas.openxmlformats.org/officeDocument/2006/relationships/customXml" Target="../customXml/item4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rPr>
            </a:fld>
            <a:endParaRPr lang="zh-CN" altLang="en-US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 descr="矩形"/>
          <p:cNvSpPr/>
          <p:nvPr/>
        </p:nvSpPr>
        <p:spPr>
          <a:xfrm>
            <a:off x="-116437" y="-46954"/>
            <a:ext cx="12424873" cy="6951907"/>
          </a:xfrm>
          <a:prstGeom prst="rect">
            <a:avLst/>
          </a:prstGeom>
          <a:solidFill>
            <a:srgbClr val="22222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12750">
              <a:spcBef>
                <a:spcPts val="1900"/>
              </a:spcBef>
              <a:defRPr sz="2000">
                <a:solidFill>
                  <a:srgbClr val="000000"/>
                </a:solidFill>
                <a:latin typeface="FZYanSongS-DB-GB"/>
                <a:ea typeface="FZYanSongS-DB-GB"/>
                <a:cs typeface="FZYanSongS-DB-GB"/>
                <a:sym typeface="FZYanSongS-DB-GB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14" name="image3.png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21" y="2753965"/>
            <a:ext cx="875298" cy="87529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Shape 15"/>
          <p:cNvSpPr/>
          <p:nvPr>
            <p:ph type="title" hasCustomPrompt="1"/>
          </p:nvPr>
        </p:nvSpPr>
        <p:spPr>
          <a:xfrm>
            <a:off x="1524000" y="2556613"/>
            <a:ext cx="9144000" cy="1270002"/>
          </a:xfrm>
          <a:prstGeom prst="rect">
            <a:avLst/>
          </a:prstGeom>
        </p:spPr>
        <p:txBody>
          <a:bodyPr lIns="65314" tIns="65314" rIns="65314" bIns="65314"/>
          <a:lstStyle>
            <a:lvl1pPr>
              <a:defRPr sz="60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19" name="Shape 19"/>
          <p:cNvSpPr/>
          <p:nvPr>
            <p:ph type="sldNum" sz="quarter" idx="2"/>
          </p:nvPr>
        </p:nvSpPr>
        <p:spPr>
          <a:xfrm>
            <a:off x="5954668" y="6537959"/>
            <a:ext cx="269603" cy="282303"/>
          </a:xfrm>
          <a:prstGeom prst="rect">
            <a:avLst/>
          </a:prstGeom>
        </p:spPr>
        <p:txBody>
          <a:bodyPr lIns="52251" tIns="52251" rIns="52251" bIns="52251"/>
          <a:lstStyle>
            <a:lvl1pPr defTabSz="400050">
              <a:defRPr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首页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body" sz="quarter" idx="13" hasCustomPrompt="1"/>
          </p:nvPr>
        </p:nvSpPr>
        <p:spPr>
          <a:xfrm>
            <a:off x="889000" y="2348646"/>
            <a:ext cx="10414000" cy="140294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sz="6400">
                <a:solidFill>
                  <a:srgbClr val="FFFFFF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OPlusSans 3.0" panose="00000500000000000000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220" name="Shape 220"/>
          <p:cNvSpPr/>
          <p:nvPr>
            <p:ph type="body" sz="quarter" idx="14"/>
          </p:nvPr>
        </p:nvSpPr>
        <p:spPr>
          <a:xfrm>
            <a:off x="5759450" y="4120024"/>
            <a:ext cx="673101" cy="469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spcBef>
                <a:spcPts val="0"/>
              </a:spcBef>
              <a:buSzTx/>
              <a:buNone/>
              <a:defRPr>
                <a:solidFill>
                  <a:srgbClr val="D5D5D5"/>
                </a:solidFill>
                <a:latin typeface="PingFang SC Light"/>
                <a:ea typeface="PingFang SC Light"/>
                <a:cs typeface="PingFang SC Light"/>
                <a:sym typeface="PingFang SC Light"/>
              </a:defRPr>
            </a:pPr>
          </a:p>
        </p:txBody>
      </p:sp>
      <p:sp>
        <p:nvSpPr>
          <p:cNvPr id="221" name="Shape 22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/>
          <p:nvPr/>
        </p:nvSpPr>
        <p:spPr>
          <a:xfrm>
            <a:off x="11274538" y="306425"/>
            <a:ext cx="579873" cy="521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0749"/>
                </a:moveTo>
                <a:lnTo>
                  <a:pt x="0" y="851"/>
                </a:lnTo>
                <a:cubicBezTo>
                  <a:pt x="0" y="381"/>
                  <a:pt x="381" y="0"/>
                  <a:pt x="851" y="0"/>
                </a:cubicBezTo>
                <a:lnTo>
                  <a:pt x="20749" y="0"/>
                </a:lnTo>
                <a:cubicBezTo>
                  <a:pt x="21219" y="0"/>
                  <a:pt x="21600" y="381"/>
                  <a:pt x="21600" y="851"/>
                </a:cubicBezTo>
                <a:lnTo>
                  <a:pt x="21600" y="20749"/>
                </a:lnTo>
                <a:cubicBezTo>
                  <a:pt x="21600" y="21219"/>
                  <a:pt x="21219" y="21600"/>
                  <a:pt x="20749" y="21600"/>
                </a:cubicBezTo>
                <a:lnTo>
                  <a:pt x="851" y="21600"/>
                </a:lnTo>
                <a:cubicBezTo>
                  <a:pt x="381" y="21600"/>
                  <a:pt x="0" y="21219"/>
                  <a:pt x="0" y="20749"/>
                </a:cubicBezTo>
                <a:close/>
              </a:path>
            </a:pathLst>
          </a:custGeom>
          <a:gradFill>
            <a:gsLst>
              <a:gs pos="0">
                <a:srgbClr val="FF6A00"/>
              </a:gs>
              <a:gs pos="100000">
                <a:srgbClr val="FF4C00"/>
              </a:gs>
            </a:gsLst>
            <a:lin ang="5400000"/>
          </a:gradFill>
          <a:ln w="3175">
            <a:miter lim="400000"/>
          </a:ln>
        </p:spPr>
        <p:txBody>
          <a:bodyPr lIns="22859" tIns="22859" rIns="22859" bIns="22859" anchor="ctr"/>
          <a:lstStyle/>
          <a:p>
            <a:pPr algn="ctr" defTabSz="457200">
              <a:defRPr sz="1200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endParaRPr sz="1800"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OPlusSans 3.0" panose="00000500000000000000" charset="-122"/>
            </a:endParaRPr>
          </a:p>
        </p:txBody>
      </p:sp>
      <p:pic>
        <p:nvPicPr>
          <p:cNvPr id="5" name="image0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375242" y="452461"/>
            <a:ext cx="374868" cy="2243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Shape 6"/>
          <p:cNvSpPr/>
          <p:nvPr>
            <p:ph type="sldNum" sz="quarter" idx="2"/>
          </p:nvPr>
        </p:nvSpPr>
        <p:spPr>
          <a:xfrm>
            <a:off x="5976340" y="6540500"/>
            <a:ext cx="232970" cy="23688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>
            <a:spAutoFit/>
          </a:bodyPr>
          <a:lstStyle>
            <a:lvl1pPr algn="ctr" defTabSz="412750">
              <a:defRPr sz="1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95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8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22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85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49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12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762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397500" marR="0" indent="-317500" algn="l" defTabSz="412750" latinLnBrk="0">
        <a:lnSpc>
          <a:spcPct val="100000"/>
        </a:lnSpc>
        <a:spcBef>
          <a:spcPts val="2900"/>
        </a:spcBef>
        <a:spcAft>
          <a:spcPts val="0"/>
        </a:spcAft>
        <a:buClrTx/>
        <a:buSzPct val="125000"/>
        <a:buFontTx/>
        <a:buChar char="•"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image" Target="../media/image4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5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.xml"/><Relationship Id="rId4" Type="http://schemas.openxmlformats.org/officeDocument/2006/relationships/image" Target="../media/image5.png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6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image" Target="../media/image8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6" Type="http://schemas.openxmlformats.org/officeDocument/2006/relationships/tags" Target="../tags/tag44.xml"/><Relationship Id="rId5" Type="http://schemas.openxmlformats.org/officeDocument/2006/relationships/image" Target="../media/image9.png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9.xml"/><Relationship Id="rId6" Type="http://schemas.openxmlformats.org/officeDocument/2006/relationships/image" Target="../media/image12.png"/><Relationship Id="rId5" Type="http://schemas.openxmlformats.org/officeDocument/2006/relationships/tags" Target="../tags/tag48.xml"/><Relationship Id="rId4" Type="http://schemas.openxmlformats.org/officeDocument/2006/relationships/image" Target="../media/image11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1212850" y="4364990"/>
            <a:ext cx="10438130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系统负载高</a:t>
            </a:r>
            <a:r>
              <a:rPr kumimoji="0" lang="zh-CN" altLang="en-US" sz="6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分析</a:t>
            </a:r>
            <a:endParaRPr kumimoji="0" lang="zh-CN" altLang="en-US" sz="6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9" name="图片 8" descr="mysql_PNG22-removebg-preview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44335" y="836295"/>
            <a:ext cx="4342765" cy="332486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9115" y="2348865"/>
            <a:ext cx="10433685" cy="157607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1500" b="1" i="0" u="none" strike="noStrike" cap="none" spc="0" normalizeH="0" baseline="0">
                <a:ln>
                  <a:solidFill>
                    <a:srgbClr val="161E3B"/>
                  </a:solidFill>
                </a:ln>
                <a:solidFill>
                  <a:schemeClr val="accent5">
                    <a:alpha val="92000"/>
                  </a:schemeClr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故障定位</a:t>
            </a:r>
            <a:endParaRPr kumimoji="0" lang="zh-CN" altLang="en-US" sz="11500" b="1" i="0" u="none" strike="noStrike" cap="none" spc="0" normalizeH="0" baseline="0">
              <a:ln>
                <a:solidFill>
                  <a:srgbClr val="161E3B"/>
                </a:solidFill>
              </a:ln>
              <a:solidFill>
                <a:schemeClr val="accent5">
                  <a:alpha val="92000"/>
                </a:schemeClr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2207260" y="2420620"/>
            <a:ext cx="5678805" cy="15551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素材集市康康体" panose="02010600010101010101" charset="-122"/>
                <a:ea typeface="素材集市康康体" panose="02010600010101010101" charset="-122"/>
                <a:cs typeface="OPlusSans 3.0" panose="00000500000000000000" charset="-122"/>
                <a:sym typeface="Helvetica Neue Medium"/>
              </a:rPr>
              <a:t>孟小哥抓虫</a:t>
            </a:r>
            <a:endParaRPr kumimoji="0" lang="zh-CN" altLang="en-US" sz="8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素材集市康康体" panose="02010600010101010101" charset="-122"/>
              <a:ea typeface="素材集市康康体" panose="02010600010101010101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7247890" y="2996565"/>
            <a:ext cx="1360170" cy="67881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vlog</a:t>
            </a:r>
            <a:endParaRPr kumimoji="0" lang="en-US" altLang="zh-CN" sz="36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原理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系统负载是什么？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78" name="文本框 77"/>
          <p:cNvSpPr txBox="1"/>
          <p:nvPr>
            <p:custDataLst>
              <p:tags r:id="rId2"/>
            </p:custDataLst>
          </p:nvPr>
        </p:nvSpPr>
        <p:spPr>
          <a:xfrm>
            <a:off x="767080" y="1125220"/>
            <a:ext cx="10606405" cy="62674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上，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uptime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与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top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，都可以看到系统的平均负载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(load average)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17" name="图片 11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39470" y="1701165"/>
            <a:ext cx="74676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73100" y="3068320"/>
            <a:ext cx="10606405" cy="71818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关注load average后的3个值，分别代表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1分钟、5分钟、15分钟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的系统平均负载，如果1分钟值&gt;5分钟值&gt;15分钟值，则代表近15分钟内系统压力越来越大，反之亦然。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5325" y="4076700"/>
            <a:ext cx="6765290" cy="19494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在传统unix系统上（如BSD），系统负载由正在运行及可运行</a:t>
            </a: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这2个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状态的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数量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组成。 它能很好的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反映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CPU的饱和情况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，比如4核的CPU，如果负载一直高于4，那说明CPU资源饱和了。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328660" y="4389755"/>
            <a:ext cx="2442210" cy="1369060"/>
            <a:chOff x="13116" y="6913"/>
            <a:chExt cx="3846" cy="2156"/>
          </a:xfrm>
        </p:grpSpPr>
        <p:sp>
          <p:nvSpPr>
            <p:cNvPr id="2" name="矩形 1"/>
            <p:cNvSpPr/>
            <p:nvPr/>
          </p:nvSpPr>
          <p:spPr>
            <a:xfrm>
              <a:off x="13116" y="7441"/>
              <a:ext cx="1149" cy="103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系统负载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3" name="矩形 2"/>
            <p:cNvSpPr/>
            <p:nvPr>
              <p:custDataLst>
                <p:tags r:id="rId7"/>
              </p:custDataLst>
            </p:nvPr>
          </p:nvSpPr>
          <p:spPr>
            <a:xfrm>
              <a:off x="15044" y="6913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运行中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8"/>
              </p:custDataLst>
            </p:nvPr>
          </p:nvSpPr>
          <p:spPr>
            <a:xfrm>
              <a:off x="15044" y="7679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可运行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9"/>
              </p:custDataLst>
            </p:nvPr>
          </p:nvSpPr>
          <p:spPr>
            <a:xfrm>
              <a:off x="15044" y="8473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阻塞等待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6" name="直接箭头连接符 5"/>
            <p:cNvCxnSpPr>
              <a:stCxn id="2" idx="3"/>
              <a:endCxn id="3" idx="1"/>
            </p:cNvCxnSpPr>
            <p:nvPr/>
          </p:nvCxnSpPr>
          <p:spPr>
            <a:xfrm flipV="1">
              <a:off x="14265" y="7211"/>
              <a:ext cx="779" cy="746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7" name="直接箭头连接符 6"/>
            <p:cNvCxnSpPr>
              <a:stCxn id="2" idx="3"/>
              <a:endCxn id="4" idx="1"/>
            </p:cNvCxnSpPr>
            <p:nvPr>
              <p:custDataLst>
                <p:tags r:id="rId10"/>
              </p:custDataLst>
            </p:nvPr>
          </p:nvCxnSpPr>
          <p:spPr>
            <a:xfrm>
              <a:off x="14265" y="7957"/>
              <a:ext cx="779" cy="2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系统负载是什么？</a:t>
            </a:r>
            <a:endParaRPr kumimoji="0" lang="zh-CN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695960" y="3933190"/>
            <a:ext cx="6921500" cy="12350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而Linux扩大了负载的定义，如下： 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Linux负载由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正在运行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、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可运行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及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D状态</a:t>
            </a: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这3个部分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数量组成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112125" y="3861435"/>
            <a:ext cx="2815590" cy="1865630"/>
            <a:chOff x="12775" y="2149"/>
            <a:chExt cx="4434" cy="2938"/>
          </a:xfrm>
        </p:grpSpPr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12775" y="2677"/>
              <a:ext cx="1149" cy="1032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系统负载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4"/>
              </p:custDataLst>
            </p:nvPr>
          </p:nvSpPr>
          <p:spPr>
            <a:xfrm>
              <a:off x="14703" y="2149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运行中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5"/>
              </p:custDataLst>
            </p:nvPr>
          </p:nvSpPr>
          <p:spPr>
            <a:xfrm>
              <a:off x="14703" y="2915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可运行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6"/>
              </p:custDataLst>
            </p:nvPr>
          </p:nvSpPr>
          <p:spPr>
            <a:xfrm>
              <a:off x="14703" y="3709"/>
              <a:ext cx="2507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不可中断睡眠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18" name="直接箭头连接符 17"/>
            <p:cNvCxnSpPr>
              <a:stCxn id="14" idx="3"/>
              <a:endCxn id="15" idx="1"/>
            </p:cNvCxnSpPr>
            <p:nvPr>
              <p:custDataLst>
                <p:tags r:id="rId7"/>
              </p:custDataLst>
            </p:nvPr>
          </p:nvCxnSpPr>
          <p:spPr>
            <a:xfrm flipV="1">
              <a:off x="13924" y="2447"/>
              <a:ext cx="779" cy="746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cxnSp>
          <p:nvCxnSpPr>
            <p:cNvPr id="19" name="直接箭头连接符 18"/>
            <p:cNvCxnSpPr>
              <a:stCxn id="14" idx="3"/>
              <a:endCxn id="16" idx="1"/>
            </p:cNvCxnSpPr>
            <p:nvPr>
              <p:custDataLst>
                <p:tags r:id="rId8"/>
              </p:custDataLst>
            </p:nvPr>
          </p:nvCxnSpPr>
          <p:spPr>
            <a:xfrm>
              <a:off x="13924" y="3193"/>
              <a:ext cx="779" cy="20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sp>
          <p:nvSpPr>
            <p:cNvPr id="20" name="矩形 19"/>
            <p:cNvSpPr/>
            <p:nvPr>
              <p:custDataLst>
                <p:tags r:id="rId9"/>
              </p:custDataLst>
            </p:nvPr>
          </p:nvSpPr>
          <p:spPr>
            <a:xfrm>
              <a:off x="14703" y="4491"/>
              <a:ext cx="1918" cy="596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vertOverflow="overflow" horzOverflow="overflow" vert="horz" wrap="square" lIns="50800" tIns="50800" rIns="50800" bIns="50800" numCol="1" spcCol="38100" rtlCol="0" anchor="ctr" forceAA="0" upright="0">
              <a:spAutoFit/>
            </a:bodyPr>
            <a:p>
              <a:pPr marL="0" marR="0" indent="0" algn="ctr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OPlusSans 3.0" panose="00000500000000000000" charset="-122"/>
                  <a:ea typeface="OPlusSans 3.0" panose="00000500000000000000" charset="-122"/>
                  <a:cs typeface="FZYanSongS-EB-GB"/>
                  <a:sym typeface="FZYanSongS-EB-GB"/>
                </a:rPr>
                <a:t>其它阻塞</a:t>
              </a: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FZYanSongS-EB-GB"/>
                <a:sym typeface="FZYanSongS-EB-GB"/>
              </a:endParaRPr>
            </a:p>
          </p:txBody>
        </p:sp>
        <p:cxnSp>
          <p:nvCxnSpPr>
            <p:cNvPr id="21" name="直接箭头连接符 20"/>
            <p:cNvCxnSpPr>
              <a:stCxn id="14" idx="3"/>
              <a:endCxn id="17" idx="1"/>
            </p:cNvCxnSpPr>
            <p:nvPr>
              <p:custDataLst>
                <p:tags r:id="rId10"/>
              </p:custDataLst>
            </p:nvPr>
          </p:nvCxnSpPr>
          <p:spPr>
            <a:xfrm>
              <a:off x="13924" y="3193"/>
              <a:ext cx="779" cy="814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arrow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</p:grp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695960" y="1268730"/>
            <a:ext cx="8634730" cy="17983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在Linux里面，线程有如下常见状态：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R: 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正在运行或可运行状态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S: 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睡眠状态，被阻塞等待唤醒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457200" marR="0" indent="-45720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D: 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不可中断</a:t>
            </a: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(uninterruptible)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睡眠状态，一般是等待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磁盘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io完成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</a:t>
            </a:r>
            <a:r>
              <a:rPr lang="zh-CN" altLang="en-US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线程状态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67715" y="2924810"/>
            <a:ext cx="10105390" cy="101600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R与D状态的线程会影响系统负载，因此，当系统负载较高时，可以通过如下命令了解是哪些线程导致的：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0" name="图片 11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39378" y="4077335"/>
            <a:ext cx="486727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793115" y="1313180"/>
            <a:ext cx="10606405" cy="136715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因为Linux认为，虽然D状态的线程并不消耗CPU资源，但是它会消耗磁盘等资源，因此它也应该被用来计算系统负载，想</a:t>
            </a:r>
            <a:r>
              <a:rPr sz="200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想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也合理，毕竟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系统负载是用来描述整个系统的繁忙程度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的，而不仅仅是CPU的。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负载实验</a:t>
            </a:r>
            <a:endParaRPr kumimoji="0" lang="zh-CN" altLang="en-US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负载实验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1" name="图片 120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1225" y="1124585"/>
            <a:ext cx="8667750" cy="3435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911225" y="4560570"/>
            <a:ext cx="10105390" cy="46482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等待1分钟，就会发现系统负载升到了快100，如下：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2" name="图片 121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1225" y="5025390"/>
            <a:ext cx="90678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负载实验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339850"/>
            <a:ext cx="10105390" cy="8286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通过ps命令可以看到线程状态，还有一个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wchan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字段，它显示的是线程当前被阻塞在什么内核函数上，这能看出一些蛛丝马迹。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3" name="图片 122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51723" y="2275840"/>
            <a:ext cx="5572125" cy="1981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966470" y="4364355"/>
            <a:ext cx="10105390" cy="82867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可以发现，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状态线程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阻塞在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kernel_clone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内核函数上。</a:t>
            </a:r>
            <a:endParaRPr kumimoji="0" lang="en-US" altLang="zh-CN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负载实验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10330815" cy="5067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也可以借助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/proc/$pid/task/$tid/stack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伪文件查看</a:t>
            </a: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，它记录着线程阻塞时的内核栈</a:t>
            </a:r>
            <a:r>
              <a:rPr kumimoji="0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9470" y="3573145"/>
            <a:ext cx="10330815" cy="5067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可发现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状态线程由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vfork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系统调用发起，阻塞在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kernel_clone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内核函数上，如果要看所有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</a:t>
            </a:r>
            <a:r>
              <a:rPr 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线程的内核栈，可通过</a:t>
            </a:r>
            <a:r>
              <a:rPr lang="en-US" altLang="zh-CN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shell</a:t>
            </a:r>
            <a:r>
              <a:rPr lang="zh-CN" altLang="en-US" sz="2000">
                <a:ln w="31750">
                  <a:noFill/>
                </a:ln>
                <a:solidFill>
                  <a:schemeClr val="bg1"/>
                </a:solidFill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命令聚合后查看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，如下：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127" name="图片 126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59560" y="4259580"/>
            <a:ext cx="7867650" cy="21037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图片 127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07895" y="1582420"/>
            <a:ext cx="5172075" cy="19443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622935" y="196850"/>
            <a:ext cx="10640060" cy="99695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负载实验</a:t>
            </a:r>
            <a:endParaRPr kumimoji="0" lang="zh-CN" altLang="en-US" sz="4000" b="1" i="0" u="none" strike="noStrike" cap="none" spc="0" normalizeH="0" baseline="0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839470" y="1052830"/>
            <a:ext cx="10330815" cy="5067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offcputime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命令，可通过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rgbClr val="FF9A2D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--state 2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过滤出只包含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状态线程的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栈。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99515" y="3141345"/>
            <a:ext cx="8759190" cy="2793365"/>
          </a:xfrm>
          <a:prstGeom prst="rect">
            <a:avLst/>
          </a:prstGeom>
        </p:spPr>
      </p:pic>
      <p:pic>
        <p:nvPicPr>
          <p:cNvPr id="129" name="图片 128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7443" y="1556703"/>
            <a:ext cx="9267825" cy="1666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839470" y="5949315"/>
            <a:ext cx="10330815" cy="50673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在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状态线程的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栈中，也可发现是由</a:t>
            </a:r>
            <a:r>
              <a:rPr kumimoji="0" lang="en-US" altLang="zh-CN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vfork</a:t>
            </a:r>
            <a:r>
              <a:rPr kumimoji="0" lang="zh-CN" altLang="en-US" sz="2000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/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系统调用导致的负载升高。</a:t>
            </a:r>
            <a:endParaRPr kumimoji="0" lang="zh-CN" altLang="en-US" sz="2000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/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919605" y="2581275"/>
            <a:ext cx="8369300" cy="1116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 upright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sz="66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ea"/>
                <a:ea typeface="+mj-ea"/>
                <a:cs typeface="+mj-ea"/>
                <a:sym typeface="OPlusSans 3.0" panose="00000500000000000000" charset="-122"/>
              </a:rPr>
              <a:t>总结</a:t>
            </a:r>
            <a:endParaRPr kumimoji="0" lang="zh-CN" sz="6600" b="1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+mj-ea"/>
              <a:ea typeface="+mj-ea"/>
              <a:cs typeface="+mj-ea"/>
              <a:sym typeface="OPlusSans 3.0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E3B">
            <a:alpha val="8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1180" y="260985"/>
            <a:ext cx="10640060" cy="912495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0" marR="0" indent="0" algn="l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sz="4000" b="1">
                <a:ln w="31750">
                  <a:solidFill>
                    <a:schemeClr val="tx1"/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总结</a:t>
            </a:r>
            <a:endParaRPr lang="zh-CN" sz="4000" b="1">
              <a:ln w="31750">
                <a:solidFill>
                  <a:schemeClr val="tx1"/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911225" y="1173480"/>
            <a:ext cx="9284970" cy="3115310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6" tIns="71436" rIns="71436" bIns="71436" numCol="1" spcCol="38100" rtlCol="0" anchor="ctr" forceAA="0">
            <a:noAutofit/>
          </a:bodyPr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Linux扩充了系统负载定义，它反映的是一段时间内运行中、可运行(R)及不可中断(D)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线程的平均数量。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可通过ps查看线程的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wchan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字段，了解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D状态线程阻塞在什么内核函数上。</a:t>
            </a:r>
            <a:endParaRPr lang="zh-CN" altLang="en-US" b="1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/proc/$pid/task/$tid/stack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反映线程当前的内核栈，它可用来查看D状态线程当前在做什么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  <a:p>
            <a:pPr marL="342900" marR="0" indent="-342900" algn="l" defTabSz="82169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</a:pP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bcc的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offcputime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命令，可通过</a:t>
            </a:r>
            <a:r>
              <a:rPr lang="zh-CN" altLang="en-US" b="1">
                <a:ln w="31750">
                  <a:noFill/>
                </a:ln>
                <a:solidFill>
                  <a:srgbClr val="FF9A2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--state 2</a:t>
            </a:r>
            <a:r>
              <a:rPr lang="zh-CN" altLang="en-US" b="1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过滤出只包含D状态线程的offcpu栈</a:t>
            </a:r>
            <a:r>
              <a:rPr kumimoji="0" lang="zh-CN" altLang="en-US" b="1" i="0" u="none" strike="noStrike" cap="none" spc="0" normalizeH="0" baseline="0">
                <a:ln w="317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FillTx/>
                <a:latin typeface="OPlusSans 3.0" panose="00000500000000000000" charset="-122"/>
                <a:ea typeface="OPlusSans 3.0" panose="00000500000000000000" charset="-122"/>
                <a:cs typeface="OPlusSans 3.0" panose="00000500000000000000" charset="-122"/>
                <a:sym typeface="Helvetica Neue Medium"/>
              </a:rPr>
              <a:t>。</a:t>
            </a:r>
            <a:endParaRPr kumimoji="0" lang="zh-CN" altLang="en-US" b="1" i="0" u="none" strike="noStrike" cap="none" spc="0" normalizeH="0" baseline="0">
              <a:ln w="31750"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FillTx/>
              <a:latin typeface="OPlusSans 3.0" panose="00000500000000000000" charset="-122"/>
              <a:ea typeface="OPlusSans 3.0" panose="00000500000000000000" charset="-122"/>
              <a:cs typeface="OPlusSans 3.0" panose="00000500000000000000" charset="-122"/>
              <a:sym typeface="Helvetica Neue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commondata" val="eyJoZGlkIjoiZTNiMmJjMGUyMDNhMGI0MjllZTc4OTE3ODRjOTBjMWQifQ=="/>
</p:tagLst>
</file>

<file path=ppt/theme/theme1.xml><?xml version="1.0" encoding="utf-8"?>
<a:theme xmlns:a="http://schemas.openxmlformats.org/drawingml/2006/main" name="1_New_Template7">
  <a:themeElements>
    <a:clrScheme name="New_Template7">
      <a:dk1>
        <a:srgbClr val="222222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engXian"/>
        <a:ea typeface="DengXian"/>
        <a:cs typeface="DengXian"/>
      </a:majorFont>
      <a:minorFont>
        <a:latin typeface="Helvetica"/>
        <a:ea typeface="Helvetica"/>
        <a:cs typeface="Helvetica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38787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222222"/>
            </a:solidFill>
            <a:effectLst/>
            <a:uFillTx/>
            <a:latin typeface="FZYanSongS-EB-GB"/>
            <a:ea typeface="FZYanSongS-EB-GB"/>
            <a:cs typeface="FZYanSongS-EB-GB"/>
            <a:sym typeface="FZYanSongS-EB-GB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item1.xml>��
</file>

<file path=customXml/item2.xml>��
</file>

<file path=customXml/item3.xml>��
</file>

<file path=customXml/item4.xml>��
</file>

<file path=customXml/item5.xml>��
</file>

<file path=customXml/item6.xml>��
</file>

<file path=customXml/item7.xml>��
</file>

<file path=customXml/item8.xml>��
</file>

<file path=customXml/item9.xml>��
</file>

<file path=customXml/item10.xml>��
</file>

<file path=customXml/itemProps53.xml><?xml version="1.0" encoding="utf-8"?>
<ds:datastoreItem xmlns:ds="http://schemas.openxmlformats.org/officeDocument/2006/customXml" ds:itemID="{f7bc79f2-c455-434b-bca9-875aecb91bf3}">
  <ds:schemaRefs/>
</ds:datastoreItem>
</file>

<file path=customXml/itemProps54.xml><?xml version="1.0" encoding="utf-8"?>
<ds:datastoreItem xmlns:ds="http://schemas.openxmlformats.org/officeDocument/2006/customXml" ds:itemID="{3c132078-98b1-4deb-b4fd-a1bec46831f1}">
  <ds:schemaRefs/>
</ds:datastoreItem>
</file>

<file path=customXml/itemProps55.xml><?xml version="1.0" encoding="utf-8"?>
<ds:datastoreItem xmlns:ds="http://schemas.openxmlformats.org/officeDocument/2006/customXml" ds:itemID="{c5c661d3-4756-4449-af8a-01387bd7a269}">
  <ds:schemaRefs/>
</ds:datastoreItem>
</file>

<file path=customXml/itemProps56.xml><?xml version="1.0" encoding="utf-8"?>
<ds:datastoreItem xmlns:ds="http://schemas.openxmlformats.org/officeDocument/2006/customXml" ds:itemID="{58dabdbb-c60f-4057-89a4-b5f24a98f472}">
  <ds:schemaRefs/>
</ds:datastoreItem>
</file>

<file path=customXml/itemProps57.xml><?xml version="1.0" encoding="utf-8"?>
<ds:datastoreItem xmlns:ds="http://schemas.openxmlformats.org/officeDocument/2006/customXml" ds:itemID="{6ad86b82-52b5-47a8-ba6d-e9bbe075a083}">
  <ds:schemaRefs/>
</ds:datastoreItem>
</file>

<file path=customXml/itemProps58.xml><?xml version="1.0" encoding="utf-8"?>
<ds:datastoreItem xmlns:ds="http://schemas.openxmlformats.org/officeDocument/2006/customXml" ds:itemID="{8fd2a99b-51ca-42d4-8a98-ac38bf31ee8f}">
  <ds:schemaRefs/>
</ds:datastoreItem>
</file>

<file path=customXml/itemProps59.xml><?xml version="1.0" encoding="utf-8"?>
<ds:datastoreItem xmlns:ds="http://schemas.openxmlformats.org/officeDocument/2006/customXml" ds:itemID="{667e9340-f440-47f7-819a-cdc7dab5fa96}">
  <ds:schemaRefs/>
</ds:datastoreItem>
</file>

<file path=customXml/itemProps60.xml><?xml version="1.0" encoding="utf-8"?>
<ds:datastoreItem xmlns:ds="http://schemas.openxmlformats.org/officeDocument/2006/customXml" ds:itemID="{ae649005-3b55-4298-8017-458659bde268}">
  <ds:schemaRefs/>
</ds:datastoreItem>
</file>

<file path=customXml/itemProps61.xml><?xml version="1.0" encoding="utf-8"?>
<ds:datastoreItem xmlns:ds="http://schemas.openxmlformats.org/officeDocument/2006/customXml" ds:itemID="{eb8fafd0-aa01-4764-b4e6-708160bc6a19}">
  <ds:schemaRefs/>
</ds:datastoreItem>
</file>

<file path=customXml/itemProps62.xml><?xml version="1.0" encoding="utf-8"?>
<ds:datastoreItem xmlns:ds="http://schemas.openxmlformats.org/officeDocument/2006/customXml" ds:itemID="{8960f00e-c9fa-4aa6-a52d-50d8f8a99cd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WPS 演示</Application>
  <PresentationFormat/>
  <Paragraphs>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FZYanSongS-EB-GB</vt:lpstr>
      <vt:lpstr>Segoe Print</vt:lpstr>
      <vt:lpstr>Gill Sans</vt:lpstr>
      <vt:lpstr>OPlusSans 3.0</vt:lpstr>
      <vt:lpstr>Helvetica Neue Light</vt:lpstr>
      <vt:lpstr>Helvetica Neue Medium</vt:lpstr>
      <vt:lpstr>Helvetica Neue</vt:lpstr>
      <vt:lpstr>FZYanSongS-DB-GB</vt:lpstr>
      <vt:lpstr>PingFang SC Light</vt:lpstr>
      <vt:lpstr>等线</vt:lpstr>
      <vt:lpstr>素材集市康康体</vt:lpstr>
      <vt:lpstr>微软雅黑</vt:lpstr>
      <vt:lpstr>Arial Unicode MS</vt:lpstr>
      <vt:lpstr>Helvetica</vt:lpstr>
      <vt:lpstr>华文宋体</vt:lpstr>
      <vt:lpstr>Microsoft JhengHei UI Light</vt:lpstr>
      <vt:lpstr>华文中宋</vt:lpstr>
      <vt:lpstr>华文细黑</vt:lpstr>
      <vt:lpstr>微软雅黑 Light</vt:lpstr>
      <vt:lpstr>Malgun Gothic</vt:lpstr>
      <vt:lpstr>Microsoft YaHei UI</vt:lpstr>
      <vt:lpstr>1_New_Template7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WPS_1537012719</cp:lastModifiedBy>
  <cp:revision>1926</cp:revision>
  <dcterms:created xsi:type="dcterms:W3CDTF">2019-02-26T11:09:00Z</dcterms:created>
  <dcterms:modified xsi:type="dcterms:W3CDTF">2024-09-22T09:37:40Z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EA77B28E96264594AB10500AE223598A_12</vt:lpwstr>
  </property>
</Properties>
</file>