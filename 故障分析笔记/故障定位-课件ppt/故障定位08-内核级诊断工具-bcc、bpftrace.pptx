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81.xml" ContentType="application/vnd.openxmlformats-officedocument.customXmlProperties+xml"/>
  <Override PartName="/customXml/itemProps82.xml" ContentType="application/vnd.openxmlformats-officedocument.customXmlProperties+xml"/>
  <Override PartName="/customXml/itemProps83.xml" ContentType="application/vnd.openxmlformats-officedocument.customXmlProperties+xml"/>
  <Override PartName="/customXml/itemProps84.xml" ContentType="application/vnd.openxmlformats-officedocument.customXmlProperties+xml"/>
  <Override PartName="/customXml/itemProps85.xml" ContentType="application/vnd.openxmlformats-officedocument.customXmlProperties+xml"/>
  <Override PartName="/customXml/itemProps86.xml" ContentType="application/vnd.openxmlformats-officedocument.customXmlProperties+xml"/>
  <Override PartName="/customXml/itemProps87.xml" ContentType="application/vnd.openxmlformats-officedocument.customXmlProperties+xml"/>
  <Override PartName="/customXml/itemProps88.xml" ContentType="application/vnd.openxmlformats-officedocument.customXmlProperties+xml"/>
  <Override PartName="/customXml/itemProps89.xml" ContentType="application/vnd.openxmlformats-officedocument.customXmlProperties+xml"/>
  <Override PartName="/customXml/itemProps90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ags/tag9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33"/>
  </p:handoutMasterIdLst>
  <p:sldIdLst>
    <p:sldId id="406" r:id="rId3"/>
    <p:sldId id="360" r:id="rId4"/>
    <p:sldId id="417" r:id="rId5"/>
    <p:sldId id="528" r:id="rId6"/>
    <p:sldId id="552" r:id="rId7"/>
    <p:sldId id="553" r:id="rId8"/>
    <p:sldId id="554" r:id="rId9"/>
    <p:sldId id="555" r:id="rId10"/>
    <p:sldId id="556" r:id="rId11"/>
    <p:sldId id="557" r:id="rId12"/>
    <p:sldId id="560" r:id="rId13"/>
    <p:sldId id="558" r:id="rId15"/>
    <p:sldId id="559" r:id="rId16"/>
    <p:sldId id="562" r:id="rId17"/>
    <p:sldId id="564" r:id="rId18"/>
    <p:sldId id="567" r:id="rId19"/>
    <p:sldId id="568" r:id="rId20"/>
    <p:sldId id="565" r:id="rId21"/>
    <p:sldId id="566" r:id="rId22"/>
    <p:sldId id="570" r:id="rId23"/>
    <p:sldId id="571" r:id="rId24"/>
    <p:sldId id="572" r:id="rId25"/>
    <p:sldId id="573" r:id="rId26"/>
    <p:sldId id="574" r:id="rId27"/>
    <p:sldId id="576" r:id="rId28"/>
    <p:sldId id="577" r:id="rId29"/>
    <p:sldId id="578" r:id="rId30"/>
    <p:sldId id="569" r:id="rId31"/>
    <p:sldId id="579" r:id="rId32"/>
  </p:sldIdLst>
  <p:sldSz cx="12192000" cy="6858000"/>
  <p:notesSz cx="6858000" cy="9144000"/>
  <p:custDataLst>
    <p:tags r:id="rId47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9A2D"/>
    <a:srgbClr val="BDDAB3"/>
    <a:srgbClr val="161E3B"/>
    <a:srgbClr val="FBDF43"/>
    <a:srgbClr val="FDED42"/>
    <a:srgbClr val="F04238"/>
    <a:srgbClr val="FFB35A"/>
    <a:srgbClr val="19DEA6"/>
    <a:srgbClr val="FFC07A"/>
    <a:srgbClr val="3F9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tags" Target="tags/tag91.xml"/><Relationship Id="rId46" Type="http://schemas.openxmlformats.org/officeDocument/2006/relationships/customXml" Target="../customXml/item10.xml"/><Relationship Id="rId45" Type="http://schemas.openxmlformats.org/officeDocument/2006/relationships/customXml" Target="../customXml/item9.xml"/><Relationship Id="rId44" Type="http://schemas.openxmlformats.org/officeDocument/2006/relationships/customXml" Target="../customXml/item8.xml"/><Relationship Id="rId43" Type="http://schemas.openxmlformats.org/officeDocument/2006/relationships/customXml" Target="../customXml/item7.xml"/><Relationship Id="rId42" Type="http://schemas.openxmlformats.org/officeDocument/2006/relationships/customXml" Target="../customXml/item6.xml"/><Relationship Id="rId41" Type="http://schemas.openxmlformats.org/officeDocument/2006/relationships/customXml" Target="../customXml/item5.xml"/><Relationship Id="rId40" Type="http://schemas.openxmlformats.org/officeDocument/2006/relationships/customXml" Target="../customXml/item4.xml"/><Relationship Id="rId4" Type="http://schemas.openxmlformats.org/officeDocument/2006/relationships/slide" Target="slides/slide2.xml"/><Relationship Id="rId39" Type="http://schemas.openxmlformats.org/officeDocument/2006/relationships/customXml" Target="../customXml/item3.xml"/><Relationship Id="rId38" Type="http://schemas.openxmlformats.org/officeDocument/2006/relationships/customXml" Target="../customXml/item2.xml"/><Relationship Id="rId37" Type="http://schemas.openxmlformats.org/officeDocument/2006/relationships/customXml" Target="../customXml/item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 descr="矩形"/>
          <p:cNvSpPr/>
          <p:nvPr/>
        </p:nvSpPr>
        <p:spPr>
          <a:xfrm>
            <a:off x="-116437" y="-46954"/>
            <a:ext cx="12424873" cy="695190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12750">
              <a:spcBef>
                <a:spcPts val="1900"/>
              </a:spcBef>
              <a:defRPr sz="2000">
                <a:solidFill>
                  <a:srgbClr val="000000"/>
                </a:solidFill>
                <a:latin typeface="FZYanSongS-DB-GB"/>
                <a:ea typeface="FZYanSongS-DB-GB"/>
                <a:cs typeface="FZYanSongS-DB-GB"/>
                <a:sym typeface="FZYanSongS-DB-GB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" name="image3.png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21" y="2753965"/>
            <a:ext cx="875298" cy="8752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Shape 15"/>
          <p:cNvSpPr/>
          <p:nvPr>
            <p:ph type="title" hasCustomPrompt="1"/>
          </p:nvPr>
        </p:nvSpPr>
        <p:spPr>
          <a:xfrm>
            <a:off x="1524000" y="2556613"/>
            <a:ext cx="9144000" cy="1270002"/>
          </a:xfrm>
          <a:prstGeom prst="rect">
            <a:avLst/>
          </a:prstGeom>
        </p:spPr>
        <p:txBody>
          <a:bodyPr lIns="65314" tIns="65314" rIns="65314" bIns="65314"/>
          <a:lstStyle>
            <a:lvl1pPr>
              <a:defRPr sz="60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9" name="Shape 19"/>
          <p:cNvSpPr/>
          <p:nvPr>
            <p:ph type="sldNum" sz="quarter" idx="2"/>
          </p:nvPr>
        </p:nvSpPr>
        <p:spPr>
          <a:xfrm>
            <a:off x="5954668" y="6537959"/>
            <a:ext cx="269603" cy="282303"/>
          </a:xfrm>
          <a:prstGeom prst="rect">
            <a:avLst/>
          </a:prstGeom>
        </p:spPr>
        <p:txBody>
          <a:bodyPr lIns="52251" tIns="52251" rIns="52251" bIns="52251"/>
          <a:lstStyle>
            <a:lvl1pPr defTabSz="400050">
              <a:defRPr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首页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body" sz="quarter" idx="13" hasCustomPrompt="1"/>
          </p:nvPr>
        </p:nvSpPr>
        <p:spPr>
          <a:xfrm>
            <a:off x="889000" y="2348646"/>
            <a:ext cx="10414000" cy="140294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220" name="Shape 220"/>
          <p:cNvSpPr/>
          <p:nvPr>
            <p:ph type="body" sz="quarter" idx="14"/>
          </p:nvPr>
        </p:nvSpPr>
        <p:spPr>
          <a:xfrm>
            <a:off x="5759450" y="4120024"/>
            <a:ext cx="673101" cy="469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buSzTx/>
              <a:buNone/>
              <a:defRPr>
                <a:solidFill>
                  <a:srgbClr val="D5D5D5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pPr>
          </a:p>
        </p:txBody>
      </p:sp>
      <p:sp>
        <p:nvSpPr>
          <p:cNvPr id="221" name="Shape 22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/>
          <p:nvPr/>
        </p:nvSpPr>
        <p:spPr>
          <a:xfrm>
            <a:off x="11274538" y="306425"/>
            <a:ext cx="579873" cy="521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749"/>
                </a:moveTo>
                <a:lnTo>
                  <a:pt x="0" y="851"/>
                </a:lnTo>
                <a:cubicBezTo>
                  <a:pt x="0" y="381"/>
                  <a:pt x="381" y="0"/>
                  <a:pt x="851" y="0"/>
                </a:cubicBezTo>
                <a:lnTo>
                  <a:pt x="20749" y="0"/>
                </a:lnTo>
                <a:cubicBezTo>
                  <a:pt x="21219" y="0"/>
                  <a:pt x="21600" y="381"/>
                  <a:pt x="21600" y="851"/>
                </a:cubicBezTo>
                <a:lnTo>
                  <a:pt x="21600" y="20749"/>
                </a:lnTo>
                <a:cubicBezTo>
                  <a:pt x="21600" y="21219"/>
                  <a:pt x="21219" y="21600"/>
                  <a:pt x="20749" y="21600"/>
                </a:cubicBezTo>
                <a:lnTo>
                  <a:pt x="851" y="21600"/>
                </a:lnTo>
                <a:cubicBezTo>
                  <a:pt x="381" y="21600"/>
                  <a:pt x="0" y="21219"/>
                  <a:pt x="0" y="20749"/>
                </a:cubicBezTo>
                <a:close/>
              </a:path>
            </a:pathLst>
          </a:custGeom>
          <a:gradFill>
            <a:gsLst>
              <a:gs pos="0">
                <a:srgbClr val="FF6A00"/>
              </a:gs>
              <a:gs pos="100000">
                <a:srgbClr val="FF4C00"/>
              </a:gs>
            </a:gsLst>
            <a:lin ang="5400000"/>
          </a:gradFill>
          <a:ln w="3175">
            <a:miter lim="400000"/>
          </a:ln>
        </p:spPr>
        <p:txBody>
          <a:bodyPr lIns="22859" tIns="22859" rIns="22859" bIns="22859" anchor="ctr"/>
          <a:lstStyle/>
          <a:p>
            <a:pPr algn="ctr" defTabSz="457200">
              <a:defRPr sz="120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image0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375242" y="452461"/>
            <a:ext cx="374868" cy="22437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Shape 6"/>
          <p:cNvSpPr/>
          <p:nvPr>
            <p:ph type="sldNum" sz="quarter" idx="2"/>
          </p:nvPr>
        </p:nvSpPr>
        <p:spPr>
          <a:xfrm>
            <a:off x="5976340" y="6540500"/>
            <a:ext cx="232970" cy="2368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algn="ctr" defTabSz="412750">
              <a:defRPr sz="1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5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8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22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85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49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12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76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39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7.xml"/><Relationship Id="rId3" Type="http://schemas.openxmlformats.org/officeDocument/2006/relationships/image" Target="../media/image11.png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image" Target="../media/image23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2850" y="4364990"/>
            <a:ext cx="10438130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内核级诊断工具</a:t>
            </a:r>
            <a:endParaRPr kumimoji="0" lang="zh-CN" altLang="en-US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9" name="图片 8" descr="mysql_PNG22-removebg-preview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44335" y="836295"/>
            <a:ext cx="4342765" cy="332486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9115" y="2348865"/>
            <a:ext cx="10433685" cy="15760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500" b="1" i="0" u="none" strike="noStrike" cap="none" spc="0" normalizeH="0" baseline="0">
                <a:ln>
                  <a:solidFill>
                    <a:srgbClr val="161E3B"/>
                  </a:solidFill>
                </a:ln>
                <a:solidFill>
                  <a:schemeClr val="accent5">
                    <a:alpha val="92000"/>
                  </a:schemeClr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</a:t>
            </a:r>
            <a:endParaRPr kumimoji="0" lang="zh-CN" altLang="en-US" sz="11500" b="1" i="0" u="none" strike="noStrike" cap="none" spc="0" normalizeH="0" baseline="0">
              <a:ln>
                <a:solidFill>
                  <a:srgbClr val="161E3B"/>
                </a:solidFill>
              </a:ln>
              <a:solidFill>
                <a:schemeClr val="accent5">
                  <a:alpha val="92000"/>
                </a:schemeClr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207260" y="2420620"/>
            <a:ext cx="5678805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OPlusSans 3.0" panose="00000500000000000000" charset="-122"/>
                <a:sym typeface="Helvetica Neue Medium"/>
              </a:rPr>
              <a:t>孟小哥抓虫</a:t>
            </a:r>
            <a:endParaRPr kumimoji="0" lang="zh-CN" altLang="en-US" sz="8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247890" y="2996565"/>
            <a:ext cx="1360170" cy="678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vlog</a:t>
            </a:r>
            <a:endParaRPr kumimoji="0" lang="en-US" altLang="zh-CN" sz="3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919605" y="2662873"/>
            <a:ext cx="7863840" cy="12090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eBPF</a:t>
            </a:r>
            <a:r>
              <a:rPr kumimoji="0" lang="zh-CN" altLang="en-US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介绍</a:t>
            </a:r>
            <a:endParaRPr kumimoji="0" lang="zh-CN" altLang="en-US" sz="72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eBPF</a:t>
            </a: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介绍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127760" y="1196975"/>
            <a:ext cx="9691370" cy="15786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BPF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早期是为高效捕获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网络包而开发，后期扩展成一个通用的执行引擎，实际类似于在内核中运行的虚拟机，执行</a:t>
            </a:r>
            <a:r>
              <a:rPr lang="en-US" altLang="zh-CN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eBPF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字节码以处理</a:t>
            </a:r>
            <a:r>
              <a:rPr lang="en-US" altLang="zh-CN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tracepoint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lang="en-US" altLang="zh-CN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kprobe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等事件，并将事件数据存储在</a:t>
            </a:r>
            <a:r>
              <a:rPr lang="en-US" altLang="zh-CN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eBPF maps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中然后输出，以提供强大的</a:t>
            </a:r>
            <a:r>
              <a:rPr lang="zh-CN" altLang="en-US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可编程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观测能力。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0" name="图片 99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03350" y="2853055"/>
            <a:ext cx="9079230" cy="35191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eBPF</a:t>
            </a: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介绍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127760" y="1512253"/>
            <a:ext cx="9691370" cy="26866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基于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eBPF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机制，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社区演化出了多种观测工具，如bcc、bpftrace，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其中：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主要偏向于提供场景化的诊断工具，如runqslower追踪线程调度延迟，memleak追踪内存泄露。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bpftrace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提供类似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awk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的脚本语言，用于快速编写新的诊断工具。</a:t>
            </a:r>
            <a:endParaRPr kumimoji="0" lang="en-US" alt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919605" y="2662873"/>
            <a:ext cx="7863840" cy="12090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bcc</a:t>
            </a:r>
            <a:r>
              <a:rPr kumimoji="0" lang="zh-CN" altLang="en-US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工具集</a:t>
            </a:r>
            <a:endParaRPr kumimoji="0" lang="zh-CN" altLang="en-US" sz="72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bcc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工具集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695325" y="2061210"/>
            <a:ext cx="3362325" cy="25520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工具集提供了大量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开箱即用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的诊断工具，包括从应用程序、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、内存、磁盘、网络层面的各种工具，可视情况从右图查找。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6" name="图片 105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04005" y="692785"/>
            <a:ext cx="7874000" cy="53917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bcc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工具集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95325" y="1701165"/>
            <a:ext cx="2736850" cy="3896360"/>
            <a:chOff x="1095" y="2679"/>
            <a:chExt cx="4310" cy="6136"/>
          </a:xfrm>
        </p:grpSpPr>
        <p:sp>
          <p:nvSpPr>
            <p:cNvPr id="2" name="圆角矩形 1"/>
            <p:cNvSpPr/>
            <p:nvPr/>
          </p:nvSpPr>
          <p:spPr>
            <a:xfrm>
              <a:off x="2116" y="4039"/>
              <a:ext cx="2293" cy="661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java</a:t>
              </a: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服务器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" name="圆角矩形 3"/>
            <p:cNvSpPr/>
            <p:nvPr>
              <p:custDataLst>
                <p:tags r:id="rId2"/>
              </p:custDataLst>
            </p:nvPr>
          </p:nvSpPr>
          <p:spPr>
            <a:xfrm>
              <a:off x="1874" y="6727"/>
              <a:ext cx="2510" cy="665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mysql</a:t>
              </a: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服务器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" name="圆角矩形 4"/>
            <p:cNvSpPr/>
            <p:nvPr>
              <p:custDataLst>
                <p:tags r:id="rId3"/>
              </p:custDataLst>
            </p:nvPr>
          </p:nvSpPr>
          <p:spPr>
            <a:xfrm>
              <a:off x="1588" y="7747"/>
              <a:ext cx="3225" cy="661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磁盘、线程调度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095" y="6229"/>
              <a:ext cx="4310" cy="2587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7" name="直接箭头连接符 6"/>
            <p:cNvCxnSpPr>
              <a:stCxn id="2" idx="2"/>
              <a:endCxn id="6" idx="0"/>
            </p:cNvCxnSpPr>
            <p:nvPr/>
          </p:nvCxnSpPr>
          <p:spPr>
            <a:xfrm flipH="1">
              <a:off x="3250" y="4700"/>
              <a:ext cx="13" cy="1529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3313" y="5143"/>
              <a:ext cx="1071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网络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10" name="直接箭头连接符 9"/>
            <p:cNvCxnSpPr>
              <a:endCxn id="2" idx="0"/>
            </p:cNvCxnSpPr>
            <p:nvPr/>
          </p:nvCxnSpPr>
          <p:spPr>
            <a:xfrm>
              <a:off x="3250" y="2679"/>
              <a:ext cx="13" cy="1360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>
              <p:custDataLst>
                <p:tags r:id="rId4"/>
              </p:custDataLst>
            </p:nvPr>
          </p:nvSpPr>
          <p:spPr>
            <a:xfrm>
              <a:off x="3363" y="3061"/>
              <a:ext cx="1071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请求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pic>
        <p:nvPicPr>
          <p:cNvPr id="104" name="图片 103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791268" y="485775"/>
            <a:ext cx="8067675" cy="5886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bcc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工具集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95325" y="1701165"/>
            <a:ext cx="2736850" cy="3896360"/>
            <a:chOff x="1095" y="2679"/>
            <a:chExt cx="4310" cy="6136"/>
          </a:xfrm>
        </p:grpSpPr>
        <p:sp>
          <p:nvSpPr>
            <p:cNvPr id="2" name="圆角矩形 1"/>
            <p:cNvSpPr/>
            <p:nvPr/>
          </p:nvSpPr>
          <p:spPr>
            <a:xfrm>
              <a:off x="2116" y="4039"/>
              <a:ext cx="2293" cy="661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java</a:t>
              </a: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服务器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" name="圆角矩形 3"/>
            <p:cNvSpPr/>
            <p:nvPr>
              <p:custDataLst>
                <p:tags r:id="rId2"/>
              </p:custDataLst>
            </p:nvPr>
          </p:nvSpPr>
          <p:spPr>
            <a:xfrm>
              <a:off x="1874" y="6727"/>
              <a:ext cx="2510" cy="665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mysql</a:t>
              </a: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服务器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" name="圆角矩形 4"/>
            <p:cNvSpPr/>
            <p:nvPr>
              <p:custDataLst>
                <p:tags r:id="rId3"/>
              </p:custDataLst>
            </p:nvPr>
          </p:nvSpPr>
          <p:spPr>
            <a:xfrm>
              <a:off x="1588" y="7747"/>
              <a:ext cx="3225" cy="661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磁盘、线程调度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095" y="6229"/>
              <a:ext cx="4310" cy="2587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7" name="直接箭头连接符 6"/>
            <p:cNvCxnSpPr>
              <a:stCxn id="2" idx="2"/>
              <a:endCxn id="6" idx="0"/>
            </p:cNvCxnSpPr>
            <p:nvPr/>
          </p:nvCxnSpPr>
          <p:spPr>
            <a:xfrm flipH="1">
              <a:off x="3250" y="4700"/>
              <a:ext cx="13" cy="1529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3313" y="5143"/>
              <a:ext cx="1071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网络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10" name="直接箭头连接符 9"/>
            <p:cNvCxnSpPr>
              <a:endCxn id="2" idx="0"/>
            </p:cNvCxnSpPr>
            <p:nvPr/>
          </p:nvCxnSpPr>
          <p:spPr>
            <a:xfrm>
              <a:off x="3250" y="2679"/>
              <a:ext cx="13" cy="1360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>
              <p:custDataLst>
                <p:tags r:id="rId4"/>
              </p:custDataLst>
            </p:nvPr>
          </p:nvSpPr>
          <p:spPr>
            <a:xfrm>
              <a:off x="3363" y="3061"/>
              <a:ext cx="1071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请求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pic>
        <p:nvPicPr>
          <p:cNvPr id="105" name="图片 104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935413" y="836930"/>
            <a:ext cx="7667625" cy="5581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bcc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工具集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95325" y="1701165"/>
            <a:ext cx="2736850" cy="3896360"/>
            <a:chOff x="1095" y="2679"/>
            <a:chExt cx="4310" cy="6136"/>
          </a:xfrm>
        </p:grpSpPr>
        <p:sp>
          <p:nvSpPr>
            <p:cNvPr id="2" name="圆角矩形 1"/>
            <p:cNvSpPr/>
            <p:nvPr/>
          </p:nvSpPr>
          <p:spPr>
            <a:xfrm>
              <a:off x="2116" y="4039"/>
              <a:ext cx="2293" cy="661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java</a:t>
              </a: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服务器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" name="圆角矩形 3"/>
            <p:cNvSpPr/>
            <p:nvPr>
              <p:custDataLst>
                <p:tags r:id="rId2"/>
              </p:custDataLst>
            </p:nvPr>
          </p:nvSpPr>
          <p:spPr>
            <a:xfrm>
              <a:off x="1874" y="6727"/>
              <a:ext cx="2510" cy="665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mysql</a:t>
              </a: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服务器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" name="圆角矩形 4"/>
            <p:cNvSpPr/>
            <p:nvPr>
              <p:custDataLst>
                <p:tags r:id="rId3"/>
              </p:custDataLst>
            </p:nvPr>
          </p:nvSpPr>
          <p:spPr>
            <a:xfrm>
              <a:off x="1588" y="7747"/>
              <a:ext cx="3225" cy="661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磁盘、线程调度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095" y="6229"/>
              <a:ext cx="4310" cy="2587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7" name="直接箭头连接符 6"/>
            <p:cNvCxnSpPr>
              <a:stCxn id="2" idx="2"/>
              <a:endCxn id="6" idx="0"/>
            </p:cNvCxnSpPr>
            <p:nvPr/>
          </p:nvCxnSpPr>
          <p:spPr>
            <a:xfrm flipH="1">
              <a:off x="3250" y="4700"/>
              <a:ext cx="13" cy="1529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3313" y="5143"/>
              <a:ext cx="1071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网络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10" name="直接箭头连接符 9"/>
            <p:cNvCxnSpPr>
              <a:endCxn id="2" idx="0"/>
            </p:cNvCxnSpPr>
            <p:nvPr/>
          </p:nvCxnSpPr>
          <p:spPr>
            <a:xfrm>
              <a:off x="3250" y="2679"/>
              <a:ext cx="13" cy="1360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>
              <p:custDataLst>
                <p:tags r:id="rId4"/>
              </p:custDataLst>
            </p:nvPr>
          </p:nvSpPr>
          <p:spPr>
            <a:xfrm>
              <a:off x="3363" y="3061"/>
              <a:ext cx="1071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请求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pic>
        <p:nvPicPr>
          <p:cNvPr id="107" name="图片 106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575368" y="764540"/>
            <a:ext cx="8372475" cy="5581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86360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oncpu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</a:t>
            </a: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vs offcpu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767715" y="960755"/>
            <a:ext cx="8909050" cy="13322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线程在运行的过程中，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要么在CPU上执行，称其为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oncpu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要么被锁或io操作阻塞，从而离开CPU进去睡眠状态，称其为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offcpu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，待被解锁或io操作完成，线程会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被唤醒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而变成运行态。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2" name="图片 111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75460" y="2421255"/>
            <a:ext cx="7581265" cy="36836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bcc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剖析工具</a:t>
            </a:r>
            <a:endParaRPr kumimoji="0" lang="en-US" alt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767080" y="1412875"/>
            <a:ext cx="10855960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profile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和之前</a:t>
            </a:r>
            <a:r>
              <a:rPr lang="en-US" altLang="zh-CN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 record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一样，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用于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oncpu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分析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以发现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占用多的代码。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1" name="图片 110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135505" y="2067560"/>
            <a:ext cx="7467600" cy="42430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86360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bcc - oncpu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火焰图</a:t>
            </a:r>
            <a:endParaRPr kumimoji="0" lang="en-US" alt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43660" y="1484630"/>
            <a:ext cx="9632315" cy="500443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767715" y="804545"/>
            <a:ext cx="10022840" cy="7169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从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栈寄存器出发，定时采样线程栈，然后相同栈在火焰图中合并，故越宽的线程栈，表示其耗费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越多。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bcc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剖析工具</a:t>
            </a:r>
            <a:endParaRPr kumimoji="0" lang="en-US" alt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767080" y="1412875"/>
            <a:ext cx="10855960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offcputime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工具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提供了</a:t>
            </a:r>
            <a:r>
              <a:rPr lang="en-US" altLang="zh-CN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offcpu</a:t>
            </a:r>
            <a:r>
              <a:rPr lang="zh-CN" altLang="en-US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分析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功能，用于发现关键的耗时代码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3" name="图片 112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1860" y="1883410"/>
            <a:ext cx="7467600" cy="42792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86360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bcc - offcpu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火焰图</a:t>
            </a:r>
            <a:endParaRPr kumimoji="0" lang="en-US" alt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767715" y="979805"/>
            <a:ext cx="10022840" cy="7169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offcputime</a:t>
            </a: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通过追踪Linux上下文切换函数finish_task_switch，以实现对线程睡眠时间的测量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，故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offcpu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的栈宽代表的是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线程睡眠时间</a:t>
            </a: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1860" y="1772285"/>
            <a:ext cx="9648190" cy="448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86360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等线" panose="02010600030101010101" charset="-122"/>
                <a:ea typeface="等线" panose="02010600030101010101" charset="-122"/>
                <a:cs typeface="OPlusSans 3.0" panose="00000500000000000000" charset="-122"/>
                <a:sym typeface="Helvetica Neue Medium"/>
              </a:rPr>
              <a:t>BPF CO-RE</a:t>
            </a:r>
            <a:endParaRPr kumimoji="0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等线" panose="02010600030101010101" charset="-122"/>
              <a:ea typeface="等线" panose="0201060003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767715" y="836930"/>
            <a:ext cx="10022840" cy="29108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工具本身是一个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脚本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(python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lua)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，然后内嵌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C/C++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BPF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代码，然后在运行时通过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LLVM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动态编译后运行，这使得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工具有如下问题：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启动时，会占用一些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、内存资源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由于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运行时才编译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，故需要依赖于内核头文件包的安装。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R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为了解决这些问题，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BPF CO-RE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出现了，它直接编译成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小型的二进制执行程序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，以提升性能并去掉不必要的依赖。</a:t>
            </a:r>
            <a:endParaRPr kumimoji="0" lang="en-US" alt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5" name="图片 114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59243" y="3747770"/>
            <a:ext cx="8067675" cy="1924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86360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等线" panose="02010600030101010101" charset="-122"/>
                <a:ea typeface="等线" panose="02010600030101010101" charset="-122"/>
                <a:cs typeface="OPlusSans 3.0" panose="00000500000000000000" charset="-122"/>
                <a:sym typeface="Helvetica Neue Medium"/>
              </a:rPr>
              <a:t>BPF CO-RE</a:t>
            </a:r>
            <a:endParaRPr kumimoji="0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等线" panose="02010600030101010101" charset="-122"/>
              <a:ea typeface="等线" panose="0201060003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839470" y="1052830"/>
            <a:ext cx="9058275" cy="7353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BPF CO-RE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版的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命令，性能高于原始脚本版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命令，如有条件，尽量选择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CO-RE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版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工具，对比如下：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6" name="图片 115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135188" y="1988820"/>
            <a:ext cx="5572125" cy="3752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919605" y="2662873"/>
            <a:ext cx="7863840" cy="12090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bpftrace</a:t>
            </a:r>
            <a:r>
              <a:rPr kumimoji="0" lang="zh-CN" altLang="en-US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工具集</a:t>
            </a:r>
            <a:endParaRPr kumimoji="0" lang="zh-CN" altLang="en-US" sz="72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bpftrace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工具集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717550" y="1262380"/>
            <a:ext cx="10545445" cy="15087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bpftrace对e</a:t>
            </a: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BPF</a:t>
            </a:r>
            <a:r>
              <a: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技术进行封装，实现了一种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类似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awk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kumimoji="0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脚本语言</a:t>
            </a:r>
            <a:r>
              <a: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，封装了常见语句块，并提供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了</a:t>
            </a:r>
            <a:r>
              <a: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内置变量与内置函数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，使用它们可以很简单的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编写自己的诊断工具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，而不用学习复杂的</a:t>
            </a: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bpf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开发技术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8" name="图片 117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3750" y="3141028"/>
            <a:ext cx="5867400" cy="1628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bpftrace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实例</a:t>
            </a: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1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：在调用端追踪慢SQL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717550" y="1262380"/>
            <a:ext cx="10545445" cy="9334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java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mysql驱动，它使用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sendto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与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recvfrom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系统调用来与mysql服务器通信，因此，我们在sendto调用时，计下时间点，然后在recvfrom结束时，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计算时间之差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，就可以得到相应SQL的耗时了，如下：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9" name="图片 118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38935" y="2336165"/>
            <a:ext cx="8914130" cy="38150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bpftrace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实例</a:t>
            </a: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1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：在调用端追踪慢SQL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373380" y="1701165"/>
            <a:ext cx="3130550" cy="41675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编写追踪脚本trace_slowsql_from_syscall.bt，其中：</a:t>
            </a:r>
            <a:endParaRPr kumimoji="0" lang="zh-CN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comm</a:t>
            </a: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表示进程名称，</a:t>
            </a:r>
            <a:endParaRPr kumimoji="0" lang="zh-CN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tid</a:t>
            </a: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表示线程号，</a:t>
            </a:r>
            <a:endParaRPr kumimoji="0" lang="zh-CN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@query[tid]与@start[tid]</a:t>
            </a: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类似map，以tid为key的话，这个变量就像一个线程本地变量了。</a:t>
            </a:r>
            <a:endParaRPr kumimoji="0" lang="zh-CN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20" name="图片 119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503930" y="1190625"/>
            <a:ext cx="8620125" cy="52114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bpftrace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实例</a:t>
            </a: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1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：在调用端追踪慢SQL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0750" y="1628775"/>
            <a:ext cx="8903970" cy="5842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调用上面的脚本，可以看到各SQL执行耗时，如下：</a:t>
            </a:r>
            <a:endParaRPr kumimoji="0" lang="zh-CN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21" name="图片 120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83615" y="2329180"/>
            <a:ext cx="9185910" cy="33604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bpftrace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实例</a:t>
            </a: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2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：在服务端追踪慢SQL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0750" y="1341120"/>
            <a:ext cx="8903970" cy="12477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从调用端来追踪SQL耗时，会包含网络往返时间，为了得到更精确的SQL耗时，我们可以写一个</a:t>
            </a: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追踪服务端mysql</a:t>
            </a: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的脚本，来观测SQL耗时。</a:t>
            </a:r>
            <a:endParaRPr kumimoji="0" lang="zh-CN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R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先找到mysqld服务进程的可执行文件与入口函数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dispatch_command</a:t>
            </a: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，如下：</a:t>
            </a:r>
            <a:endParaRPr kumimoji="0" lang="zh-CN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22" name="图片 121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1180" y="2853055"/>
            <a:ext cx="11405235" cy="2886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bpftrace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实例</a:t>
            </a: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2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：在服务端追踪慢SQL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622935" y="2348865"/>
            <a:ext cx="2845435" cy="20523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追踪脚本整体上与之前系统调用版本的类似，不过追踪点换成了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uprobe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23" name="图片 122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482340" y="1124585"/>
            <a:ext cx="8667750" cy="52463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bpftrace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实例</a:t>
            </a: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：找出扫描大量行的SQL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0750" y="1341120"/>
            <a:ext cx="8903970" cy="39592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众所周知，SQL执行时需要扫描数据，并且</a:t>
            </a: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扫描的数据越多，SQL性能就会越差</a:t>
            </a: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R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kumimoji="0" lang="zh-CN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R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但对于一些中间情况，SQL扫描行数不多也不少，如2w条。且这</a:t>
            </a: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2w条数据都在缓存中的话，SQL执行时间不会很长</a:t>
            </a: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，导致没有记录在慢查询日志中，但如果这样的SQL并发量大起来的话，</a:t>
            </a: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会非常耗费CPU</a:t>
            </a: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R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kumimoji="0" lang="zh-CN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R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对于mysql的话，扫描行的函数是</a:t>
            </a: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row_search_mvcc</a:t>
            </a: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（如果你经常抓取mysql栈的话，很容易发现这个函数），每扫一行调用一次，如果在追踪脚本中追踪此函数，记录下调用次数，就可以观测SQL的扫描行数了，如下：</a:t>
            </a:r>
            <a:endParaRPr kumimoji="0" lang="zh-CN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85725"/>
            <a:ext cx="10640060" cy="113982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bpftrace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实例</a:t>
            </a: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：找出扫描大量行的SQL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24" name="图片 123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7715" y="932180"/>
            <a:ext cx="10772775" cy="5483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85725"/>
            <a:ext cx="10640060" cy="113982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bpftrace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实例</a:t>
            </a: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：找出扫描大量行的SQL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25" name="图片 124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2000" y="1628458"/>
            <a:ext cx="10668000" cy="4410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839470" y="981075"/>
            <a:ext cx="8903970" cy="5842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脚本执行效果，如下，可以发现，只要扫描行数变大，耗时就会变长。</a:t>
            </a:r>
            <a:endParaRPr kumimoji="0" lang="zh-CN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2526030" y="5949315"/>
            <a:ext cx="8903970" cy="5842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r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注：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id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列是主键，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seq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列没有索引。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bpftrace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工具集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695325" y="2061210"/>
            <a:ext cx="3362325" cy="25520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基于此脚本语言，又演化出了一套类似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场景化的诊断命令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，目前还在快速演化中。</a:t>
            </a:r>
            <a:endParaRPr kumimoji="0" lang="en-US" alt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7" name="图片 116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368165" y="1341120"/>
            <a:ext cx="7457440" cy="45612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总结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1860" y="1412875"/>
            <a:ext cx="9297670" cy="41522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是使用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eBPF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技术写好的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场景化的诊断工具集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，方便诊断各种场景的问题。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提供了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profile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与</a:t>
            </a:r>
            <a:r>
              <a:rPr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offcputime</a:t>
            </a:r>
            <a:r>
              <a:rPr lang="zh-CN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以支持</a:t>
            </a:r>
            <a:r>
              <a:rPr lang="en-US" altLang="zh-CN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oncpu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与</a:t>
            </a:r>
            <a:r>
              <a:rPr lang="en-US" altLang="zh-CN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offcpu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分析方法，以方便诊断高</a:t>
            </a:r>
            <a:r>
              <a:rPr lang="en-US" altLang="zh-CN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和高耗时问题。</a:t>
            </a:r>
            <a:endParaRPr lang="zh-CN" altLang="en-US" sz="2400" b="1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endParaRPr lang="zh-CN" altLang="en-US" sz="2400" b="1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bpftrace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基于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eBPF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实现了一种类似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awk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脚本语言，基于此可很方便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编写自己的诊断脚本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bpftrace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也基于其语法，开发了一套类似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诊断命令集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，方便诊断各种问题。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1_New_Template7">
  <a:themeElements>
    <a:clrScheme name="New_Template7">
      <a:dk1>
        <a:srgbClr val="222222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0.xml"/></Relationships>
</file>

<file path=customXml/item1.xml>��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Props81.xml><?xml version="1.0" encoding="utf-8"?>
<ds:datastoreItem xmlns:ds="http://schemas.openxmlformats.org/officeDocument/2006/customXml" ds:itemID="{f7bc79f2-c455-434b-bca9-875aecb91bf3}">
  <ds:schemaRefs/>
</ds:datastoreItem>
</file>

<file path=customXml/itemProps82.xml><?xml version="1.0" encoding="utf-8"?>
<ds:datastoreItem xmlns:ds="http://schemas.openxmlformats.org/officeDocument/2006/customXml" ds:itemID="{3c132078-98b1-4deb-b4fd-a1bec46831f1}">
  <ds:schemaRefs/>
</ds:datastoreItem>
</file>

<file path=customXml/itemProps83.xml><?xml version="1.0" encoding="utf-8"?>
<ds:datastoreItem xmlns:ds="http://schemas.openxmlformats.org/officeDocument/2006/customXml" ds:itemID="{c5c661d3-4756-4449-af8a-01387bd7a269}">
  <ds:schemaRefs/>
</ds:datastoreItem>
</file>

<file path=customXml/itemProps84.xml><?xml version="1.0" encoding="utf-8"?>
<ds:datastoreItem xmlns:ds="http://schemas.openxmlformats.org/officeDocument/2006/customXml" ds:itemID="{58dabdbb-c60f-4057-89a4-b5f24a98f472}">
  <ds:schemaRefs/>
</ds:datastoreItem>
</file>

<file path=customXml/itemProps85.xml><?xml version="1.0" encoding="utf-8"?>
<ds:datastoreItem xmlns:ds="http://schemas.openxmlformats.org/officeDocument/2006/customXml" ds:itemID="{6ad86b82-52b5-47a8-ba6d-e9bbe075a083}">
  <ds:schemaRefs/>
</ds:datastoreItem>
</file>

<file path=customXml/itemProps86.xml><?xml version="1.0" encoding="utf-8"?>
<ds:datastoreItem xmlns:ds="http://schemas.openxmlformats.org/officeDocument/2006/customXml" ds:itemID="{8fd2a99b-51ca-42d4-8a98-ac38bf31ee8f}">
  <ds:schemaRefs/>
</ds:datastoreItem>
</file>

<file path=customXml/itemProps87.xml><?xml version="1.0" encoding="utf-8"?>
<ds:datastoreItem xmlns:ds="http://schemas.openxmlformats.org/officeDocument/2006/customXml" ds:itemID="{667e9340-f440-47f7-819a-cdc7dab5fa96}">
  <ds:schemaRefs/>
</ds:datastoreItem>
</file>

<file path=customXml/itemProps88.xml><?xml version="1.0" encoding="utf-8"?>
<ds:datastoreItem xmlns:ds="http://schemas.openxmlformats.org/officeDocument/2006/customXml" ds:itemID="{ae649005-3b55-4298-8017-458659bde268}">
  <ds:schemaRefs/>
</ds:datastoreItem>
</file>

<file path=customXml/itemProps89.xml><?xml version="1.0" encoding="utf-8"?>
<ds:datastoreItem xmlns:ds="http://schemas.openxmlformats.org/officeDocument/2006/customXml" ds:itemID="{eb8fafd0-aa01-4764-b4e6-708160bc6a19}">
  <ds:schemaRefs/>
</ds:datastoreItem>
</file>

<file path=customXml/itemProps90.xml><?xml version="1.0" encoding="utf-8"?>
<ds:datastoreItem xmlns:ds="http://schemas.openxmlformats.org/officeDocument/2006/customXml" ds:itemID="{8960f00e-c9fa-4aa6-a52d-50d8f8a99cd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2300</Words>
  <Application>WPS 演示</Application>
  <PresentationFormat/>
  <Paragraphs>161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6" baseType="lpstr">
      <vt:lpstr>Arial</vt:lpstr>
      <vt:lpstr>宋体</vt:lpstr>
      <vt:lpstr>Wingdings</vt:lpstr>
      <vt:lpstr>FZYanSongS-EB-GB</vt:lpstr>
      <vt:lpstr>Segoe Print</vt:lpstr>
      <vt:lpstr>Gill Sans</vt:lpstr>
      <vt:lpstr>OPlusSans 3.0</vt:lpstr>
      <vt:lpstr>Helvetica Neue Light</vt:lpstr>
      <vt:lpstr>Helvetica Neue Medium</vt:lpstr>
      <vt:lpstr>Helvetica Neue</vt:lpstr>
      <vt:lpstr>FZYanSongS-DB-GB</vt:lpstr>
      <vt:lpstr>PingFang SC Light</vt:lpstr>
      <vt:lpstr>等线</vt:lpstr>
      <vt:lpstr>素材集市康康体</vt:lpstr>
      <vt:lpstr>微软雅黑</vt:lpstr>
      <vt:lpstr>Arial Unicode MS</vt:lpstr>
      <vt:lpstr>1_New_Template7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WPS_1537012719</cp:lastModifiedBy>
  <cp:revision>1466</cp:revision>
  <dcterms:created xsi:type="dcterms:W3CDTF">2019-02-26T11:09:00Z</dcterms:created>
  <dcterms:modified xsi:type="dcterms:W3CDTF">2024-09-25T02:31:59Z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EA77B28E96264594AB10500AE223598A_12</vt:lpwstr>
  </property>
</Properties>
</file>