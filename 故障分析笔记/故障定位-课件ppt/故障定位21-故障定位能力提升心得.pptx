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1"/>
  </p:handoutMasterIdLst>
  <p:sldIdLst>
    <p:sldId id="406" r:id="rId3"/>
    <p:sldId id="360" r:id="rId4"/>
    <p:sldId id="618" r:id="rId5"/>
    <p:sldId id="688" r:id="rId7"/>
    <p:sldId id="689" r:id="rId8"/>
    <p:sldId id="690" r:id="rId9"/>
    <p:sldId id="691" r:id="rId10"/>
  </p:sldIdLst>
  <p:sldSz cx="12192000" cy="6858000"/>
  <p:notesSz cx="6858000" cy="9144000"/>
  <p:custDataLst>
    <p:tags r:id="rId25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3F969A"/>
    <a:srgbClr val="19DEA6"/>
    <a:srgbClr val="FBDF43"/>
    <a:srgbClr val="BDDAB3"/>
    <a:srgbClr val="161E3B"/>
    <a:srgbClr val="FDED42"/>
    <a:srgbClr val="F04238"/>
    <a:srgbClr val="FFB35A"/>
    <a:srgbClr val="FFC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30.xml"/><Relationship Id="rId24" Type="http://schemas.openxmlformats.org/officeDocument/2006/relationships/customXml" Target="../customXml/item10.xml"/><Relationship Id="rId23" Type="http://schemas.openxmlformats.org/officeDocument/2006/relationships/customXml" Target="../customXml/item9.xml"/><Relationship Id="rId22" Type="http://schemas.openxmlformats.org/officeDocument/2006/relationships/customXml" Target="../customXml/item8.xml"/><Relationship Id="rId21" Type="http://schemas.openxmlformats.org/officeDocument/2006/relationships/customXml" Target="../customXml/item7.xml"/><Relationship Id="rId20" Type="http://schemas.openxmlformats.org/officeDocument/2006/relationships/customXml" Target="../customXml/item6.xml"/><Relationship Id="rId2" Type="http://schemas.openxmlformats.org/officeDocument/2006/relationships/theme" Target="theme/theme1.xml"/><Relationship Id="rId19" Type="http://schemas.openxmlformats.org/officeDocument/2006/relationships/customXml" Target="../customXml/item5.xml"/><Relationship Id="rId18" Type="http://schemas.openxmlformats.org/officeDocument/2006/relationships/customXml" Target="../customXml/item4.xml"/><Relationship Id="rId17" Type="http://schemas.openxmlformats.org/officeDocument/2006/relationships/customXml" Target="../customXml/item3.xml"/><Relationship Id="rId16" Type="http://schemas.openxmlformats.org/officeDocument/2006/relationships/customXml" Target="../customXml/item2.xml"/><Relationship Id="rId15" Type="http://schemas.openxmlformats.org/officeDocument/2006/relationships/customXml" Target="../customXml/item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故障定位能力提升心得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故障定位能力提升心得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423795" y="1916430"/>
            <a:ext cx="5903595" cy="1064260"/>
            <a:chOff x="3817" y="3813"/>
            <a:chExt cx="9297" cy="1676"/>
          </a:xfrm>
        </p:grpSpPr>
        <p:sp>
          <p:nvSpPr>
            <p:cNvPr id="12" name="圆角矩形 11"/>
            <p:cNvSpPr/>
            <p:nvPr/>
          </p:nvSpPr>
          <p:spPr>
            <a:xfrm>
              <a:off x="3817" y="3813"/>
              <a:ext cx="2155" cy="66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学习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3" name="圆角矩形 12"/>
            <p:cNvSpPr/>
            <p:nvPr>
              <p:custDataLst>
                <p:tags r:id="rId2"/>
              </p:custDataLst>
            </p:nvPr>
          </p:nvSpPr>
          <p:spPr>
            <a:xfrm>
              <a:off x="7446" y="3816"/>
              <a:ext cx="2155" cy="66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实践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4" name="圆角矩形 13"/>
            <p:cNvSpPr/>
            <p:nvPr>
              <p:custDataLst>
                <p:tags r:id="rId3"/>
              </p:custDataLst>
            </p:nvPr>
          </p:nvSpPr>
          <p:spPr>
            <a:xfrm>
              <a:off x="10960" y="3813"/>
              <a:ext cx="2155" cy="66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复盘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5" name="右箭头 14"/>
            <p:cNvSpPr/>
            <p:nvPr/>
          </p:nvSpPr>
          <p:spPr>
            <a:xfrm>
              <a:off x="6312" y="3926"/>
              <a:ext cx="907" cy="454"/>
            </a:xfrm>
            <a:prstGeom prst="rightArrow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FZYanSongS-EB-GB"/>
                <a:ea typeface="FZYanSongS-EB-GB"/>
                <a:cs typeface="FZYanSongS-EB-GB"/>
                <a:sym typeface="FZYanSongS-EB-GB"/>
              </a:endParaRPr>
            </a:p>
          </p:txBody>
        </p:sp>
        <p:sp>
          <p:nvSpPr>
            <p:cNvPr id="16" name="右箭头 15"/>
            <p:cNvSpPr/>
            <p:nvPr>
              <p:custDataLst>
                <p:tags r:id="rId4"/>
              </p:custDataLst>
            </p:nvPr>
          </p:nvSpPr>
          <p:spPr>
            <a:xfrm>
              <a:off x="9827" y="3926"/>
              <a:ext cx="907" cy="454"/>
            </a:xfrm>
            <a:prstGeom prst="rightArrow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FZYanSongS-EB-GB"/>
                <a:ea typeface="FZYanSongS-EB-GB"/>
                <a:cs typeface="FZYanSongS-EB-GB"/>
                <a:sym typeface="FZYanSongS-EB-GB"/>
              </a:endParaRPr>
            </a:p>
          </p:txBody>
        </p:sp>
        <p:sp>
          <p:nvSpPr>
            <p:cNvPr id="17" name="上弧形箭头 16"/>
            <p:cNvSpPr/>
            <p:nvPr/>
          </p:nvSpPr>
          <p:spPr>
            <a:xfrm flipH="1" flipV="1">
              <a:off x="4951" y="4587"/>
              <a:ext cx="6804" cy="902"/>
            </a:xfrm>
            <a:prstGeom prst="curvedDownArrow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FZYanSongS-EB-GB"/>
                <a:ea typeface="FZYanSongS-EB-GB"/>
                <a:cs typeface="FZYanSongS-EB-GB"/>
                <a:sym typeface="FZYanSongS-EB-GB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559560" y="3572510"/>
            <a:ext cx="7844155" cy="17132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学习：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不断补充新的知识与原理，完善计算机基础知识与结构。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实践：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在各种实际场景中，实践所学的知识点，检验知识是否有</a:t>
            </a:r>
            <a:r>
              <a:rPr lang="zh-CN" altLang="en-US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遗漏，以及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理解是否正确。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复盘：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复盘每一次实践的效果，反思哪里了解有缺失或理解不够，并进入下一轮学习中完善。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故障定位能力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提升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学习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7715" y="1557020"/>
            <a:ext cx="9992995" cy="43688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342900" marR="0" indent="-3429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主动了解常见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Linux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命令的选项及用法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比如孟小哥之前大概有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3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个月时间，每天都会主动去探索一个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Linux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命令，以了解各个命令的主要用法与能力特点。</a:t>
            </a:r>
            <a:endParaRPr kumimoji="0" lang="zh-CN" altLang="en-US" sz="18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342900" marR="0" indent="-3429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2"/>
            </a:pPr>
            <a:r>
              <a:rPr lang="zh-CN" altLang="en-US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了解命令本身的运行原理</a:t>
            </a:r>
            <a:endParaRPr lang="zh-CN" altLang="en-US" b="1">
              <a:solidFill>
                <a:srgbClr val="FF9A2D"/>
              </a:solidFill>
              <a:latin typeface="OPlusSans 3.0" panose="00000500000000000000" charset="-122"/>
              <a:ea typeface="OPlusSans 3.0" panose="00000500000000000000" charset="-122"/>
              <a:sym typeface="FZYanSongS-EB-GB"/>
            </a:endParaRPr>
          </a:p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Linux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中许多命令的实现，本身就可以学到大量的知识，比如了解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strace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命令，就会了解到系统调用与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ptrace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相关知识，深究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exec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命令，就会了解到execve系统调用。</a:t>
            </a:r>
            <a:endParaRPr kumimoji="0" lang="zh-CN" altLang="en-US" sz="18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342900" marR="0" indent="-3429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3"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知识梳理与结构化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分治法是人类解复杂问题的算法框架，而结构化是人类记忆理解复杂事物的数据结构，人类社会到处都有结构化的应用，如一个国家，会通过结构化为省市区的行政单位来管理，而人类知识又会结构化为数理化等各种学科来方便学习理解。大家可以尝试一下对命令进行结构化。</a:t>
            </a:r>
            <a:endParaRPr kumimoji="0" lang="zh-CN" altLang="en-US" sz="18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故障定位能力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提升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实践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7715" y="1557020"/>
            <a:ext cx="9992995" cy="43688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342900" marR="0" indent="-3429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不仅要学命令，还要在实践中检验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R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计算机知识多而杂，如果只是学习而不实践，很快就会忘掉，因此需要在具体场景中实践，避免真正到用时，发现与想的不一样，比如连命令都安装不上。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342900" marR="0" indent="-3429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2"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不要只学理论知识，还要能观测程序是否按理论运行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操作系统、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JVM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、数据库等，不要只学习相关的理论知识，还需要能观测它们的运行情况，比如按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QPS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预测，理论上连接池足够，但如果不能观测活跃线程数，那就没有事实依据。</a:t>
            </a:r>
            <a:endParaRPr kumimoji="0" lang="zh-CN" altLang="en-US" sz="18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342900" marR="0" indent="-3429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3"/>
            </a:pPr>
            <a:r>
              <a:rPr lang="zh-CN" altLang="en-US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用实验来补充实践</a:t>
            </a:r>
            <a:endParaRPr lang="zh-CN" altLang="en-US" b="1">
              <a:solidFill>
                <a:srgbClr val="FF9A2D"/>
              </a:solidFill>
              <a:latin typeface="OPlusSans 3.0" panose="00000500000000000000" charset="-122"/>
              <a:ea typeface="OPlusSans 3.0" panose="00000500000000000000" charset="-122"/>
              <a:sym typeface="FZYanSongS-EB-GB"/>
            </a:endParaRPr>
          </a:p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有些时候，工作中遇不到那么多样的场景去实践，比如各种内存泄露，这种情况下，我们可以自己构造一些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case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然后去排查实践，以检验所学是否符合预期。</a:t>
            </a:r>
            <a:endParaRPr kumimoji="0" lang="zh-CN" altLang="en-US" sz="18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故障定位能力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提升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复盘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7715" y="1557020"/>
            <a:ext cx="9992995" cy="39795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342900" marR="0" indent="-3429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反思排查过程，哪里有运气成分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R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如果你经常看网上一些故障定位的文章，会发现不少文章，中间突然有一步，要么是硬看代码、要么是猜测，然后找到问题根因，这种排查过程其实有不少运气成分，而我希望问题是通过多年理论基础的积累和对诊断工具的熟练使用，而有章法的一步步查出来的。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342900" marR="0" indent="-3429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2"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如果没有运气，有没有更好的排查方法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比如我之前排查一次</a:t>
            </a:r>
            <a:r>
              <a:rPr lang="en-US" altLang="zh-CN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OOM</a:t>
            </a:r>
            <a:r>
              <a:rPr lang="zh-CN" altLang="en-US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问题，分析堆转储</a:t>
            </a:r>
            <a:r>
              <a:rPr lang="en-US" altLang="zh-CN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hprof</a:t>
            </a:r>
            <a:r>
              <a:rPr lang="zh-CN" altLang="en-US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文件，没有找到触发</a:t>
            </a:r>
            <a:r>
              <a:rPr lang="en-US" altLang="zh-CN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OOM</a:t>
            </a:r>
            <a:r>
              <a:rPr lang="zh-CN" altLang="en-US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的代码，然后偶然看到一些慢接口日志，找到了问题代码，但经过反思，我发现这是有运气成分的，因为</a:t>
            </a:r>
            <a:r>
              <a:rPr lang="en-US" altLang="zh-CN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OOM</a:t>
            </a:r>
            <a:r>
              <a:rPr lang="zh-CN" altLang="en-US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时所有接口都会变慢。</a:t>
            </a:r>
            <a:endParaRPr lang="zh-CN" altLang="en-US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sym typeface="FZYanSongS-EB-GB"/>
            </a:endParaRPr>
          </a:p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为避免下次没这么好运气时，我开始思考有没有更好的排查方法，然后我发现在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hprof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文件中，是有线程堆栈的，只是之前对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MAT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掌握</a:t>
            </a:r>
            <a:r>
              <a: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不全面而已。</a:t>
            </a:r>
            <a:endParaRPr kumimoji="0" lang="zh-CN" altLang="en-US" sz="18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故障定位能力提升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小结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62355" y="3286125"/>
            <a:ext cx="9952990" cy="17132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sym typeface="FZYanSongS-EB-GB"/>
              </a:rPr>
              <a:t>经过学习、实践、复盘后，知识会如下转化：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342900" marR="0" indent="-34290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首先通过学习获取知识，或者说信息，它们未经检验，可能是零散、不完善、理解有错误的。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342900" marR="0" indent="-34290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然后通过实践后，将知识转变为技能，也即有用的知识。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342900" marR="0" indent="-34290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最后通过复盘，使得技能不断迭代完善，融汇贯通，从而形成前人所说的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“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智慧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”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。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559560" y="1629410"/>
            <a:ext cx="7128510" cy="1158875"/>
            <a:chOff x="1776" y="2763"/>
            <a:chExt cx="11226" cy="1825"/>
          </a:xfrm>
        </p:grpSpPr>
        <p:grpSp>
          <p:nvGrpSpPr>
            <p:cNvPr id="18" name="组合 17"/>
            <p:cNvGrpSpPr/>
            <p:nvPr/>
          </p:nvGrpSpPr>
          <p:grpSpPr>
            <a:xfrm>
              <a:off x="3704" y="3926"/>
              <a:ext cx="9298" cy="663"/>
              <a:chOff x="3817" y="3813"/>
              <a:chExt cx="9298" cy="663"/>
            </a:xfrm>
          </p:grpSpPr>
          <p:sp>
            <p:nvSpPr>
              <p:cNvPr id="12" name="圆角矩形 11"/>
              <p:cNvSpPr/>
              <p:nvPr/>
            </p:nvSpPr>
            <p:spPr>
              <a:xfrm>
                <a:off x="3817" y="3813"/>
                <a:ext cx="2155" cy="660"/>
              </a:xfrm>
              <a:prstGeom prst="round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ctr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FZYanSongS-EB-GB"/>
                    <a:sym typeface="FZYanSongS-EB-GB"/>
                  </a:rPr>
                  <a:t>知识</a:t>
                </a:r>
                <a:endPara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endParaRPr>
              </a:p>
            </p:txBody>
          </p:sp>
          <p:sp>
            <p:nvSpPr>
              <p:cNvPr id="13" name="圆角矩形 12"/>
              <p:cNvSpPr/>
              <p:nvPr>
                <p:custDataLst>
                  <p:tags r:id="rId2"/>
                </p:custDataLst>
              </p:nvPr>
            </p:nvSpPr>
            <p:spPr>
              <a:xfrm>
                <a:off x="7446" y="3816"/>
                <a:ext cx="2155" cy="660"/>
              </a:xfrm>
              <a:prstGeom prst="round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ctr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FZYanSongS-EB-GB"/>
                    <a:sym typeface="FZYanSongS-EB-GB"/>
                  </a:rPr>
                  <a:t>技能</a:t>
                </a:r>
                <a:endPara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endParaRPr>
              </a:p>
            </p:txBody>
          </p:sp>
          <p:sp>
            <p:nvSpPr>
              <p:cNvPr id="14" name="圆角矩形 13"/>
              <p:cNvSpPr/>
              <p:nvPr>
                <p:custDataLst>
                  <p:tags r:id="rId3"/>
                </p:custDataLst>
              </p:nvPr>
            </p:nvSpPr>
            <p:spPr>
              <a:xfrm>
                <a:off x="10960" y="3813"/>
                <a:ext cx="2155" cy="660"/>
              </a:xfrm>
              <a:prstGeom prst="round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ctr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FZYanSongS-EB-GB"/>
                    <a:sym typeface="FZYanSongS-EB-GB"/>
                  </a:rPr>
                  <a:t>智慧</a:t>
                </a:r>
                <a:endPara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776" y="2763"/>
              <a:ext cx="2608" cy="1050"/>
              <a:chOff x="1776" y="2763"/>
              <a:chExt cx="2608" cy="1050"/>
            </a:xfrm>
          </p:grpSpPr>
          <p:sp>
            <p:nvSpPr>
              <p:cNvPr id="2" name="上弧形箭头 1"/>
              <p:cNvSpPr/>
              <p:nvPr/>
            </p:nvSpPr>
            <p:spPr>
              <a:xfrm>
                <a:off x="1776" y="3359"/>
                <a:ext cx="2608" cy="454"/>
              </a:xfrm>
              <a:prstGeom prst="curvedDownArrow">
                <a:avLst/>
              </a:prstGeom>
            </p:spPr>
            <p:style>
              <a:lnRef idx="2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FZYanSongS-EB-GB"/>
                  <a:ea typeface="FZYanSongS-EB-GB"/>
                  <a:cs typeface="FZYanSongS-EB-GB"/>
                  <a:sym typeface="FZYanSongS-EB-GB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2557" y="2763"/>
                <a:ext cx="1046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FZYanSongS-EB-GB"/>
                    <a:sym typeface="FZYanSongS-EB-GB"/>
                  </a:rPr>
                  <a:t>学习</a:t>
                </a:r>
                <a:endPara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5291" y="2792"/>
              <a:ext cx="2608" cy="1050"/>
              <a:chOff x="1776" y="2763"/>
              <a:chExt cx="2608" cy="1050"/>
            </a:xfrm>
          </p:grpSpPr>
          <p:sp>
            <p:nvSpPr>
              <p:cNvPr id="6" name="上弧形箭头 5"/>
              <p:cNvSpPr/>
              <p:nvPr>
                <p:custDataLst>
                  <p:tags r:id="rId4"/>
                </p:custDataLst>
              </p:nvPr>
            </p:nvSpPr>
            <p:spPr>
              <a:xfrm>
                <a:off x="1776" y="3359"/>
                <a:ext cx="2608" cy="454"/>
              </a:xfrm>
              <a:prstGeom prst="curvedDownArrow">
                <a:avLst/>
              </a:prstGeom>
            </p:spPr>
            <p:style>
              <a:lnRef idx="2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FZYanSongS-EB-GB"/>
                  <a:ea typeface="FZYanSongS-EB-GB"/>
                  <a:cs typeface="FZYanSongS-EB-GB"/>
                  <a:sym typeface="FZYanSongS-EB-GB"/>
                </a:endParaRPr>
              </a:p>
            </p:txBody>
          </p:sp>
          <p:sp>
            <p:nvSpPr>
              <p:cNvPr id="7" name="文本框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570" y="2763"/>
                <a:ext cx="1046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FZYanSongS-EB-GB"/>
                    <a:sym typeface="FZYanSongS-EB-GB"/>
                  </a:rPr>
                  <a:t>实践</a:t>
                </a:r>
                <a:endPara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832" y="2792"/>
              <a:ext cx="2608" cy="1050"/>
              <a:chOff x="1776" y="2763"/>
              <a:chExt cx="2608" cy="1050"/>
            </a:xfrm>
          </p:grpSpPr>
          <p:sp>
            <p:nvSpPr>
              <p:cNvPr id="10" name="上弧形箭头 9"/>
              <p:cNvSpPr/>
              <p:nvPr>
                <p:custDataLst>
                  <p:tags r:id="rId6"/>
                </p:custDataLst>
              </p:nvPr>
            </p:nvSpPr>
            <p:spPr>
              <a:xfrm>
                <a:off x="1776" y="3359"/>
                <a:ext cx="2608" cy="454"/>
              </a:xfrm>
              <a:prstGeom prst="curvedDownArrow">
                <a:avLst/>
              </a:prstGeom>
            </p:spPr>
            <p:style>
              <a:lnRef idx="2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FZYanSongS-EB-GB"/>
                  <a:ea typeface="FZYanSongS-EB-GB"/>
                  <a:cs typeface="FZYanSongS-EB-GB"/>
                  <a:sym typeface="FZYanSongS-EB-GB"/>
                </a:endParaRPr>
              </a:p>
            </p:txBody>
          </p:sp>
          <p:sp>
            <p:nvSpPr>
              <p:cNvPr id="11" name="文本框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570" y="2763"/>
                <a:ext cx="1046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FZYanSongS-EB-GB"/>
                    <a:sym typeface="FZYanSongS-EB-GB"/>
                  </a:rPr>
                  <a:t>复盘</a:t>
                </a:r>
                <a:endPara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20.xml><?xml version="1.0" encoding="utf-8"?>
<ds:datastoreItem xmlns:ds="http://schemas.openxmlformats.org/officeDocument/2006/customXml" ds:itemID="{f7bc79f2-c455-434b-bca9-875aecb91bf3}">
  <ds:schemaRefs/>
</ds:datastoreItem>
</file>

<file path=customXml/itemProps21.xml><?xml version="1.0" encoding="utf-8"?>
<ds:datastoreItem xmlns:ds="http://schemas.openxmlformats.org/officeDocument/2006/customXml" ds:itemID="{3c132078-98b1-4deb-b4fd-a1bec46831f1}">
  <ds:schemaRefs/>
</ds:datastoreItem>
</file>

<file path=customXml/itemProps22.xml><?xml version="1.0" encoding="utf-8"?>
<ds:datastoreItem xmlns:ds="http://schemas.openxmlformats.org/officeDocument/2006/customXml" ds:itemID="{c5c661d3-4756-4449-af8a-01387bd7a269}">
  <ds:schemaRefs/>
</ds:datastoreItem>
</file>

<file path=customXml/itemProps23.xml><?xml version="1.0" encoding="utf-8"?>
<ds:datastoreItem xmlns:ds="http://schemas.openxmlformats.org/officeDocument/2006/customXml" ds:itemID="{58dabdbb-c60f-4057-89a4-b5f24a98f472}">
  <ds:schemaRefs/>
</ds:datastoreItem>
</file>

<file path=customXml/itemProps24.xml><?xml version="1.0" encoding="utf-8"?>
<ds:datastoreItem xmlns:ds="http://schemas.openxmlformats.org/officeDocument/2006/customXml" ds:itemID="{6ad86b82-52b5-47a8-ba6d-e9bbe075a083}">
  <ds:schemaRefs/>
</ds:datastoreItem>
</file>

<file path=customXml/itemProps25.xml><?xml version="1.0" encoding="utf-8"?>
<ds:datastoreItem xmlns:ds="http://schemas.openxmlformats.org/officeDocument/2006/customXml" ds:itemID="{8fd2a99b-51ca-42d4-8a98-ac38bf31ee8f}">
  <ds:schemaRefs/>
</ds:datastoreItem>
</file>

<file path=customXml/itemProps26.xml><?xml version="1.0" encoding="utf-8"?>
<ds:datastoreItem xmlns:ds="http://schemas.openxmlformats.org/officeDocument/2006/customXml" ds:itemID="{667e9340-f440-47f7-819a-cdc7dab5fa96}">
  <ds:schemaRefs/>
</ds:datastoreItem>
</file>

<file path=customXml/itemProps27.xml><?xml version="1.0" encoding="utf-8"?>
<ds:datastoreItem xmlns:ds="http://schemas.openxmlformats.org/officeDocument/2006/customXml" ds:itemID="{ae649005-3b55-4298-8017-458659bde268}">
  <ds:schemaRefs/>
</ds:datastoreItem>
</file>

<file path=customXml/itemProps28.xml><?xml version="1.0" encoding="utf-8"?>
<ds:datastoreItem xmlns:ds="http://schemas.openxmlformats.org/officeDocument/2006/customXml" ds:itemID="{eb8fafd0-aa01-4764-b4e6-708160bc6a19}">
  <ds:schemaRefs/>
</ds:datastoreItem>
</file>

<file path=customXml/itemProps29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WPS 演示</Application>
  <PresentationFormat/>
  <Paragraphs>65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5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Helvetica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1906</cp:revision>
  <dcterms:created xsi:type="dcterms:W3CDTF">2019-02-26T11:09:00Z</dcterms:created>
  <dcterms:modified xsi:type="dcterms:W3CDTF">2024-09-24T14:36:19Z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