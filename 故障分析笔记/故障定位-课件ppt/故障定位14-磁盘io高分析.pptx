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8"/>
  </p:handoutMasterIdLst>
  <p:sldIdLst>
    <p:sldId id="406" r:id="rId3"/>
    <p:sldId id="360" r:id="rId4"/>
    <p:sldId id="692" r:id="rId5"/>
    <p:sldId id="688" r:id="rId7"/>
    <p:sldId id="618" r:id="rId8"/>
    <p:sldId id="690" r:id="rId9"/>
    <p:sldId id="689" r:id="rId10"/>
    <p:sldId id="691" r:id="rId11"/>
    <p:sldId id="693" r:id="rId12"/>
    <p:sldId id="679" r:id="rId13"/>
    <p:sldId id="680" r:id="rId14"/>
    <p:sldId id="694" r:id="rId15"/>
    <p:sldId id="686" r:id="rId16"/>
    <p:sldId id="687" r:id="rId17"/>
  </p:sldIdLst>
  <p:sldSz cx="12192000" cy="6858000"/>
  <p:notesSz cx="6858000" cy="9144000"/>
  <p:custDataLst>
    <p:tags r:id="rId32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3F969A"/>
    <a:srgbClr val="19DEA6"/>
    <a:srgbClr val="FBDF43"/>
    <a:srgbClr val="BDDAB3"/>
    <a:srgbClr val="161E3B"/>
    <a:srgbClr val="FDED42"/>
    <a:srgbClr val="F04238"/>
    <a:srgbClr val="FFB35A"/>
    <a:srgbClr val="FFC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41.xml"/><Relationship Id="rId31" Type="http://schemas.openxmlformats.org/officeDocument/2006/relationships/customXml" Target="../customXml/item10.xml"/><Relationship Id="rId30" Type="http://schemas.openxmlformats.org/officeDocument/2006/relationships/customXml" Target="../customXml/item9.xml"/><Relationship Id="rId3" Type="http://schemas.openxmlformats.org/officeDocument/2006/relationships/slide" Target="slides/slide1.xml"/><Relationship Id="rId29" Type="http://schemas.openxmlformats.org/officeDocument/2006/relationships/customXml" Target="../customXml/item8.xml"/><Relationship Id="rId28" Type="http://schemas.openxmlformats.org/officeDocument/2006/relationships/customXml" Target="../customXml/item7.xml"/><Relationship Id="rId27" Type="http://schemas.openxmlformats.org/officeDocument/2006/relationships/customXml" Target="../customXml/item6.xml"/><Relationship Id="rId26" Type="http://schemas.openxmlformats.org/officeDocument/2006/relationships/customXml" Target="../customXml/item5.xml"/><Relationship Id="rId25" Type="http://schemas.openxmlformats.org/officeDocument/2006/relationships/customXml" Target="../customXml/item4.xml"/><Relationship Id="rId24" Type="http://schemas.openxmlformats.org/officeDocument/2006/relationships/customXml" Target="../customXml/item3.xml"/><Relationship Id="rId23" Type="http://schemas.openxmlformats.org/officeDocument/2006/relationships/customXml" Target="../customXml/item2.xml"/><Relationship Id="rId22" Type="http://schemas.openxmlformats.org/officeDocument/2006/relationships/customXml" Target="../customXml/item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Relationship Id="rId3" Type="http://schemas.openxmlformats.org/officeDocument/2006/relationships/image" Target="../media/image4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Relationship Id="rId3" Type="http://schemas.openxmlformats.org/officeDocument/2006/relationships/image" Target="../media/image7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磁盘</a:t>
            </a:r>
            <a:r>
              <a:rPr kumimoji="0" lang="en-US" altLang="zh-CN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</a:t>
            </a:r>
            <a:r>
              <a:rPr lang="zh-CN" sz="6600" b="1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</a:t>
            </a: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磁盘</a:t>
            </a:r>
            <a:r>
              <a:rPr kumimoji="0" lang="en-US" alt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io</a:t>
            </a:r>
            <a:r>
              <a:rPr kumimoji="0" 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占用分析</a:t>
            </a:r>
            <a:endParaRPr kumimoji="0" 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232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高磁盘io占用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整体情况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35280" y="2565400"/>
            <a:ext cx="11511915" cy="369633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67715" y="1989455"/>
            <a:ext cx="541083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iostat -dxz 1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可以查看磁盘整体占用情况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767715" y="982345"/>
            <a:ext cx="9414510" cy="9137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高磁盘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io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占用，分析方法也是逐步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细分资源占用情况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分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3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步：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找磁盘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 -&gt; 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找进程或文件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 -&gt; 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找调用栈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232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高磁盘io占用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找进程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2935" y="1052830"/>
            <a:ext cx="541083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pidstat -d 1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可以查看哪个进程占用磁盘高。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2"/>
            </p:custDataLst>
          </p:nvPr>
        </p:nvSpPr>
        <p:spPr>
          <a:xfrm>
            <a:off x="622935" y="4509135"/>
            <a:ext cx="541083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可以发现是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进程占用高，</a:t>
            </a:r>
            <a:r>
              <a:rPr lang="zh-CN" altLang="en-US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主要是写操作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！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3570" y="1588770"/>
            <a:ext cx="8401050" cy="266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232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高磁盘io占用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找文件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2935" y="1052830"/>
            <a:ext cx="682180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通过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filetop -p `pgrep java`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可以查看在读写哪个文件。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5325" y="1628775"/>
            <a:ext cx="6858000" cy="2559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232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高磁盘io占用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11225" y="1484630"/>
            <a:ext cx="968692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通过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arthas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profiler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可以找到调用栈，如下：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5" name="图片 114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71588" y="2132965"/>
            <a:ext cx="7267575" cy="1981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911225" y="4226560"/>
            <a:ext cx="9686925" cy="9639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如果是非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程序，可以通过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lang="zh-CN" altLang="en-US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stackcount命令来采集调用栈，如下：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$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stackcount-bpfcc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 -f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 vfs_write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232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高磁盘io占用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kumimoji="0" lang="en-US" alt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2935" y="1052830"/>
            <a:ext cx="968692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可以看到，都是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logback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在写日志！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23570" y="1589405"/>
            <a:ext cx="10361295" cy="4274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232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高磁盘io占用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性能确认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11225" y="1484630"/>
            <a:ext cx="968692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磁盘占用高也可能是磁盘性能严重退化了，可通过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ioping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确认磁盘耗时是否正常，如下：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6" name="图片 115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15098" y="2060893"/>
            <a:ext cx="7667625" cy="3800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调优</a:t>
            </a:r>
            <a:endParaRPr kumimoji="0" 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磁盘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调优</a:t>
            </a:r>
            <a:endParaRPr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988060" y="2009140"/>
          <a:ext cx="9327515" cy="224218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67480"/>
                <a:gridCol w="5360035"/>
              </a:tblGrid>
              <a:tr h="53911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调优参数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作用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5816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ionice</a:t>
                      </a:r>
                      <a:r>
                        <a:rPr lang="zh-CN" altLang="en-US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命令</a:t>
                      </a:r>
                      <a:endParaRPr lang="zh-CN" altLang="en-US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调整进程的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io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优先级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8102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/sys/block/*/queue/scheduler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IO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调度策略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403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/sys/block/*/queue/read_ahead_kb</a:t>
                      </a:r>
                      <a:endParaRPr lang="en-US" altLang="zh-CN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文件系统请求的最大预读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KB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数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911225" y="1075055"/>
            <a:ext cx="8368030" cy="8458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磁盘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相关的调优选项，如下：</a:t>
            </a:r>
            <a:endParaRPr kumimoji="0" 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磁盘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调优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编码优化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11225" y="1075055"/>
            <a:ext cx="9685655" cy="40697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由于大多数程序员都是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crud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开发，涉及到存储系统研发的很少，写的代码与磁盘最密切的就是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写日志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而已，因此在磁盘方面遇到的问题非常少。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说几点通用优化策略，如下：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数据缓存：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将读写缓存起来，避免直接读写磁盘。</a:t>
            </a:r>
            <a:endParaRPr lang="zh-CN" altLang="en-US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增大缓冲：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比如使用更大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Buffer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BufferReader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尽量避免随机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不管是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HDD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还是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SDD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，随机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的性能都比顺序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差得多，故应该尽量避免随机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，比如数据库中，随机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写缓存，同时在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redo log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中使用顺序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备份更新记录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避免断电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)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，然后使用异步线程同步缓存数据到磁盘。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数据索引：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不管是文件系统，还是数据库，都对数据做了索引，以避免全盘扫描数据。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总结</a:t>
            </a:r>
            <a:endParaRPr kumimoji="0" 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总结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11225" y="1173480"/>
            <a:ext cx="9980930" cy="17849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iostat -dxz 1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观测磁盘整体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情况。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pidstat -d 1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找磁盘占用高的进程，通过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bcc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filetop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找读写的文件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lang="zh-CN" altLang="en-US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profiler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，采集对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write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的调用栈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，找到读写的代码位置。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ioping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可简单确认磁盘的性能情况。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TABLE_ENDDRAG_ORIGIN_RECT" val="734*350"/>
  <p:tag name="TABLE_ENDDRAG_RECT" val="83*98*734*350"/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Props31.xml><?xml version="1.0" encoding="utf-8"?>
<ds:datastoreItem xmlns:ds="http://schemas.openxmlformats.org/officeDocument/2006/customXml" ds:itemID="{f7bc79f2-c455-434b-bca9-875aecb91bf3}">
  <ds:schemaRefs/>
</ds:datastoreItem>
</file>

<file path=customXml/itemProps32.xml><?xml version="1.0" encoding="utf-8"?>
<ds:datastoreItem xmlns:ds="http://schemas.openxmlformats.org/officeDocument/2006/customXml" ds:itemID="{3c132078-98b1-4deb-b4fd-a1bec46831f1}">
  <ds:schemaRefs/>
</ds:datastoreItem>
</file>

<file path=customXml/itemProps33.xml><?xml version="1.0" encoding="utf-8"?>
<ds:datastoreItem xmlns:ds="http://schemas.openxmlformats.org/officeDocument/2006/customXml" ds:itemID="{c5c661d3-4756-4449-af8a-01387bd7a269}">
  <ds:schemaRefs/>
</ds:datastoreItem>
</file>

<file path=customXml/itemProps34.xml><?xml version="1.0" encoding="utf-8"?>
<ds:datastoreItem xmlns:ds="http://schemas.openxmlformats.org/officeDocument/2006/customXml" ds:itemID="{58dabdbb-c60f-4057-89a4-b5f24a98f472}">
  <ds:schemaRefs/>
</ds:datastoreItem>
</file>

<file path=customXml/itemProps35.xml><?xml version="1.0" encoding="utf-8"?>
<ds:datastoreItem xmlns:ds="http://schemas.openxmlformats.org/officeDocument/2006/customXml" ds:itemID="{6ad86b82-52b5-47a8-ba6d-e9bbe075a083}">
  <ds:schemaRefs/>
</ds:datastoreItem>
</file>

<file path=customXml/itemProps36.xml><?xml version="1.0" encoding="utf-8"?>
<ds:datastoreItem xmlns:ds="http://schemas.openxmlformats.org/officeDocument/2006/customXml" ds:itemID="{8fd2a99b-51ca-42d4-8a98-ac38bf31ee8f}">
  <ds:schemaRefs/>
</ds:datastoreItem>
</file>

<file path=customXml/itemProps37.xml><?xml version="1.0" encoding="utf-8"?>
<ds:datastoreItem xmlns:ds="http://schemas.openxmlformats.org/officeDocument/2006/customXml" ds:itemID="{667e9340-f440-47f7-819a-cdc7dab5fa96}">
  <ds:schemaRefs/>
</ds:datastoreItem>
</file>

<file path=customXml/itemProps38.xml><?xml version="1.0" encoding="utf-8"?>
<ds:datastoreItem xmlns:ds="http://schemas.openxmlformats.org/officeDocument/2006/customXml" ds:itemID="{ae649005-3b55-4298-8017-458659bde268}">
  <ds:schemaRefs/>
</ds:datastoreItem>
</file>

<file path=customXml/itemProps39.xml><?xml version="1.0" encoding="utf-8"?>
<ds:datastoreItem xmlns:ds="http://schemas.openxmlformats.org/officeDocument/2006/customXml" ds:itemID="{eb8fafd0-aa01-4764-b4e6-708160bc6a19}">
  <ds:schemaRefs/>
</ds:datastoreItem>
</file>

<file path=customXml/itemProps40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996</Words>
  <Application>WPS 演示</Application>
  <PresentationFormat/>
  <Paragraphs>84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宋体</vt:lpstr>
      <vt:lpstr>Wingdings</vt:lpstr>
      <vt:lpstr>FZYanSongS-EB-GB</vt:lpstr>
      <vt:lpstr>Segoe Print</vt:lpstr>
      <vt:lpstr>Gill Sans</vt:lpstr>
      <vt:lpstr>OPlusSans 3.0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素材集市康康体</vt:lpstr>
      <vt:lpstr>微软雅黑</vt:lpstr>
      <vt:lpstr>Arial Unicode MS</vt:lpstr>
      <vt:lpstr>Helvetica</vt:lpstr>
      <vt:lpstr>1_New_Template7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1930</cp:revision>
  <dcterms:created xsi:type="dcterms:W3CDTF">2019-02-26T11:09:00Z</dcterms:created>
  <dcterms:modified xsi:type="dcterms:W3CDTF">2024-09-21T01:39:07Z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