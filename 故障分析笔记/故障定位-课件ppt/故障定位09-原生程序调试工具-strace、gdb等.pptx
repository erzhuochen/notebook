
<file path=[Content_Types].xml><?xml version="1.0" encoding="utf-8"?>
<Types xmlns="http://schemas.openxmlformats.org/package/2006/content-types">
  <Default Extension="xml" ContentType="application/xml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8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406" r:id="rId3"/>
    <p:sldId id="360" r:id="rId4"/>
    <p:sldId id="470" r:id="rId5"/>
    <p:sldId id="516" r:id="rId6"/>
    <p:sldId id="417" r:id="rId7"/>
    <p:sldId id="507" r:id="rId8"/>
    <p:sldId id="508" r:id="rId9"/>
    <p:sldId id="509" r:id="rId10"/>
    <p:sldId id="510" r:id="rId11"/>
    <p:sldId id="511" r:id="rId12"/>
    <p:sldId id="512" r:id="rId13"/>
    <p:sldId id="513" r:id="rId14"/>
    <p:sldId id="544" r:id="rId15"/>
    <p:sldId id="545" r:id="rId16"/>
    <p:sldId id="517" r:id="rId17"/>
    <p:sldId id="519" r:id="rId18"/>
    <p:sldId id="520" r:id="rId19"/>
    <p:sldId id="521" r:id="rId20"/>
    <p:sldId id="522" r:id="rId21"/>
    <p:sldId id="527" r:id="rId22"/>
    <p:sldId id="529" r:id="rId23"/>
    <p:sldId id="531" r:id="rId24"/>
    <p:sldId id="535" r:id="rId25"/>
    <p:sldId id="533" r:id="rId26"/>
    <p:sldId id="537" r:id="rId27"/>
    <p:sldId id="539" r:id="rId28"/>
    <p:sldId id="540" r:id="rId29"/>
    <p:sldId id="541" r:id="rId30"/>
    <p:sldId id="542" r:id="rId31"/>
    <p:sldId id="543" r:id="rId32"/>
  </p:sldIdLst>
  <p:sldSz cx="12192000" cy="6858000"/>
  <p:notesSz cx="6858000" cy="9144000"/>
  <p:custDataLst>
    <p:tags r:id="rId5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BDDAB3"/>
    <a:srgbClr val="161E3B"/>
    <a:srgbClr val="FBDF43"/>
    <a:srgbClr val="FDED42"/>
    <a:srgbClr val="F04238"/>
    <a:srgbClr val="FFB35A"/>
    <a:srgbClr val="19DEA6"/>
    <a:srgbClr val="FFC07A"/>
    <a:srgbClr val="3F9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gs" Target="tags/tag108.xml"/><Relationship Id="rId5" Type="http://schemas.openxmlformats.org/officeDocument/2006/relationships/slide" Target="slides/slide3.xml"/><Relationship Id="rId49" Type="http://schemas.openxmlformats.org/officeDocument/2006/relationships/customXml" Target="../customXml/item11.xml"/><Relationship Id="rId48" Type="http://schemas.openxmlformats.org/officeDocument/2006/relationships/customXml" Target="../customXml/item10.xml"/><Relationship Id="rId47" Type="http://schemas.openxmlformats.org/officeDocument/2006/relationships/customXml" Target="../customXml/item9.xml"/><Relationship Id="rId46" Type="http://schemas.openxmlformats.org/officeDocument/2006/relationships/customXml" Target="../customXml/item8.xml"/><Relationship Id="rId45" Type="http://schemas.openxmlformats.org/officeDocument/2006/relationships/customXml" Target="../customXml/item7.xml"/><Relationship Id="rId44" Type="http://schemas.openxmlformats.org/officeDocument/2006/relationships/customXml" Target="../customXml/item6.xml"/><Relationship Id="rId43" Type="http://schemas.openxmlformats.org/officeDocument/2006/relationships/customXml" Target="../customXml/item5.xml"/><Relationship Id="rId42" Type="http://schemas.openxmlformats.org/officeDocument/2006/relationships/customXml" Target="../customXml/item4.xml"/><Relationship Id="rId41" Type="http://schemas.openxmlformats.org/officeDocument/2006/relationships/customXml" Target="../customXml/item3.xml"/><Relationship Id="rId40" Type="http://schemas.openxmlformats.org/officeDocument/2006/relationships/customXml" Target="../customXml/item2.xml"/><Relationship Id="rId4" Type="http://schemas.openxmlformats.org/officeDocument/2006/relationships/slide" Target="slides/slide2.xml"/><Relationship Id="rId39" Type="http://schemas.openxmlformats.org/officeDocument/2006/relationships/customXml" Target="../customXml/item1.xml"/><Relationship Id="rId38" Type="http://schemas.openxmlformats.org/officeDocument/2006/relationships/customXmlProps" Target="../customXml/itemProps97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image" Target="../media/image11.png"/><Relationship Id="rId2" Type="http://schemas.openxmlformats.org/officeDocument/2006/relationships/tags" Target="../tags/tag27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2.xml"/><Relationship Id="rId4" Type="http://schemas.openxmlformats.org/officeDocument/2006/relationships/image" Target="../media/image13.png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55.xml"/><Relationship Id="rId4" Type="http://schemas.openxmlformats.org/officeDocument/2006/relationships/image" Target="../media/image17.png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image" Target="../media/image19.png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2.png"/><Relationship Id="rId7" Type="http://schemas.openxmlformats.org/officeDocument/2006/relationships/tags" Target="../tags/tag68.xml"/><Relationship Id="rId6" Type="http://schemas.openxmlformats.org/officeDocument/2006/relationships/image" Target="../media/image21.png"/><Relationship Id="rId5" Type="http://schemas.openxmlformats.org/officeDocument/2006/relationships/tags" Target="../tags/tag67.xml"/><Relationship Id="rId4" Type="http://schemas.openxmlformats.org/officeDocument/2006/relationships/image" Target="../media/image20.png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4.wmf"/><Relationship Id="rId6" Type="http://schemas.openxmlformats.org/officeDocument/2006/relationships/oleObject" Target="../embeddings/oleObject1.bin"/><Relationship Id="rId5" Type="http://schemas.openxmlformats.org/officeDocument/2006/relationships/tags" Target="../tags/tag72.xml"/><Relationship Id="rId4" Type="http://schemas.openxmlformats.org/officeDocument/2006/relationships/image" Target="../media/image23.png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8.png"/><Relationship Id="rId7" Type="http://schemas.openxmlformats.org/officeDocument/2006/relationships/image" Target="../media/image27.wmf"/><Relationship Id="rId6" Type="http://schemas.openxmlformats.org/officeDocument/2006/relationships/oleObject" Target="../embeddings/oleObject2.bin"/><Relationship Id="rId5" Type="http://schemas.openxmlformats.org/officeDocument/2006/relationships/tags" Target="../tags/tag79.xml"/><Relationship Id="rId4" Type="http://schemas.openxmlformats.org/officeDocument/2006/relationships/image" Target="../media/image26.png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0" Type="http://schemas.openxmlformats.org/officeDocument/2006/relationships/vmlDrawing" Target="../drawings/vmlDrawing2.vml"/><Relationship Id="rId1" Type="http://schemas.openxmlformats.org/officeDocument/2006/relationships/tags" Target="../tags/tag76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0.png"/><Relationship Id="rId6" Type="http://schemas.openxmlformats.org/officeDocument/2006/relationships/tags" Target="../tags/tag83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3.bin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tags" Target="../tags/tag87.xml"/><Relationship Id="rId4" Type="http://schemas.openxmlformats.org/officeDocument/2006/relationships/image" Target="../media/image31.png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png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4.xml"/><Relationship Id="rId4" Type="http://schemas.openxmlformats.org/officeDocument/2006/relationships/image" Target="../media/image34.png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原生程序调试工具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原生程序调试工具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C9F754DE-2CAD-44b6-B708-469DEB6407EB-1" descr="C:/Users/meng/AppData/Local/Temp/wpp.QevNOk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183" y="1917065"/>
            <a:ext cx="6610350" cy="3228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19605" y="2662873"/>
            <a:ext cx="7863840" cy="1209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strace</a:t>
            </a:r>
            <a:r>
              <a:rPr kumimoji="0" lang="zh-CN" alt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命令</a:t>
            </a:r>
            <a:endParaRPr kumimoji="0" lang="zh-CN" altLang="en-US" sz="72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0401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207770"/>
            <a:ext cx="10569575" cy="1024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strace是Linux中用来观测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系统调用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的工具，学过操作系统原理都知道，操作系统向应用程序暴露了一批系统调用接口，应用程序只能通过这些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系统调用接口来访问操作系统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，比如申请内存、文件或网络io操作等。</a:t>
            </a:r>
            <a:endParaRPr kumimoji="0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199515" y="2421255"/>
            <a:ext cx="1042606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基础选项如下：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43660" y="2830195"/>
            <a:ext cx="9277985" cy="3092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127760" y="1125855"/>
            <a:ext cx="1042606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过滤指定系统调用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文件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%file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，以及文件描述符解码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-yy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2" name="图片 10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71905" y="1567180"/>
            <a:ext cx="9172575" cy="47605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127760" y="1125855"/>
            <a:ext cx="1042606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过滤指定系统调用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网络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，以及打印从文件描述读写内容，如下：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4" name="图片 103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760" y="1557020"/>
            <a:ext cx="9917430" cy="47790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127760" y="1125855"/>
            <a:ext cx="1042606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-k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选项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打印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调用栈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5" name="图片 104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99515" y="1844358"/>
            <a:ext cx="9372600" cy="2886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127760" y="1125855"/>
            <a:ext cx="1042606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选项用于统计系统调用，一般用来判断哪些系统调用较频繁，可能是性能问题点，如下：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6" name="图片 105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87805" y="1700848"/>
            <a:ext cx="7467600" cy="4410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实例：调用端追踪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耗时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1412558"/>
            <a:ext cx="10426065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sendto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系统调用发送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SQL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recvfrom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接收数据，所以只要计算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两者之间时间差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，则是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SQL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耗时。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8" name="图片 107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3615" y="2895600"/>
            <a:ext cx="9372600" cy="13258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实例：调用端追踪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耗时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9375" y="908685"/>
            <a:ext cx="12011660" cy="5328920"/>
            <a:chOff x="125" y="1431"/>
            <a:chExt cx="18916" cy="8392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125" y="1431"/>
              <a:ext cx="18917" cy="8393"/>
            </a:xfrm>
            <a:prstGeom prst="rect">
              <a:avLst/>
            </a:prstGeom>
          </p:spPr>
        </p:pic>
        <p:grpSp>
          <p:nvGrpSpPr>
            <p:cNvPr id="7" name="组合 6"/>
            <p:cNvGrpSpPr/>
            <p:nvPr/>
          </p:nvGrpSpPr>
          <p:grpSpPr>
            <a:xfrm>
              <a:off x="9033" y="3945"/>
              <a:ext cx="4990" cy="775"/>
              <a:chOff x="9033" y="3945"/>
              <a:chExt cx="4990" cy="775"/>
            </a:xfrm>
          </p:grpSpPr>
          <p:cxnSp>
            <p:nvCxnSpPr>
              <p:cNvPr id="5" name="直接箭头连接符 4"/>
              <p:cNvCxnSpPr>
                <a:endCxn id="6" idx="1"/>
              </p:cNvCxnSpPr>
              <p:nvPr/>
            </p:nvCxnSpPr>
            <p:spPr>
              <a:xfrm flipV="1">
                <a:off x="9033" y="4243"/>
                <a:ext cx="1928" cy="477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/>
            </p:nvSpPr>
            <p:spPr>
              <a:xfrm>
                <a:off x="10961" y="3945"/>
                <a:ext cx="3062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1.</a:t>
                </a:r>
                <a:r>
                  <a:rPr kumimoji="0" lang="zh-CN" altLang="en-US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接收到</a:t>
                </a: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http</a:t>
                </a:r>
                <a:r>
                  <a:rPr kumimoji="0" lang="zh-CN" altLang="en-US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请求</a:t>
                </a:r>
                <a:endParaRPr kumimoji="0" lang="zh-CN" altLang="en-US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2548" y="4101"/>
              <a:ext cx="3697" cy="1072"/>
              <a:chOff x="7559" y="3647"/>
              <a:chExt cx="3697" cy="1072"/>
            </a:xfrm>
          </p:grpSpPr>
          <p:cxnSp>
            <p:nvCxnSpPr>
              <p:cNvPr id="11" name="直接箭头连接符 10"/>
              <p:cNvCxnSpPr>
                <a:endCxn id="12" idx="1"/>
              </p:cNvCxnSpPr>
              <p:nvPr>
                <p:custDataLst>
                  <p:tags r:id="rId4"/>
                </p:custDataLst>
              </p:nvPr>
            </p:nvCxnSpPr>
            <p:spPr>
              <a:xfrm flipV="1">
                <a:off x="7559" y="3945"/>
                <a:ext cx="1474" cy="774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9033" y="3647"/>
                <a:ext cx="2223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2.</a:t>
                </a:r>
                <a:r>
                  <a:rPr kumimoji="0" lang="zh-CN" altLang="en-US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发送</a:t>
                </a: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SQL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2775" y="4243"/>
              <a:ext cx="6113" cy="1951"/>
              <a:chOff x="7785" y="2901"/>
              <a:chExt cx="6113" cy="1951"/>
            </a:xfrm>
          </p:grpSpPr>
          <p:cxnSp>
            <p:nvCxnSpPr>
              <p:cNvPr id="15" name="直接箭头连接符 14"/>
              <p:cNvCxnSpPr>
                <a:endCxn id="16" idx="1"/>
              </p:cNvCxnSpPr>
              <p:nvPr>
                <p:custDataLst>
                  <p:tags r:id="rId6"/>
                </p:custDataLst>
              </p:nvPr>
            </p:nvCxnSpPr>
            <p:spPr>
              <a:xfrm flipV="1">
                <a:off x="7785" y="3199"/>
                <a:ext cx="3289" cy="1653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1074" y="2901"/>
                <a:ext cx="2824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3.</a:t>
                </a:r>
                <a:r>
                  <a:rPr kumimoji="0" lang="zh-CN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收到查询结果</a:t>
                </a:r>
                <a:endParaRPr kumimoji="0" lang="zh-CN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8693" y="6988"/>
              <a:ext cx="8435" cy="611"/>
              <a:chOff x="5744" y="3265"/>
              <a:chExt cx="8435" cy="611"/>
            </a:xfrm>
          </p:grpSpPr>
          <p:cxnSp>
            <p:nvCxnSpPr>
              <p:cNvPr id="18" name="直接箭头连接符 17"/>
              <p:cNvCxnSpPr>
                <a:endCxn id="19" idx="1"/>
              </p:cNvCxnSpPr>
              <p:nvPr>
                <p:custDataLst>
                  <p:tags r:id="rId8"/>
                </p:custDataLst>
              </p:nvPr>
            </p:nvCxnSpPr>
            <p:spPr>
              <a:xfrm>
                <a:off x="5744" y="3265"/>
                <a:ext cx="5329" cy="313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" name="文本框 1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1073" y="3280"/>
                <a:ext cx="3106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4.</a:t>
                </a:r>
                <a:r>
                  <a:rPr kumimoji="0" lang="zh-CN" altLang="en-US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返回</a:t>
                </a: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http</a:t>
                </a:r>
                <a:r>
                  <a:rPr kumimoji="0" lang="zh-CN" altLang="en-US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响应</a:t>
                </a:r>
                <a:endParaRPr kumimoji="0" lang="zh-CN" altLang="en-US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9861" y="8137"/>
              <a:ext cx="7546" cy="891"/>
              <a:chOff x="6459" y="3280"/>
              <a:chExt cx="7546" cy="892"/>
            </a:xfrm>
          </p:grpSpPr>
          <p:cxnSp>
            <p:nvCxnSpPr>
              <p:cNvPr id="21" name="直接箭头连接符 20"/>
              <p:cNvCxnSpPr>
                <a:endCxn id="22" idx="1"/>
              </p:cNvCxnSpPr>
              <p:nvPr>
                <p:custDataLst>
                  <p:tags r:id="rId10"/>
                </p:custDataLst>
              </p:nvPr>
            </p:nvCxnSpPr>
            <p:spPr>
              <a:xfrm flipV="1">
                <a:off x="6459" y="3578"/>
                <a:ext cx="3968" cy="594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2" name="文本框 2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0427" y="3280"/>
                <a:ext cx="3578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5.</a:t>
                </a:r>
                <a:r>
                  <a:rPr kumimoji="0" lang="zh-CN" altLang="en-US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写</a:t>
                </a: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access.log</a:t>
                </a:r>
                <a:r>
                  <a:rPr kumimoji="0" lang="zh-CN" altLang="en-US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日志</a:t>
                </a:r>
                <a:endParaRPr kumimoji="0" lang="zh-CN" altLang="en-US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实例：调用端追踪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耗时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1009015"/>
            <a:ext cx="1042606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awk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解析系统调用日志，并计算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sendto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与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recvfrom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时间差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，得到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SQL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耗时，如下：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9" name="图片 108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38785" y="1512888"/>
            <a:ext cx="11372850" cy="4714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998855"/>
            <a:ext cx="10426065" cy="8509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由于程序的关键动作，都要靠系统调用，因此</a:t>
            </a: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也经常被用来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研究学习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命令的实现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6" name="图片 115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87805" y="1916113"/>
            <a:ext cx="8572500" cy="3495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911860" y="5377180"/>
            <a:ext cx="10426065" cy="8509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从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输出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可以发现，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free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的数据来自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/proc/meminfo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文件。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855345"/>
            <a:ext cx="10426065" cy="8509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也经常被用来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诊断命令执行问题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31495" y="1525270"/>
            <a:ext cx="11129010" cy="4735830"/>
            <a:chOff x="837" y="2402"/>
            <a:chExt cx="17526" cy="7458"/>
          </a:xfrm>
        </p:grpSpPr>
        <p:pic>
          <p:nvPicPr>
            <p:cNvPr id="118" name="图片 117"/>
            <p:cNvPicPr/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837" y="2402"/>
              <a:ext cx="17527" cy="7459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6" name="直接箭头连接符 5"/>
            <p:cNvCxnSpPr>
              <a:stCxn id="7" idx="1"/>
            </p:cNvCxnSpPr>
            <p:nvPr/>
          </p:nvCxnSpPr>
          <p:spPr>
            <a:xfrm flipH="1" flipV="1">
              <a:off x="8353" y="8915"/>
              <a:ext cx="3175" cy="2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11528" y="8641"/>
              <a:ext cx="314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OPlusSans 3.0" panose="00000500000000000000" charset="-122"/>
                </a:rPr>
                <a:t>dns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OPlusSans 3.0" panose="00000500000000000000" charset="-122"/>
                </a:rPr>
                <a:t>查询慢了</a:t>
              </a: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OPlusSans 3.0" panose="00000500000000000000" charset="-122"/>
                </a:rPr>
                <a:t>1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OPlusSans 3.0" panose="00000500000000000000" charset="-122"/>
                </a:rPr>
                <a:t>秒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19605" y="2662873"/>
            <a:ext cx="7863840" cy="1209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peekfd</a:t>
            </a:r>
            <a:r>
              <a:rPr kumimoji="0" lang="zh-CN" alt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命令</a:t>
            </a:r>
            <a:endParaRPr kumimoji="0" lang="zh-CN" altLang="en-US" sz="72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peekfd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1152525"/>
            <a:ext cx="1042606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peekfd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命令用于读取进程在指定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文件描述符上的读写数据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0" name="图片 10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95325" y="1842770"/>
            <a:ext cx="10464165" cy="4106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peekfd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1152525"/>
            <a:ext cx="10426065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这其实和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-e read/write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类似，不过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peekfd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命令的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输出可读性更强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一些。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1" name="图片 110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71588" y="1771968"/>
            <a:ext cx="8372475" cy="3495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19605" y="2662873"/>
            <a:ext cx="7863840" cy="1209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gdb</a:t>
            </a:r>
            <a:r>
              <a:rPr kumimoji="0" lang="zh-CN" altLang="en-US" sz="7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命令</a:t>
            </a:r>
            <a:endParaRPr kumimoji="0" lang="zh-CN" altLang="en-US" sz="72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998538"/>
            <a:ext cx="10426065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gdb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是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c/c++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语言的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断点调试器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debugger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，但它不是图形化界面的，而是命令式的，因此，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也可以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编写调试命令脚本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，以实现问题分析。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792220" y="1772920"/>
            <a:ext cx="7922895" cy="461137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714375" y="2997200"/>
            <a:ext cx="3005455" cy="14357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如右图，是我一次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定位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大对象分配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而写的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gdb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脚本。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33210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实例：定位大对象分配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39470" y="3859530"/>
            <a:ext cx="10793730" cy="23983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handle</a:t>
            </a:r>
            <a:r>
              <a:rPr 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指令：</a:t>
            </a:r>
            <a:r>
              <a:rPr 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设置</a:t>
            </a:r>
            <a:r>
              <a:rPr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Linux信号</a:t>
            </a:r>
            <a:r>
              <a:rPr 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处理方式</a:t>
            </a:r>
            <a:r>
              <a:rPr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，由于我们并不需要调试信号问题，所以让gdb都不处理信号，保留SIGINT是为了按Ctrl+c时能退出gdb脚本。</a:t>
            </a:r>
            <a:endParaRPr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en-US" alt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break</a:t>
            </a: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指令：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给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G1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的大对象分配函数</a:t>
            </a:r>
            <a:r>
              <a:rPr lang="zh-CN" altLang="en-US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G1CollectedHeap::humongous_obj_allocate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加断点。</a:t>
            </a:r>
            <a:endParaRPr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15640" y="1478915"/>
            <a:ext cx="4010025" cy="2390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33210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实例：定位大对象分配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10590" y="5012690"/>
            <a:ext cx="8324850" cy="98107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38835" y="4292600"/>
            <a:ext cx="9394825" cy="62611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因为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C++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为了兼容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的二进制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ABI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，编译时函数名会改写(mangle)，可通过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nm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查询改写后的函数名。</a:t>
            </a:r>
            <a:endParaRPr lang="zh-CN" altLang="en-US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838835" y="1772285"/>
            <a:ext cx="6466840" cy="13563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我们要追踪</a:t>
            </a:r>
            <a:r>
              <a:rPr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G1CollectedHeap::humongous_obj_allocate</a:t>
            </a:r>
            <a:r>
              <a:rPr 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函数，为啥断点设置在</a:t>
            </a:r>
            <a:r>
              <a:rPr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_ZN15G1CollectedHeap22humongous_obj_allocateEmh</a:t>
            </a:r>
            <a:r>
              <a:rPr 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奇怪的函数上？</a:t>
            </a:r>
            <a:endParaRPr lang="zh-CN" altLang="en-US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536180" y="1478915"/>
            <a:ext cx="4010025" cy="2390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33210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实例：定位大对象分配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699135" y="1519555"/>
            <a:ext cx="6064250" cy="25685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continue</a:t>
            </a:r>
            <a:r>
              <a:rPr 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指令：</a:t>
            </a:r>
            <a:r>
              <a:rPr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表示让程序运行起来，当程序命中断点后，continue才会执行</a:t>
            </a:r>
            <a:r>
              <a:rPr 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完</a:t>
            </a:r>
            <a:r>
              <a:rPr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en-US" alt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printf</a:t>
            </a: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指令：</a:t>
            </a:r>
            <a:r>
              <a:rPr 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格式化打印当前</a:t>
            </a:r>
            <a:r>
              <a:rPr 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rsi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寄存器的值，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x86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架构中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rsi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保存第二个参数的值，由于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C++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中第一个参数是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this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，故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word_size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的值在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$rsi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中。</a:t>
            </a:r>
            <a:endParaRPr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1180" y="4077335"/>
            <a:ext cx="4524375" cy="2209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30135" y="1077595"/>
            <a:ext cx="4457700" cy="32861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201285" y="4581525"/>
            <a:ext cx="6686550" cy="1419225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/>
        </p:nvCxnSpPr>
        <p:spPr>
          <a:xfrm flipH="1">
            <a:off x="9408160" y="3093085"/>
            <a:ext cx="346710" cy="199199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33210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实例：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定位大对象分配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99135" y="981075"/>
            <a:ext cx="10601325" cy="3333750"/>
            <a:chOff x="1101" y="1545"/>
            <a:chExt cx="16695" cy="5250"/>
          </a:xfrm>
        </p:grpSpPr>
        <p:sp>
          <p:nvSpPr>
            <p:cNvPr id="10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1101" y="2112"/>
              <a:ext cx="7403" cy="3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71436" tIns="71436" rIns="71436" bIns="71436" numCol="1" spcCol="38100" rtlCol="0" anchor="ctr" forceAA="0">
              <a:noAutofit/>
            </a:bodyPr>
            <a:p>
              <a:pPr marR="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</a:pPr>
              <a:r>
                <a:rPr lang="en-US" b="1">
                  <a:ln w="31750">
                    <a:noFill/>
                  </a:ln>
                  <a:solidFill>
                    <a:srgbClr val="FF9A2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shell</a:t>
              </a:r>
              <a:r>
                <a:rPr lang="zh-CN" altLang="en-US" b="1">
                  <a:ln w="31750">
                    <a:noFill/>
                  </a:ln>
                  <a:solidFill>
                    <a:srgbClr val="FF9A2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指令：</a:t>
              </a:r>
              <a:r>
                <a:rPr lang="zh-CN" altLang="en-US" b="1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执行</a:t>
              </a:r>
              <a:r>
                <a:rPr lang="en-US" altLang="zh-CN" b="1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shell</a:t>
              </a:r>
              <a:r>
                <a:rPr lang="zh-CN" altLang="en-US" b="1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脚本</a:t>
              </a:r>
              <a:endPara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R="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</a:pPr>
              <a:r>
                <a:rPr lang="en-US" altLang="zh-CN" b="1">
                  <a:ln w="31750">
                    <a:noFill/>
                  </a:ln>
                  <a:solidFill>
                    <a:srgbClr val="FF9A2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thread</a:t>
              </a:r>
              <a:r>
                <a:rPr lang="zh-CN" altLang="en-US" b="1">
                  <a:ln w="31750">
                    <a:noFill/>
                  </a:ln>
                  <a:solidFill>
                    <a:srgbClr val="FF9A2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指令：</a:t>
              </a:r>
              <a:r>
                <a:rPr lang="zh-CN" altLang="en-US" b="1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打印当前线程</a:t>
              </a:r>
              <a:endPara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R="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</a:pPr>
              <a:r>
                <a:rPr lang="en-US" altLang="zh-CN" b="1">
                  <a:ln w="31750">
                    <a:noFill/>
                  </a:ln>
                  <a:solidFill>
                    <a:srgbClr val="FF9A2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bt</a:t>
              </a:r>
              <a:r>
                <a:rPr lang="zh-CN" altLang="en-US" b="1">
                  <a:ln w="31750">
                    <a:noFill/>
                  </a:ln>
                  <a:solidFill>
                    <a:srgbClr val="FF9A2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指令：</a:t>
              </a:r>
              <a:r>
                <a:rPr lang="zh-CN" altLang="en-US" b="1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打印当前调用栈，不过由于</a:t>
              </a:r>
              <a:r>
                <a:rPr lang="en-US" altLang="zh-CN" b="1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java</a:t>
              </a:r>
              <a:r>
                <a:rPr lang="zh-CN" altLang="en-US" b="1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的解释执行的，因此</a:t>
              </a:r>
              <a:r>
                <a:rPr lang="en-US" altLang="zh-CN" b="1">
                  <a:ln w="31750">
                    <a:noFill/>
                  </a:ln>
                  <a:solidFill>
                    <a:srgbClr val="FF9A2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bt</a:t>
              </a:r>
              <a:r>
                <a:rPr lang="zh-CN" altLang="en-US" b="1">
                  <a:ln w="31750">
                    <a:noFill/>
                  </a:ln>
                  <a:solidFill>
                    <a:srgbClr val="FF9A2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打印不出</a:t>
              </a:r>
              <a:r>
                <a:rPr lang="en-US" altLang="zh-CN" b="1">
                  <a:ln w="31750">
                    <a:noFill/>
                  </a:ln>
                  <a:solidFill>
                    <a:srgbClr val="FF9A2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java</a:t>
              </a:r>
              <a:r>
                <a:rPr lang="zh-CN" altLang="en-US" b="1">
                  <a:ln w="31750">
                    <a:noFill/>
                  </a:ln>
                  <a:solidFill>
                    <a:srgbClr val="FF9A2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调用栈</a:t>
              </a:r>
              <a:r>
                <a:rPr lang="zh-CN" altLang="en-US" b="1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。</a:t>
              </a:r>
              <a:endPara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1301" y="1545"/>
              <a:ext cx="6495" cy="5250"/>
            </a:xfrm>
            <a:prstGeom prst="rect">
              <a:avLst/>
            </a:prstGeom>
          </p:spPr>
        </p:pic>
      </p:grpSp>
      <p:graphicFrame>
        <p:nvGraphicFramePr>
          <p:cNvPr id="4" name="对象 3"/>
          <p:cNvGraphicFramePr/>
          <p:nvPr>
            <p:custDataLst>
              <p:tags r:id="rId5"/>
            </p:custDataLst>
          </p:nvPr>
        </p:nvGraphicFramePr>
        <p:xfrm>
          <a:off x="4460875" y="4509135"/>
          <a:ext cx="7282180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6" imgW="7715250" imgH="2047875" progId="Paint.Picture">
                  <p:embed/>
                </p:oleObj>
              </mc:Choice>
              <mc:Fallback>
                <p:oleObj name="" r:id="rId6" imgW="7715250" imgH="204787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60875" y="4509135"/>
                        <a:ext cx="7282180" cy="183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33210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实例：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定位大对象分配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699135" y="1519555"/>
            <a:ext cx="9780905" cy="117221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由于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JVM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在收到SIGQUIT信号时，会在标准输出中打印线程栈信息。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因此，通过</a:t>
            </a:r>
            <a:r>
              <a:rPr 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gdb内嵌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python扩展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，执行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kill -3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命令，以实现打印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线程栈的需求。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3750" y="2924810"/>
            <a:ext cx="6076950" cy="3133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33210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实例：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定位大对象分配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699135" y="1519555"/>
            <a:ext cx="3685540" cy="280225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命令执行编写的脚本，在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JVM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的标准输出日志中，我得到了大对象分配的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线程栈！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712210" y="1196975"/>
            <a:ext cx="8324850" cy="638175"/>
          </a:xfrm>
          <a:prstGeom prst="rect">
            <a:avLst/>
          </a:prstGeom>
        </p:spPr>
      </p:pic>
      <p:graphicFrame>
        <p:nvGraphicFramePr>
          <p:cNvPr id="9" name="对象 8"/>
          <p:cNvGraphicFramePr/>
          <p:nvPr>
            <p:custDataLst>
              <p:tags r:id="rId5"/>
            </p:custDataLst>
          </p:nvPr>
        </p:nvGraphicFramePr>
        <p:xfrm>
          <a:off x="5087620" y="1917065"/>
          <a:ext cx="6920865" cy="1982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6" imgW="6915150" imgH="1981200" progId="Paint.Picture">
                  <p:embed/>
                </p:oleObj>
              </mc:Choice>
              <mc:Fallback>
                <p:oleObj name="" r:id="rId6" imgW="6915150" imgH="1981200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87620" y="1917065"/>
                        <a:ext cx="6920865" cy="1982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" name="图片 111"/>
          <p:cNvPicPr/>
          <p:nvPr/>
        </p:nvPicPr>
        <p:blipFill>
          <a:blip r:embed="rId8"/>
          <a:stretch>
            <a:fillRect/>
          </a:stretch>
        </p:blipFill>
        <p:spPr>
          <a:xfrm>
            <a:off x="3359468" y="3932238"/>
            <a:ext cx="8677275" cy="26193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2" name="直接箭头连接符 11"/>
          <p:cNvCxnSpPr/>
          <p:nvPr/>
        </p:nvCxnSpPr>
        <p:spPr>
          <a:xfrm>
            <a:off x="8629015" y="2569210"/>
            <a:ext cx="203200" cy="14357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871585" y="2988628"/>
            <a:ext cx="1269365" cy="285750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线程号转</a:t>
            </a:r>
            <a:r>
              <a:rPr kumimoji="0" lang="en-US" altLang="zh-CN" sz="12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16</a:t>
            </a:r>
            <a:r>
              <a:rPr kumimoji="0" lang="zh-CN" altLang="en-US" sz="12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进制</a:t>
            </a:r>
            <a:endParaRPr kumimoji="0" lang="zh-CN" altLang="en-US" sz="12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33210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实例：定位大对象分配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699135" y="1519555"/>
            <a:ext cx="3685540" cy="280225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原因是没有限制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thrift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反序列化的最大长度，异常数据会导致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thrift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创建非常大的数组，导致了大对象分配。</a:t>
            </a:r>
            <a:endParaRPr lang="zh-CN" altLang="en-US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2" name="对象 1"/>
          <p:cNvGraphicFramePr/>
          <p:nvPr>
            <p:custDataLst>
              <p:tags r:id="rId3"/>
            </p:custDataLst>
          </p:nvPr>
        </p:nvGraphicFramePr>
        <p:xfrm>
          <a:off x="4511675" y="1341120"/>
          <a:ext cx="7492365" cy="3517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7486650" imgH="3514725" progId="Paint.Picture">
                  <p:embed/>
                </p:oleObj>
              </mc:Choice>
              <mc:Fallback>
                <p:oleObj name="" r:id="rId4" imgW="7486650" imgH="351472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11675" y="1341120"/>
                        <a:ext cx="7492365" cy="3517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455410" y="5306060"/>
            <a:ext cx="5553075" cy="819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332105"/>
            <a:ext cx="10640060" cy="9994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767715" y="1035050"/>
            <a:ext cx="8772525" cy="6369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命令还有两个比较常用的功能，获取原生线程栈，以及原生堆转储。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2" name="图片 11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860" y="1701165"/>
            <a:ext cx="6819265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11860" y="2564765"/>
            <a:ext cx="9505950" cy="398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332105"/>
            <a:ext cx="10640060" cy="10401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767715" y="1250315"/>
            <a:ext cx="7311390" cy="6369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原生堆转储，用于调试内存段错误等。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4" name="图片 113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9153" y="1916113"/>
            <a:ext cx="6067425" cy="2581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332105"/>
            <a:ext cx="10640060" cy="9677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strace/gdb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开销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767715" y="1106805"/>
            <a:ext cx="8884920" cy="15220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strace/peekfd/gdb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命令都是基本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lang="en-US" altLang="zh-CN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ptrace</a:t>
            </a:r>
            <a:r>
              <a:rPr lang="zh-CN" altLang="en-US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机制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实现的，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ptrace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机制是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设计用来调试程序的一种机制，所以并没有太考虑性能因素，执行过程中会导致线程上下文切换。</a:t>
            </a:r>
            <a:endParaRPr lang="zh-CN" altLang="en-US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因此，使用上述命令，</a:t>
            </a:r>
            <a:r>
              <a:rPr lang="zh-CN" altLang="en-US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对性能会有一定的影响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，对于大流量系统需谨慎考虑。</a:t>
            </a:r>
            <a:endParaRPr lang="en-US" altLang="zh-CN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5" name="图片 114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75143" y="2628583"/>
            <a:ext cx="5172075" cy="2581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839470" y="5156835"/>
            <a:ext cx="8884920" cy="8985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具体的影响和系统调用执行频率有关，频率越高影响越大，因此尽量在</a:t>
            </a:r>
            <a:r>
              <a:rPr lang="zh-CN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没有其它工具可用时</a:t>
            </a:r>
            <a:r>
              <a:rPr 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，再考虑使用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等工具。</a:t>
            </a:r>
            <a:endParaRPr lang="zh-CN" altLang="en-US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332105"/>
            <a:ext cx="10640060" cy="9740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767715" y="1106805"/>
            <a:ext cx="10326370" cy="439483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457200" marR="0" indent="-4572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命令可用来</a:t>
            </a:r>
            <a:r>
              <a:rPr lang="zh-CN" altLang="en-US" sz="24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追踪系统调用情况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，结合</a:t>
            </a:r>
            <a:r>
              <a:rPr lang="en-US" altLang="zh-CN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awk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脚本可以实现一些请求追踪功能，如追踪慢</a:t>
            </a:r>
            <a:r>
              <a:rPr lang="en-US" altLang="zh-CN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lang="zh-CN" altLang="en-US" sz="24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en-US" altLang="zh-CN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命令也经常用来</a:t>
            </a:r>
            <a:r>
              <a:rPr lang="zh-CN" altLang="en-US" sz="24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学习命令实现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，或</a:t>
            </a:r>
            <a:r>
              <a:rPr lang="zh-CN" altLang="en-US" sz="24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诊断命令执行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问题。</a:t>
            </a:r>
            <a:endParaRPr lang="zh-CN" altLang="en-US" sz="24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en-US" altLang="zh-CN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peekfd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命令可以查看进程在</a:t>
            </a:r>
            <a:r>
              <a:rPr lang="zh-CN" altLang="en-US" sz="24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文件描述符上的读写数据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lang="zh-CN" altLang="en-US" sz="24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en-US" altLang="zh-CN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是</a:t>
            </a:r>
            <a:r>
              <a:rPr lang="en-US" altLang="zh-CN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c/c++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调试器，也可以编写脚本</a:t>
            </a:r>
            <a:r>
              <a:rPr lang="zh-CN" altLang="en-US" sz="24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追踪函数调用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lang="en-US" altLang="zh-CN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gdb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也可以实现</a:t>
            </a:r>
            <a:r>
              <a:rPr lang="zh-CN" altLang="en-US" sz="24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查看线程栈与堆转储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lang="zh-CN" altLang="en-US" sz="24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这个命令都是基于</a:t>
            </a:r>
            <a:r>
              <a:rPr lang="en-US" altLang="zh-CN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ptrace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机制实现，使用时需</a:t>
            </a:r>
            <a:r>
              <a:rPr lang="zh-CN" altLang="en-US" sz="24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注意性能影响</a:t>
            </a:r>
            <a:r>
              <a:rPr lang="zh-CN" altLang="en-US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lang="zh-CN" altLang="en-US" sz="24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7.xml"/></Relationships>
</file>

<file path=customXml/item1.xml><?xml version="1.0" encoding="utf-8"?>
<s:customData xmlns="http://www.wps.cn/officeDocument/2013/wpsCustomData" xmlns:s="http://www.wps.cn/officeDocument/2013/wpsCustomData">
  <extobjs>
    <extobj name="C9F754DE-2CAD-44b6-B708-469DEB6407EB-1">
      <extobjdata type="C9F754DE-2CAD-44b6-B708-469DEB6407EB" data="ewoJIkZpbGVJZCIgOiAiMzI3NjE2MzM2MDc0IiwKCSJHcm91cElkIiA6ICI0Mzg4NTUzOTgiLAoJIkltYWdlIiA6ICJpVkJPUncwS0dnb0FBQUFOU1VoRVVnQUFBcmtBQUFGVENBWUFBQUE5YVJUTkFBQUFBWE5TUjBJQXJzNGM2UUFBSUFCSlJFRlVlSnpzM1hkODAyWGlCL0RQODAzU2tVNUtCeTJqdEl3Q1piWkZFRVJsS09MQWdYak9PODl6ajU5NkhwNTMzcDJlV3p6eFhPZmR1YytORTNDZ0NDcERRRG9vVVBZcUxkRFNQWk5tZkovZkgyblN0RTNicEN0TitubS9Ybm1SZk9lVEppU2ZQTjluQU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UFDQzhYUUFpSWlMeUc4d1ZmWXYwZGdHOGlXOUdJaUlpNml6aDRqNnpSZDhnVy96YjhyN2YwM3E3QUVSRVJPUnpuQU50eTF2TGJhaDN0UXkxempkWDIvZ3RobHdpSWlMeWhIT2dWWTRlUFRvaExpNXV2bGFyUFUyajBad21oRWp3Y3ZrSWdKVHloTlZxL2NWaXNXd3RMaTcrYnZqdzRUdGhDN2VxZlJNdkZvK0lpSWlvVHhFQU5BQjBUejMxVklUUmFQeUhsTklpcWErekdJM0dwYmZmZm5zb0FGM2phK2ozTmUxKy93U0ppSWlvV3dnQUNnRGwwS0ZEazVPU2t0NFZRb3oyZHFISWZhcXE1aDQ3ZHV5V3BLU2tiTmhxZEZYNGNZMnU0dTBDRUJFUlVaL25hSjZ3Yk5teXNLU2twQThaY0gyUG9paVRFaE1UMzcvaGhodUNZTXVBTGR0Uit4Vy9mV0pFUkVUVUxSd0JGNEMydnI3KzJlRGc0TnU5WENicUFvUEJzRXl2MXo4SXdJS20ybHkvcTlGbFRTNFJFUkYxeE43SjdQVGc0T0JidlYwWTZwcmc0T0I3amg0OU9nTk50YmwraVNHWGlJaUkydU9veVkyUGo3OER6QTcrUUltUGo3OEJmdDVrZ1c5VUlpSWlhb3Z6ZUxpS29pZ3AzaXdNZFovRzE5SzVKdGZ2Z2k1RExoRVJFYlhITWFxQ1JxTVo1dTNDVVBmUWFEU2owZmk2d2c4RExzQ1FTMFJFUkIwVEFJUVFJdHpiQmFIdTBmaGErbTFUQllBaGw0aUlpTnJudDVlenliOWZXNFpjSWlJaTZvaGYxL2oxWTM3OXVqTGtFaEVSVVZ2OE5nQlJLMzczV2pQa0VoRVJFWkhmWWNnbElpSWlJci9Ea0V0RVJFUkVmb2NobDRpSWlJajhEa011RVJFUkVma2RobHdpSWlJaThqc011VVJFUkVUa2R4aHlpWWlJaU1qdk1PUVNFUkdSejdKYXJjakozWWxYL3ZzbVRDYVR0NHREZlFoRExoRVJFZm1zZlFjTzR1SEhuc2JxTld0aFZWVnZGNGY2RUlaY0lpSWlJdkk3RExsRVJFVFVMMW10Vm04WGdYcVE4SFlCaUlpSXFNOVNHbTg2QUFGU3lzcmVPS21xU216ZGxvbHZ2bHVMNDhkUG9MS3FDbUdoWVVoT1NzVGlSUmRqYk1wb2ZMN3lLN3oxemdkdEh1T2hQeTlCMnBSSkFJQXJydjBkR2hvYThJZDc3c0R3eEdGNDdhMTNzV2Z2ZmpRME5HREZ4Kzg2OXRteE13OC8vTFFSZS9idFIxbDVPVlJWSWk0MkJqT21uNGJMTDEySW9LQkFsK2N5bWN4WXMvWUgvTHgxRy9MekMxQnZNQ0E4TEF4SlNZbFlmTmxDakJ1VDBtejc4b3BLZlBiRkttekx5a0ZwV1RrQ0F3TXdJamtKQzg2ZGl4blRUK3VHdjZCN2hCQ1JBRXdBekFEVXhwdmYwSHE3QUVSRVJFUjJGb3NWanp6NURISjM3QUlBUkVVTlFQVEFnU2d0SzBOV1RpNG1qQitIc1NtakVSb1Nna0Z4c1RDWnpTZ3Zyd0FBeE1YR1FBaGIvVjFnVUZDclkxZFdWZVBCaHg1SHZjR0E2SUZSS0MwcmQ2ejdhY01tTEh2aEZkdStnWUdJaVk1R2RVME5qcDg0aVk4L1c0SGNuWGw0OHBHL1FxdlZORHZtOFJNbjhlaVQvOERKb21MSHZoRVI0YWlzckVSMlRpNUdKQTF2Rm5KMzdkNkRKNTUrRG5YMTlSQkNJRFltR2xYVjFkaXhNdzg3ZHViaG9ndk93NDNYWDl1TmY5SCtpeUdYaUlpSStveHYxNnhGN281ZENBd014RjhmdUE4VHhvOERZS3ZkemM3SmhhWXhaSjR6OTJ5Y00vZHM3TjY3RDMvNjY2TUFnT2VmZlJMQkxzS3QzWXBWWDJORThuRGNkL2NkQ0EwTlFWMWR2V05kZzhtRVNSUEhZL0dsQ3pGdWJBbzBHdHQ1Zmx5L0NjKzkrQXIySHppSURaczJZL1paWnpqMnFhcXV4dDhlZVJLbFplV0lqWTNCTFRmOEJtbFRKa0pSRkZnc0ZtUm1iMGREUTlPSUQwWEZwL0RZVTh0Z01CaHcxcXdadU9tR1h5TXNOQlJTU3F6OVlUMWUvcy9yV1BYVmFvd2ZOd2JUVDh2b3ZqOXFQOFdRUzBSRTFNZnQzYnMzckVyS0FFMWRYWUJHb3drVVFnU1loUWdRWm5PQW9paUJBQUtzUWdRSXF6VkFDQkdvQ2hFQUlFQ29xdTB4RUNCc3l5S2tsRm9ocFFhQUZrSm9KYUFSVW1vaGhFYmFjb0Z0dlJCYXE5V3FWYTFXcmRsczFwa3NsbDdKREFjUEh3RUFqQjQxd2hGd0FVQlJCRExTSjNmcDJOVTF0WTZBQ3dBaElYckh1cG5UcCtIY3ViTmI3WFAybVRPeDdzZjF5TjJaaDV6Y25jMUM3Z2ZMUDBOcFdUa2lJc0x4OUtOL1ExVFVBTWM2clZiYktxais3NzJQWURBWU1HbENLdTY1OHpZb2lxM1dXUWlCZVhQT3d1RWpSL0hWNmpWWTlmVzNETG5kZ0NHWGlJaW9Dekl6TTZOMU9sMlkxV29OVjFVMVRBZ1JBa0FQUUMrbERMYmZCNkNIRUk3SEVtaStydVcyUUxDd2JZL2F1anBvQUVBSXh6Qlpvdkd4S3FYdHNaU0FFSkQyKzQzcnBYMWIrM2FOeSsyY0h6dVdpcWJ3SlJRRmlrWURiUzhOenhVOWNDQUE0T0RCd3ppYWZ3ekRFNGQxMjdGbnpaenVDTGd0T1FkZVp3ME5EUmdZRlFVQUtDOXZhdDVnc1ZqeHcwOGJBQUNMTDd1NFdjQjF4V2hzd0paZk1nRUFsMTE4b1NQZ09wc3llU0srV3IwR2UvY2RnS3FxVUJTT0Q5QVZETGxFUk5RdjVlVGtSQUtJQVJCakFTSVZWUTBERUM2RkNKTlNoZ3NwSFk4QmhBTUlFVUNrYkZ3dWhCaG9QNWJaWXJIZGFReVZEcUx0L3QydDFyU3piWCt5NE55NStPYTc3MUZUVTR0NzczOFFwMCtiaXZuejVtRGloRlJIZTl2T0dqWmtjTHZycTZxcThmT1dYN0QvNENHY09GR0VvbE9uVUZsWjVWaHZzVFNOeG5EMDJERVlqUTBBZ0l5MGptdVlqK1RuTzBaemVQT2RENkI1LzZOVzI5aWJObGdzRnRUVzFpRThQS3pqSjBWdFlzZ2xJaUsva0oyZEhZUEcwR29GWW9TcXhrQlJCa29wNHhxWER4UkFMS1NNZ1JEeHpoTUhDS0FwbkVycHVuYlR2bTF2aDFFcDZ5R0VDWUJKU21rQ1lCS0FDVUtZcEsxbnZFazBMdTlnbVJsQWxSRENBbFcxQ2lFc1VnZ3JWTlVpaExDb1FsZ0JXQlFwclFBc3FoQVdpOW1zcXFwcUxhK3FFalUxTlFEd1JVOC8zYWlvQVhodTZlTjQ2NTBQc0duelZtemEvQXMyYmY0RkNmR0RjTjNWVjNScDlJSEl5TWcyMTYxWit5UCsrOGJiTUpuTUFJQkJjYkVZbmpnTWNWTmpVRkJ3SEx2MzdtdTJmVlZWdGROeEl6bzhkMTF0VS92Zm8vbkhPdHplWkRaM3VBMjFqeUdYaUlqNnJNek16QWdBOFFEaWhSQUpBQkxVeHNjQTRwMUNhN1Q5c2ozZ2RBbmVIbGlkZFY5SXJRTlEyVGlzVnFXd1BUWklJUXdBREFEcUJXQ0FsRTJQaFRDbzl2VkMxQXVyMVNDRXNOL3FGVVV4R0FNQ0RKcTZPa05HUmtaOTI2ZnVOYzJHRUx2NlY3L3FsWlBHUkEvRWtudnZ4Ryt1K1JYV3JQc1IzNjc1QVNkT0Z1SHBaMS9BTFRkZWovUG56K3ZVY1YwMUVRQ0FBd2NQNDZWL3Z3YkExdlRnNG9zV0lDdzAxTEgrbmZjL2FoVnlkZHFtQ0dXb043VGI0UTBBZ29LYmhoOTcrOVdYM1FyRzFEVU11VVJFMU9zeU16TWpHa05yUElBRUFQRnE0Nyt3aFZmN2ZVY0RTbnVFN2NiUVd1c1VVQ3NoUktVRWJJOGJsMHRGcVFSUXFXa01zMUxLU210SVNHWDltREZWczRXd2RQYkU1SjdZMkJoY2MrVmlMTHBrSVo1ZTlnS3ljM0x4L2tlZmREcmt0bVhEcHMwQWdKRWprbkh0Vll0YnJiY1BEK1pzeU9BRXgvMjhQWHN4YSticDdaNGpJVDdlY2Yvd2thT09NWHlwNXpEa0VoRlJ0OHZOelEweEFVbXdXcE9GcWlaQmlDUUpKQWtwa3lCRUVvQlEyV0tmN3FoZmxWS1dDeUdLSVdXeEZLSllBRVdRc2xncVNqR0VLRkpVdFZpcjFSYVhUNXhZeEpEcU80S0NBbkhlT1hPUW5aT0xtcHBhTkRRMElERFFWak1hR05CVVExcGJXOWRoamFvclZkVzJwZ2V1T3ArVmxaY2plL3ZPVnN1am9nWWdaZlJJN050L0VNcy9YWUZwVTlNUkVCRFE1am1pQmtRaU9XazREaDg1aWk5V2ZZMHBreWUyMmZURllyRzJHbytYUE1lUVMwUkVuWktWbFRWU0ZXSzRJbVd5dElYWFpDbmxjQUVrbXkyVzZGWTk5WjN1ZTB6S1F3QUtJTVFwU0Zra2hDaFdoU2hXcEN3VVFwUlpkTHJpMHlaTUtPajZzeUp2ZS92ZER6RnM2QkRNbUQ3VkVXUU5CZ04rK0drakFHQndRcnhqT1dDYkFNTHV1Kzkvd0RWWFhnNnIxUXBqUXdOQzlLNUhUR2hwY0lLdGxuWG5ydDNZdWkwTDA2YW1Bd0R5anhYZ3VSZGZhWFA2Myt1dnV3b1BQdlE0amhVVTRzR0huOEJOTjF5SDBTTkhBTEROZ3JibGwyMHdteTJZTy90TUFNQlZpeS9ENDB1WElYZG5IcDU5L21WY2YrMVZpSTYyOVYrMFdxM1l0WHN2UHY1c0JXNzR6VFZJSHA3bzl0K01YR1BJSlNLaU5tVm5aeWRZaFJnTlZVMEJrQ0trVElFUW82V1VTWTNqcTlxYUVUZ05PZVVKS2FWUkFNY0JGRWdoQ29VUUJWRFZRaUZFZ2FyUkZBcUxwU0FqSTZPMHU1OFg5VjBuaTRyeDJZb3Y4ZUlycnlJMkpocENDSlNVbHNGc05pTTRPQmgzM1haVHMrMURRME53K3JTcDJMeDFHNVovK2dXKytmWjdXS3hXM0gvdm5XNDNDWmcvYnc2K1dyMEdsWlZWZUdMcGM0aU1qSUJVSmFxcXF6RXlPUWtMNXMvRGlsVmZ0OXB2M0pnVTNIUG5MWGpoWDY5aS80R0RXUEtuaHhDaTEwT3ZEMFpGWlNVc0ZpdXVYSHlwWS92VHBxYmhtaXN2eDNzZmZvSU5tN1pndzZZdGlCNFlCWjFPaDdMeUNwaE10dEVWbk52N1V1ZnhyMGhFMU0vOVhGQVFyQ3NyR3dOVlRSR3FPaHBBQ29SSWtWS09WcVVNRTA0ZHVqd01zdzJRc2xBS1VRaWdRRWhaQ0tCQUtrcWhVTlZDUlZFSzB0TFRTN3IvR1pFdnUvRDhjNkhWYXJEdndDR1VsWmNqSUNBQVF3Y25JQ045Q2k0NDd4eVhIYmJ1dXUwbWhJV0ZJaXM3RjFYVjFZaUxqZWx3M0ZwbkVSSGhlRzdwNC9qZ28wK1J1M01YeXNvckVCVTFBSXZtWElSZlhYNEpQdjVzWlp2N25qVnJKa2FQR29rVlgzNkQ3Yms3YlZNRjF3T0RFeEtRa1RZWjU4dzV1OW4yVnl5NkJPTlR4K0xMcjcvRjdqMzdVVjVSQ1oxT2g3allHSXdibTRMNTgrWmdhQWREblpGN09DZ2ZFVkUvSUtVVU8zYnNHRzZ4V0ZLa3ZUWVdTSUdVS1VLSXdlams5NEdVc2diQVFRRWNBbkJRS3NwQkRYQlFVWlNEa3laTk9pR0VhTm4wbG54THM5RVZHanZxa1o4UVFrU2lhWGc1dGZIbU54aHlpWWo4VEdabXBsNElNVkVLTVZsS09RVlNUZ1l3d1Q1N2xxZWtsT1ZvRVdTMVF0aUQ3S2x1TFR6MU5ReTVmc3pmUXk2Ykt4QVIrYkJmOHZJR2FZekd5VkxLeVZLSXlaQnlNb1FZSlFHbDVhUUdIWkcyRGwyN0piQmJTTGxiVVpTOHdNREFYYW1wcWVVZDcwMUUxTGN3NUJJUitRQXBwWktWbFRWYUtzcGtvYXFUWWF1bG5TeU14amg3eHk4UEF1MXhTTGtiUXV3V1FKNnFLTHUxUU42VUtWTllTMGRFZm9QTkZZaUkrcUN0ZS9ZTTFOYlh6MUNCNlVMSzB5SEVWQUNoSGU3WVJFTEtBaWxFbnBCeXQxU1UzWXFVdTBOQ1F2TEdqQmxUMDFQbEpyL0Q1Z3Arak0wVmlJaW9SMGtwTmRuWjJaTUJUSGVFMnZyNkVSTHVqUzBycGJRQTJDdUFiQ0ZFamhBaVI2L1haelBNRWxGL3hwcGNJcUplbHB1YkcydXhXR2Fxd0hUWVFtMEdoSEJyMUhvcHBSRkM3QVNRSTRUSWtZcVNIUmtTa2p0cTFLaUduaTAxOVZPc3lmVmpyTWtsSXFJdXljM05qVFZaclhPRmxMTUJuRzIyV0VZQlRyVU1iZFRVU2lscmhCRGJBV1JEeWh3aFJFNTZlbnFlRU1MMTlFdEVST1RBa0V0RTFNMGEyOVBPbGNCWkFHYWJMWmF4YmwwMmszSW5oTmdnaGRpZ1U1VHN5Wk1uNysvaG9oSVIrUzJHWENLaUxzckx5NHN5R28xblNTbG5TMkMycUs5UGxSMDFCNU95SHNCV0FKdUVFSnRDUWtJMnNRMHRFVkgzWWNnbEl2S1FsRkprNXVaT1ZheldCYXFVNXh1TXhnd0FpbU1ZTDljN25VUmpvRlVVWmRQa3laT3oyZXlBaUtqbnNPTVpFWkViZHV6WU1hREJZamtQVWk0UXdIa0FZdHJiWGtwWkpvQWZBS3pUYXJWcjJmU0FmSlFBb0VGanh6TlZWZmNMSVdLOVhDYnFCbExLVTRxaWpFWlR4ek1yQUwrYWhwczF1VVJFTGtncFJWWlcxaFFveXZsU3lnVU5KdE0wSVlTbW5WMXFKYkJCU0xsT2FyVnJNeVpOMmk2RThLc3ZET3JYSkFCcE1wbDJCUVlHenZGMllhanJUQ2JUTGpTK3J0NHVTMDloeUNVaWFwU1ptUmtoaEpndmdRV1pXVm5uQ1NFR3RUTTFya2tDVzRTVWF3R3NxMGxQM3pKYkNFdXZGNXFvOTBpRHdjQ1E2eWNNQm9NOTVQb3RobHdpNnRkMjdOZ3h3R1F5TFFLd1dBSnowUGk1S0ZxSFdoVkFqZ1RXS3NBNktlV0dxUmtaOWIxY1hDSnZzTmYyeVkwYk43NTM0WVVYM2dJZzBNdGxvcTR4clYrLy9oMDR2YlplTGsrUFlKdGNJdXAzR2tkRFdDU2xYQ3lCMlVLSXRuN3cxd0g0VGdBcmc0S0NWcWFtcHBiM1pqbUorZ0NCRnUxeVMwcEtIb3lPanY2RGQ0dEZYVkZTVXZKWWJHenNzMmpkSHRldndpNURMaEgxQzQzQjluSVZXQXdwejI0cjJFb3BpNFFRcXlEbGl1RGc0RFdwcWFtbTNpNHJVUjlqbi9WTUMwQTNhOWFzMExWcjEzNmowK2ttZWJsYzFBbG1zM25uc0dIRDVoWVZGUmxoQzdnVytPRnNad0JETGhINXNieTh2S2g2bzNFeG1vS3R5NDVqVXNvOENMRkNTTGt5UFQzOUYzWVlJMnBHd0JaeU5iQUYzWUIxNjlhbHo1NDkrOXZHWmVRN3JHdlhyajFuM3J4NU9iRFY0bHBncThWVjRXZTF1QUJETGhINW1jek1USjFVbElWQ3l1dWxsT2UxVTJPYko0RGxBTjdMeU1nNDFNdkZKUElsOWlZTDl0cGNMUURkbENsVGdyLzk5dHNIWW1KaWJnZkRibDluTFNrcCtmZjgrZk9meU1uSk1hQ3BCdGRlaSt0M1RSVUFobHdpOGhPWm1abHBBSzZYd05WQ2lJRnRiSFlBVW40a2RicVBwazZhdEtzM3kwZms0NXpiNXRwcmRMVUF0Q3RYcmt4TlMwdWJHeDRlbnE3WDY5TTBHczBnYnhhVWJLeFdhMUY5ZlgxMmRYVjFkbloyOXZjTEZ5N01RMU93dGRmZyttVmJYRHVHWENMeVdabVptZEZTaU9zRWNEMkFpYTYya1ZJZWFheXhYWjZSa1pIZHV5VWs4aXYyMmx4NzA0V1dOd1ZOWVpqNXdydWNSMDFRMFJSb25XLzJkcmgrR1hBQkRpRkdSRDdtQnltMW9kdTNYeUNzMXQ4Q09GL1llbnczSTZVc2hCQWZDeWsvbXBxUnNkVUx4U1R5Ui9iQVpMOXZmMndQVWM0aDE0NWh0M2ZKRnZkYnZrYjJmKzNML1RiZ0FuenpFWkdQeU16TW5DQ0YrSzBBcmdIUWFscFJLYVZSQUo4cml2TDZsQ2xUMXJIekdGR1BjYTZ0dGRmc0NxZC9BZVlMYjVOTy82cG9IbmI5ZW14Y1ozd1RFbEdmSmFYVVpHVmxYU2FGdUVjQU05cllKZ2RDdktGVmxIZW5USmxTMmR0bEpPcW5uTU5zeTF2TGJhaDN1YXJOYlJscy9UN2dBbndERWxFZnRPWEFnWEJ0VmRWTkVPSXVBSWt1TnFtUXdQdlFhRjZmT25seVRtK1hqNGdjWElWYVpvdSt3VldnN1JmaDFvNXZSQ0xxTTdidDJKRXNUS1o3SU1SdkFZUzJXQzBsc0U1SStVWkVSTVNubzBhTmF2QkdHWW1vWGN3VmZVdS9DclV0OGMxSVJGNlhtWms1dTdGSndvV3d0ZXR6a0ZJV0NPQXRSVkZlVDB0THkvZFNFWW1JeU1jdzVCS1JWK1RsNVFVWURJYXJKSENQRUdKeXkvVVMyQXdobnMyWU11VnpJWVRmVFRkSlJFUTlpeUdYaUhyVmdRTUhBaXVycTI4U3dBTUFCanV2azFKYUcwZEllRG90TFMzVFMwVWtJaUkvd0pCTFJMMGlMeTh2b041b3ZObFZ1QVZRQytCMVJZam4yQ1NCaUlpNkEwTXVFZldvdkx5OEFLUFJlSk1FL29UV05iZUZFT0pGYTNqNHY2ZVBHbFh0cFNJU0VaRWZZc2dsb2g1aEQ3ZXFsQThJSVlhMFdKMHZnQ2VrbEc5bVpHU1l2VkpBSWlMeWF3eTVSTlN0R2p1VTNTaUJQN1VLdDFJZWswSThJYVI4ZytHV2lJaDZFa011RVhVTEthWEl6czYrUmdLUG9jVUVEbExLQXFFb1QwQlZYMmU0SlNLaTNzQ1FTMFJkbHAyZGZaWlZWZi9aY2lpd3hqRnVud3dPRG40OU5UWFY1SzN5RVJGUi84T1FTMFNkbHBXVk5WWUZsZ25nUE9mbFVzckN4bkQ3R3NNdEVSRjVBME11RVhrc096czd3U3JsWXdMNERaclBVRllyZ2FjaXc4UC93V2wzaVlqSW14aHlpY2h0ZS9mdURhdXRyLytUVk5WN2hCREJUcXNrcEh4SHA5TXRtVFJwMGltdkZaQ0lpS2dSUXk0UnVTVXJLK3UzVXNxbEVDTGFlYmtFTml2QVhlbnA2Vm5lS2hzUkVWRkxETGxFMUs3czdPeEVWVlhmaEJDem5aZExLUXNWSVI1SVQwOS96MXRsSXlJaWFvdlM4U1pFMUI5SktaVnRXVm4zcWxMbU9RZGNLYVVCVWo0cWdCUUdYQ0lpNnF0WWswdEVyV1JtWms2UXdQOWFEZ2tHWUlQVTZhNmZPbkhpWWE4VWpJaUl5RTBNdVVUa2tKZVhGMUJ2TkQ0a3BGd0NJWFNPRlZKV0NTR1dwS2VudityRjRoRVJFYm1OSVplSUFBQ1ptWmtqSkxCQ0NKSGFiSVdVWHdHNEtTTWo0NlIzU2taRVJPUTVobHdpUWxaVzFoVlN5amNoaE41cDhTbGhHelZodWRjS1JrUkUxRWtNdVVUOTJKRWpSNExLeXN0ZkFYQjlzeFZTL2k4Z0lPQ2VpUk1uVm5pblpFUkVSRjNqTnlIMzBrM1BqTGRhc1VDQm5DYWxtQzRFQm51N1RFUkUva1JLSEJkQ2JwRVNXeFN0V1AzNXpDVzd2RjBtSXFLMitIeklQZnVIaDRNaWxKQ0hCZkFIQ0dpOFhSNGlvbjVCd2dxQnBRWDY4SWV5TW00eGU3czRSRVF0K1hUSVhiaittWWtDY3JtQVNQRjJXWWlJK2lNcGtTTzA4b1l2WnQ2LzNkdGxJU0p5NXJNaDk2TE1oL1dhZXYwT1FJendkbG1JaVBvM2VhaEFIekdXTmJwRTFKZjQ3SXhubWpyOUV3eTRSRVI5Z1JneHBLNzZVVytYZ29qSW1VL1c1Rjc2NHpPblMwVnVCSVRQaG5RaUl2OGlWU2sxczFhY2RkL1AzaTRKRVJIZ296VzVxaUx2WnNBbEl1cExoQ0tFZXJPM1MwRkVaT2VUUVZGQWpQRjJHWWlJcURrSjhMT1ppUG9Nbnd5NWtISzR0NHRBUkVUTkNTa1pjb21vejlCNnV3Q2RJa1NFdDR0QVJFUXQ4TE9aZkxTdkR3RUFwTGNMME4xOE0rUVNFUkZSWHlCYzNHZlE5VDBTdHRkTnRsam0weGh5aVlpSXlGUE9nYmJscmVVMjFIZTFETFhPTjFmYitCU0dYQ0lpSXZLRWM2QlZqaDQ5T2lFdUxtNitWcXM5VGFQUm5DYUVTUEJ5K2NoRFVzb1RWcXYxRjR2RnNyVzR1UGk3NGNPSDc0UXQzS3IyVGJ4WXZFN3p6WTVuUkVSRTVBMEN0dXlnZWVxcHAwS05SdU9UaVltSnZ3UUZCVDJoMVdvdlljRDFUVUtJQksxV2UwbFFVTkNUaVltSnZ4aU54c2R2di8zMklBQWEyRjV2bjZ5Vjk4bENYN0wrR1ovOFJVRkU1TysrT0hPSlQzNnZrRnZzQVZjNWRPalE1S1NrcEhlRkVLTzlYU2pxR2FxcTVoNDdkdXlXcEtTa2JOaHFkRlg0V0kwdWEzS0ppSWlvSTQ3bUNjdVdMUXRMU2tyNmtBSFh2eW1LTWlreE1mSDlHMjY0SVFoTnRiays5U09XSVplSWlJamE0d2k0QURTMzNucnJvMEtJWkMrWGlYcUJFQ0w1cFpkZWVoak5teTM0VE5CbHlDVWlJcUtPMkR1Wm5SNGNISHlydHd0RHZTYzRPUGllbzBlUHpvQVB0czFseUNVaUlxTDJPR3B5NCtQajd3Q3pRMytqeE1mSDN3RFc1QklSRVpFZmNSNFBWMUVVSmNXYmhTSHZhSHpkbld0eWZTTG9NdVFTRVJGUmV4eWpLbWcwbW1IZUxnejFQbzFHTXhxTjd3SDRTTUFGR0hLSmlJaW9Zd0tBRUVLRWU3c2cxUHNhWDNlZmFxb0FNT1FTRVJGUiszenFFalgxR0o5N0h6RGtFaEVSVVVkOHJoYVB1cDNQdlFlMDNpNEE5UTNEOU5FSTF3VURBRTRhSzFIV1VPUGxFdlZ0RVRvOWh1aWprRmRWNk8yaStLelVpQ0VJMVFZQkFMYVZIWUxxV3hQcEVQVVhQaFZxcU5jSStNRHNad3k1QkFDNFp2Z1pPRzNnU0FEQVcwZCt3b3JDYlY0dVVkOFVvR2h4NlpEVGNNbVFxUUNBZTdQZlFwR3hxbHZQTVNJMERrWEdTdFJaR3JyMXVGMFJHeGlCVXczZCt6eXZUejRiSTBNSEFRQ3UydlE4aktvWlFSb2Rob2ZFWUcvMWlXNDlGeEVSOVQ4TXVmM0F6SmdVSEtrOWhST0dDbThYcFprSW5SN0pvYkZJRG8xRGNtZ2NDdXBMOFdIK3p3Q0E4K0luUWE4TjdQSTVmaTdaMTYwaFZKVXFwZzRjZ1NDTkRnQnd6NWdMOE9mdEgzUmJMZVNNNk5HNE8rVjg1TmVWNHVHZHkxRnZOWFhMY2J0aVFzUXdQSkI2Q1RhVzdNVXJCNzdya1hPb2tBaFF0UGhMNmlLTWpSaU1EL00zNGVOalczcmtYTDFsOGJEVE1UQWd0TWZQczZsa0gzWldIZXZ4OHhBUitScUczQzU0Wk9JVkdCVVc3N1h6L3pYM0l4eXNMV3AzbTZINmdmakRtSXNBQUtVTk5iZzMrMjNVV295OVVUd0FRSmcyR0RGQllZZ0pqRUJzVURpaUE4T1FFQnlGNU5CWVJMVUlBQldtd1k2UWU5blFhWWdKN0hvbjNtTjFwZDBhY2kxU3hYTjd2OEt5dEY4alFORWlKU3dCVnlTZTdpaDNWd1FvV3Z3bStTd0VLRnFNQ2h1RXY0Mi9IQS92K2hoR3E3blpkamVObUlzNWc4WjMrWHd0R2ExbS9IYkx2NW90aXdvSXhWL0dYNFlBUll0ekIwMkVsQkwvUHJpbVc4NG5uWDRYcUZJaU9UUVdJOFBpb0VEZzZzUXpNQ29zSHN2MmZ0bnErZnVLTTJKU01Fd2YzZVBuT1c0b1o4Z2xJbktCSWJjTEFoVWRnaFNkMTg2dmlJNmJTczJQbitTNGY2eSt0TmNDcmdEdytyVGJNQ0FneEszdFZVZ1lyQ2JFQm9ialZFTjF6eGF1aTQ0Ynl2SHhzUzI0WnZnWnNFcTEyOTRESnRXQ3YrLzhCRTlPdWhyaHVtQ2toQ2ZnTDZtTDhQZWRIOE1zclk3dEFoUnRyNzN2eWsyMWVQUHdqN2hsNUR3QXR2ZVRWYXA0OWREYWJqaTZiSFovZjgxSi9IWEhSM2d3OVRKRTZQU1lHalVDVDAyNkdvL3MraFRscHRwV2V6ODErV29rQkEvb2huSjQ3cFVEYTdDNWRMOVh6azFFUk81aHlPMG11NnNLMGFCYTNONStiUGhneHlYdlkvV2xLR3RvL1NYZWtZN2FiQVlvV3B3ZG0rcDR2T3A0bHNmbjZDd0oyOTlrWmt6YmsrT3NQcG1MUTdWRnlLOHJRWDVkS1V3dS9uNlY1bnJjdlBVL0hwMTcwYkJwK05Xd0dSMXVOM25BY0N3Y25PSFJzZTAwd2pZd1NVbEREWWFGeE9CdjR5LzMrQmpscGxxOHRIOTFzMlVuREJWNEl1OXpQREx4Q2dRb1dxUkdETUdTY1F2eFZONFhMcHRFckRxZUJiTnFiYlhjRXpOalVoQVhGTkhtK3RVbnR5TXlRTy80bTU2Zk1BVjFsZ2E4bjcreFMrZDFmajcyZXdkcWl2Q243ZS9qc1VsWElpb2dGSWtoTVRndmZyTExjNFZxZ3hDbURlNVNHVG9yUVBIc28vT3FUYzkzNi9uUGpCMkgyMGFkMDYzSEpDTHlOd3k1M2VURi9hdFJaS3gwYTlzd2JURGVtSDRiQU51WCs1TjVuM2Q3NXlVQU9ETjJMRUlhMjdVZU41UmplOFhSYmo5SGUxYWYzSTVURFZVb050cHVwNHhWdUhqSVZKdzdhQ0lBNE8zRFA4S29kbndwMnJrVzB4MVdxYnExWFhSZ0dLWU1HTzdSc1ZzYUZCU0JRZTBFeFBhMDlYN1pWM01DTCs1ZmpmdkdYQWdBbUJvMUFuZU9QZzh2N1ArbTFiWWY1ZitNT3F2ckh6dHo0OFpqcUg0Z2pLcTUzZVlVU2FHeDdZWmNBUGd3LzJkRTZQUTRMMzR5QUdEeHNPbW9NdGZqcXhQWjdlN1hIbFc2YnNkODBsaUp2K1IraU1jbVhZbWNpcU5kRHROOWdUdnZjMDlZcFBzL3FJbUkraXVHWEMrWUdaTUNiV05ONFBhS296MFNjRFZDd2VWRHB6c2VmM204ODJHa3MzWlZGV0JYVlVHelpaWXUxanIyRkJYU1pVMXlUMnF2cmVuR2tyMFlwby9HNG1HMjF6QXRLc2xOZytiVkFBQWdBRWxFUVZUakVRNm1SNDlHUmxReWFpeUdibWt6L09yQnRVZ0lIb0NKa1lrQWdOK05tSVBDK2pMa1Z1WjM2bmpTS2VTMmJIaHowbGlKSlRudm9zSkZNd1c3T3pQZjZOUjVYNXQycTZORDJOSTlLOW5zZ0lnNjdmT1ZYK0d0ZHo3QTRJUjQvT3Y1Wnp6ZS80ZWZObUxWMTZ1UmY2d1FHbzBHdC96dU41ZzcrMHkzOXIxNDhiVUFnTDg4Y0IrbXBrL3grTno5QVVPdUY1d1ZPODV4LzhzZWFrSXdiOUNFWnJWemMrSlNjVVk3VFFlR2hUUjFrRGt2ZmpLbVJpVjdmTTZ2VHVUNGJHRFlXbm9BUy9lczlIWXhtdmtnZnlPU1EyTVJFeFNPeDNkOTV2VzJ5aW9rbnRtekNzOU11UmFEZ2lLeHRuZ25kbFVWSUM0b0F2OU12OTdqNHpsZjhuOW54bDBkYm4vckw2K2l5bHp2OFhuNmdpc1RPMjQrNDRta2tOaHVQUjRSOWI3M1B2d0V5ei85QWdBUUhCd01uVTZMNmhxT1VkK2RHSEo3eUxtREppSXFzUFh3UVJxaFlFeDRBZ0JiVC8zUjRmRVlIZTcrQ0EyZkZmelNZWTJqVm1pdzJLa1dGNEJIbzBCMDloTDgxcktESHU5RGJaTUFsdTM5RWhLQW9ZT2h4SUkwT21oYVRHQm9iemNNQ0lSb21nL0hKaUU3TlR4WnJjV0lKL0krUjNwVU1yNW9IRXRaUUhTNUk1dzcrL3Z5aVBUdXRCRW5vdjZqdktJU24zeHVxMWo1MWVXWDRxb3JMb01RQWtaajN4a2YzUjh3NVBhUWMrTW5ZVVJvWEx2YmFJWGk4WmZmVjhkek9neTVDNGVrWTJCZ21FZkhwZVo2Y3ZRQ1Q5cG51aHRFbjU1OFRadkRWWVZwZy9CdWk1cFNGUktMTmp6cmRqbWNGZFNYb2FDK3pQRzRRVFVqcHhQdHZaTkRZeEdoMHdNQThxb0tZT3FnS1l1bmJiUDdrdTV1azZzUkNuUkMwNjNISktMZXMyLy9BYWlxQ28xR2cxOWRmZ2xFNDJoSlFVRmRIeCtlbWpEazlvS3Vmc0VGS0Zvb2J0Wmp4UWRGTmd2Ty96bjRQVGFWN090d3YzdkduSSswQVVrQWdBL3lOK0diRTlzOUxxZlJLWkNGYUFOZGhxNEJUbVBqcG9RbnRBcnNCMnVLbW9XWmNGMHdYcHQycTBmbENOWUVlTFI5UzRPQ0l2SEsxQnU3ZEl6MkxOcndyRjlOWVZ0aHFzTWp1ejd4ZUw4bFl4ZGlSdlJvQUxhT204VTkwRGE5citqdTBSWG14S1hpcnRFTHV2V1lSTlI3REFiYmNKNFI0V0hRYVBpRHRhY3c1UFl3bzJydThoZmMvV01YNHZUR01OQ1IyMGZQZDdSMTNGOXpFcXRQdWhkV25UdUVOYWdXMUZnTW5oZlV5ZGp3d1hndzliSjJ0M2w0d3VKV3kyN2I5bHF6VVFjVWlGNlpOY3FiWmtTUFJtckVVSmZyL25ka1BScmMrSkgweW9IdldvWDdxeEpuWWxSWVBPcXRKdnlqUlh0ajJjYklCczdhKzNIVm9KcTdITk1ibkRyZWVUb2tGeEdSTDNOOEJyc3gzajExSHI5Wi9NajgrRWtZM3hpV1ZFajg5K0QzWGk1UjE1bFVDMzRvenZOb24rVFFPSXdLRzlUcGM5WmJHL0R0eWR4TzcyODNjVUFpNG9NaW15MHJiYWlCYkJFUFV5T0c0dndFMXoxalA4ei8yYTJRdTdmNlJLdGw1eWVrQVFDczB0cXA1Z1RQVExtMnpTWVFmOGg1QjRkcWl6MCtwalBuS3h3TXVVVGs3SXByZjRlR2hnYjg0WjQ3Y1BxMDA3RHE2OVg0Y2YwbW5EaFpCSzFXZytTazRiamd2SE13WS9wcGJSN2o0T0VqK0h6RlY4amJ2UmZWTlRVSUR3dEQ2cmd4V0hUSmhVaE9hbnY0eUUyYnQyTDFtblU0ZFBnSUdocE1pQjRZaGFucFU3RG8wb3N3SURLeXpmMWEycGFWZ3llV0xvT3FTc3crNnd6Y2ZjY3RlT1hWTi9IdG1uV09iY3JMS3h5akpPajF3ZmpnN1ZjZDYxUlZ4ZmZyZnNMYUg5WWp2NkFRVnFzVlE0Y2s0THh6NStMY3ViUGRMa2QveG04V1B6RXlkQkJ1U0c1NjA2ODV1YVBMSWFRcjhxb0s4ZnZzdDVzdEd4Y3hGRGVPbU9ONC9NRDI5MkZxRWVCS1c0d2dVRzgxZVR5TjdPSmgwN3NVY3F2TkJwZm52Q0FoRFFhckNldUtkN1c3ZjBMd0FOeVFQTHRad0cxUXpmaWljQnMrSy9qRmp4b3FkSTJ4SDlYa2NuUUZvczVwTUpud2w0Y2Z4NTU5K3hHaTF5TTBOQVFWRlpYWWxiY0h1L0wyWU5FbEYrSFgxL3lxMVg0cnYxcU5OOTUrRDFKSzZIUTZ4TVpFNDFSSktUYit2QVdidDI3RGZYZmZqcG1uVDJ1Mmo4Vml3WE12L2hzYmY5NENBQWpSNnhFMUlCSkZ4YWV3NnV0dnNmSG5yWGpzNFQ5anlPQ0VEc3U5LytBaExGMzJJbFJWWXRyVWRQemY3VGREQ0lHSThIQU1pb3VGd1dCRVZYVTFGRVVnTmlZR0FLQVBicHJjeG1oc3dCTkxseUYzcDYyU0p5QkFoOUNRRUJ3NmZCUXYvL3QxbkRoUjFPbS9hWC9pMzk4c3ZjcDFkTkVLcGMxYU9uY05DbTcvbDJPRVRvOEh4bDNzQ0FvVnBqcThkM1JEbDg3WlZRYXJDVWZxU3BvdG05YzRDWVJkZmwxSm0rMlYvNUR6RGhTSVRyVmRYVm1ZaFRVbmR3QUFhanVZRmM1ZDU4VlBkZ1QwdVhIajhjckJOU2gwNm53RkFIcE5BSzVJbklFTEV0SWM0eUFEd0lhU3ZYajd5RThvYTNBOU5NeXJoOVkybXliMzFwSG5OSnVPdVNQcFVja3UyeUZITlRiejBBb056b2daNDNMZkxlME0rYmF1YUZlemFaa25Ea2pzMW5CVjcvVGFoR2lEdXUyNGZSRkhWeURxblBjKy9BU0JBUUY0L084UEluWHNHQWdoVUY1ZWdmKzgvamEyL0pLSlQ3OVloZkhqeGlCdFN0Tm41cWJOditEMXQ5NkZvZ2o4K3BvcmNmR0ZDNkRSYUdBeW1mREcvOTdITjk5K2orZGYvaS9HcEl6Q3dLZ294MzZ2di9VdU52NjhCUkhoNGJqenRodHhXb2J0YWxocFdUbWUvZWZMMkwxM0gvN3h6NWZ3M05MSEhSM0ZYRGxaVkl4SG4vd0hUQ1lUSms1SXhaSjc3NFNpMkw0VHJybnljbHh6NWVWWSs4TjZ2UEN2L3lJeU1oTC9lV2xacTJQODU3VzNrTHN6RHpxZERqZi83dGVZZmVZWjBPbDBxSzgzWVBtblgrRHpsVjkxMTUvWXJ6SGtkb0h6Vzd5dEtLWVZHdHcwWW02UGx1UC9VaFk0UmxOUUliRnM3NWVvc1JoNzlKeWRjZHJBa1c1dlcyM3VmSnZnQnRYczFpVitUNVEyVktPc29RWURBOE13TG1JSW5rdjdEVllVYnNQeVk1dGhWaTJZTzJnQ3JoMCt5ekZhQUFBY3JDM0NhNGZXWVorTHBnVGQ2Y1lSY3pBb3FPMGZRc0dhQU1mc2FTMzlldlBMYmU2MzRuaG1zOGMzS1hOZGhsd0Z3dU9hV0xPME5tdjNiWitaejEvMXA5RVZNck95OXN2V2piNmJQUll0UHpLRmFIZjd2blk4MmZvanYvbmpGc2Z2UzhlYm1wNStObnlJd1dERU00OC9qT2pvZ1k1bFVWRURzT1RlTzNIYjNVdHc2bFFKUGwvMXRTUGtXaXdXdlA3V3V3Q0FxNjVZaE1zdWJ2cnNDd2dJd00wMy9BYTc5K3hEL3JFQ3JGbjdJNjVjYk9zN1VsQjRIRjkvYTJ2aTk4ZjcvZytwNDVvcUJxSUhSdUcrZSs3QXJYZmRoeU5IanlGdnoxNk1IemZXWlhtcnFxdng5OGVYb3JxNkJxTkhqY1NmNzc4WE9wMW5vL1hrSHl2QXVwOXNGVlYzM25vanpqNXpwbU9kWGgrTTY2KzdDb3FpNE5NdlZubDAzUDZJSWJjTE5FNWZNbTFOVVFyMC9PZ0s2NHAyTlkyTWNIUlRxMW5HK29JUm9YR0lkakdzV1h4UUpFNDZkVFM3TW5FR0xoNHl0VnZQWFZCWGh2dTN2OXZ1TmgzVkYyZVdIOGFkV1cvZ3V1Rm40cnlFeWRBS0JZdUdUc01aTVdOUWIyMW9GdjRxVEhWNDkraUdEcHMxK0l0eEVVUHc2TVRXbHd2YjgrcWh0YWcwMVRrZSszdkk3V2VqSzR4cXI1YXJNL3JhOFRyYzI4UGo5K2J4TXJPeVBMbzhwcW9xVkZXRnhXS0J4ZHk5UDliY01lZnNXYzBDcnAxV3E4V0ZDODdGRzIrL2g5MTc5c0Zpc1VDcjFXSm4zaDZVbFpkRHE5WGlvdlBudDlwUFVRUW1UNXFBL0dNRnlOdlROUExRait0dDA0ZVBHVDJxV2NDMWl4NFloV0ZEQitQUTRhUFl2V2VmeTVEYjBOQ0F4NTU4RmllTGlwRTRiQ2dlK3ZNU0JBZDVmcFhLM2x3aU5qWUdaODF5ZlJYb3dnWG5NdVM2Z1NHM0N6Uk9IenlXTnNidzdJM1JGVGFWN3NQNGswTVJGeFNKVHdxMmRPbGNQV1ZPM1BoV3k2NFpmZ2JPUzVpQ0ovTStSM2JGRVFDQVRtaTdmWXphUUkzcnQ3bHcraXF3dWpFR3E5RnF4cXVIMW1KanlWN2NNK1o4eEFaR05KdFZ6aXl0V0ZXWWhZK1BiZTcybXJ2MjNMYnR0VjQ3VjNlcU1UZGRiWEN1QVNjaXNrdE9TbXh6bmIxdHJNVmlRV1ZWTmFJSFJ1SGdvY01BYkQ5a0huejRjWmY3VlZiYStuNVVWRFJWc0J3NFpQc09PbEZVaE4vLzhTOHU5enRaVk54cVB6dFZWZkhNY3k5aC84RkRpQjhVaDcvLzlZOElEUTFwdFowN0RoNjJkUlJPSFp2UzVnK3lxS2dCVUJRQlZXVXZqL1l3NUhhQlJtbXF5YlYwTUpCOVQzdjc4RS9RTlY0eTFncE5zemFoN2xDYy9pTnBoZUp4MERSTEs2eFNkYmt1UU5FNnBqS3VNTlU1Mm5sZU1EZ2RBc0NTY1F2eDE5eVBjTEMyQ0xtVitUREw5aWU3R0tJZmlKblJ0aW1LRDllZXdyYnk5bWRhcXpTNW5nclcrVzlrVVYyWDNaVTkxY2R4VDliYnVHbkVYTXlPUzNVc3J6VWJzYVpvUjY4RzNMNmd0S0VhS3hwblAzTVFBaGNQemdBQUZCbXJzTFZGMjkvRHRjWE4ya3M3dC8wbDM2YlZhRkxNTGI2WmhkbmMvSEhMOVMwZUs0clM3SEZYajlmeXNhWGxlb3VsYngydlJXV3NzRm85Mmg4dDlyZDJvZXJhWkRZTGs4bWsxTlhXYWlyTHluUUF2dXpzc1Rvak1LRHRjYy8xK3FhT1dxclY5aDFjVzJ1N1FtUTJtM0hvY1B1anlwaWRhcWJyR3ZlcnJxNUJkWFg3VSt1YVhOUm9sNWFWbzZqNEZBQmcrbWtaSG8zQzBKTDkvT0hoNFowK0J0a3c1SGFCYzJjZjU1N2kzbUJVelk1d2RYZktnalk3R3JuajJ1R3pjTzN3V1I3dDgrcWh0Zmo2Ukk3TGRUT2lSeU5FRzRnRzFZenNpaU9ZMjFpciswSCtKbHlkT0JOQmlnNFBqcjhNZjh4NUZ6c3E4N0dqTXIvZGM1MGVQZG9wNUJiancveWZQU3FybmRicFI0cFpXakE4SkFZTEc0T1p1MG9iYWh6Tk1JUVF1R0xZNlc3dnU3WHNRSmVuUXJaM3pCTUFBajM0WWRLZFFieklXSVczanZ6VWJKbUNwcEJiV0YvV2FqMWdtNHJZYm9DZmo0WDh3Y3k3dS9WNEdnOS94UGFteVpNbnQ5MmJrWHlSMG5qVEFRaTQ5dHByZS9YazdZM3A3VnlqR2habSt3d0pEclkxRHhpY0VJOS9QZitNMitjSmF0enZ2SFBtNHJhYmYrdHhPV05qb3JGZy9qeTg5dVk3K0h6bFY0aU5qY0g1OCtkNWZCd0EwR2x0MGF5aG5TbCtMUllMYTNIZHdKRGJCZnJHa0d1UmFwdFRqZ1lwdWk1L3dmbjY4RXIyTnJhWlpZZWJUUUN3cWpBVFEvVlJtQlV6RnBFNlBmNHlmaEVlMlA2ZTIxUFpkcFZ6S0t5em1CQWRHTmFzWnRaVGtUcTlSL3VmYXFqcVZNalZPWVZ6KzR4eFEvWFJlRDc5ZXJlUGNjWEc1N3crVGE3UmFrYTkxUVM5SmdBeGZqNE5kVTlPRTAza3owNlZsTGE1YnRmdXZRQ0FoUGhCQ0c0Y2Zpc2gzalo4WkZIeEtSZ01Cc2Z5amlURUQ4S3V2RDA0Zk1Uek1jWHRManAvUGtwS3k3QmkxZGY0ejJ0dklVUWZqTE5temV4NHh4WmlZNk94Wjk5K0hEaDBxTTF0RGg0KzB1bHk5aWUrblo2OFNJRkFVR1BJcmV0Z0pJUGUvb0k3YmlqSG51cmpIdTB6UkQ4UVlZM0RPSjFxcUVKWlE2MUgrNWUzc2YyMGdhTXdQTVEyQnVDUHAzWmp5b0RtQTNDL3ZQODdKSWJFWUpnK0drUDFBM0h4a0tuNElIK1RSK2Z1ckRCZFU0ZUFHclBySmcxOVVXQmpEYWdLMldZVEVWOVJZcXhDWWtoTWg4UGsrYnFQam5YdWFrTmJra0ppUFJxdGhNaFhyVm43SXk1Y01COUJRYzA3cDVhVmwyUGRqN1lSQ002WU1kMnhmTkxFOGRCcXRiQllMRmoxOWJlNFl0RWxMbzlyNzZobU56VjlDcjc3L2dmc1AzZ0llWHYySVhWc2lsdjd0ZlRiNjY1Q2VYazVObXphZ24rKzlCOEVCd1hqdEtscGJqOWZBSmc4Y1FKKzJ2QXpEaDAraXAxNWV6QWh0WFVudCtXZmZPSFJNZnNyaHR4T2lnb01kVFI2cW1vbklGbWtpay9iNkF3V29PaHdhV010WjQzRjBPYmwvcG5SS1JpaWI5Mjd0QzBmNXYvczhTWDhQNDI3eFBHbCtmV0o3YTNiV0hiU3J4SnRsKzlMR3FxUlhYNjRWY2h0VU0xNGV2Y0svR1BLZGZpaE9BOGZkYkxwUVdlRU8zVjJxaklia0YxK3hPTk9ncjhiTVFmekJrMEFBTHg1K0VkODE4NU1hV0c2WUx5WThWdEhEZkwrNnBNZW5Tc3FJQlFhb1dDQXp0Wit0YTFoMXI0NmtZM3RMbVk0bXgwM0hqUGNuQjY2dDV3d1ZDQXhKQWFCaWc0REFrSlE0VFRpZ2ovcGJKT2F0c3lKUzJYSXBYNmhxUGdVSG5saUtlNjQ5VVlNVG9nSFlKdG80WVdYL3d1RHdZREl5QWdzdlBBOHgvWVI0ZUU0Zi80OHJQeHFOVDVZL2ltRUVMancvUG1PVVE0TVJpTzJiTTNFcXE5WFk5blRqem4yeTBpYmdoSEp3M0hvOEZFOHVmUTUzSGJ6RFRoOVdvWmpmTnZ5aWtxcyszRTlDbytmd0QxMzN0cG1lWVVRdVB1T1cxQmVVWW04M1h1eDlMa1g4ZENmbDJEQytIRnVQK2N6Wmt6RCt4OTlncExTTWp6OTdQUDR2OXR2UmtiYUZDaUtRR1ZsRmQ3NDMvdllmNkR0V2w1cXdwRGJTUU9kTHErV3UvaGkvcjVvQjdJRHdtQ1dWbng4YkxQTFk0UnBneDBodDlwc2FQT0xzTEMrM0RHOWFuZVAvOXFUNXNTbE9vYlcrdlprYnBzVE81d3dWT0Nlckxkd3FuRzJzN0hoZ3hIZlRzM2VpTkNtMmN6aWd3ZGdUanROQkV5cUZSdEw5cnBjRnh2WTFLai9sTEVLS3FUSGJWV2RhMUl0MHRydS9wZkhUM2NFM0lPMVJZNFJKZHlSRXBhQVA0NjdHUDg2OEIyaWcyemxiams3bk4zUnVoSmtsaDl1dFh4cytCQzN6K2VwbFBDRVRvMEhYRmhmN3JnL1ZCL3R0eUdYaURybjhrc3Z3bGVydjhmdGR5OUIxSUJJbUMwVzFOVFlyaHlHaE9qeDRQMzNJaXkwZVp2K1gxL3pLNXc0V1lUTTdPMTQ5NE9QOGNIeXp4QVRQUkNxbENndExZT3Fxb2lNakdpMmo2SUlQSERmM2ZqYm8wL2haRkV4bGk1N0FVRkJnWWdhTUFCR294SGxqZTEvWjgyY2pvN29kRG84ZVAvdjhjZS8vQjBGaGNmeCtOUEw4T2hEZjhhb2tjbHVQZWVBZ0FEYy8vdTc4TkJqVDZPbXBoYVBQNzBNZW4wd2dvT0NVVjVSQVoxT2l3ZnYvejBlZXV4cHQ0N1huekhrZHBJOWRBSzJnTlRTNnNZYXZXQk5BUDZjZWltVzUyL0d3VnIzcCtHTDBPbnh1eEZ6OFA3UmpXMkd0TDRzVkJ1RVh5ZWRCY0EyKzFsN05ad0FIQUVYQU9iSFQzS014dENSMUlnaFNJMW9PN3pWV0F4dC92MmNMNUdmTkZTNGRiN09DdE1HTlp2NWJubSs2eDgrcnN5UG40UWJSOHlCVm1nd1JCK0ZnWTJkdElwZHZPKzg0WnJoWnlBNU5BNlA3dnJVNDMwTG5HYU5TdzZON2JEVElSSDFMOE1UaCtHNXBZL2gzUTgrUnU3T1hUQVlqSWlMalVGRytoUmNmdWxDUkExb1hTR2kwK253NEIvdncwOGJObUh0ait0eDVHZytUcFdVSURnb0dDT1NoMlBLcEFsWU1QK2NWdnZGeHNiZ3VhV1BZZFhYMzJIejFtMDRjZklraW9wUElTd3NGSk1tcEdMNnRLbVlOL3NzdDhvZEVxTEh3dy9lanlVUFBvenk4Z3I4L2ZHbGVPS1J2MkRZVVBjcUcwYVBHb2wvUHZNRWxuL3lCYkp6ZDZDcXFocUJBWUdZTmZOMFhIN3BSVWdjTnRTdDQvUjNETG1kbEJUYU5QaC95K2xkbmQwMjZoeE1qUnFCOUtoa2ZIeHNzMXVYTFllSHhPREIxTXNRSFJpRzhSRkQ4ZmRkbnlDL3hSUzVmZDBWdzA1M2pIMzY1ZkdzUGpjRFc2ZzJ5REh0cmRGcVJwbkpzemJJbnJwNHlGVEhhQnhINms1aFczbmJsNXFjTzViOVg4b0NaRVExL2ZxM3QyOEdnQ08xcDNxZ3BKNVpQR3c2TGg4NnZkUHZ6ME5PUC94R2hNYTFXaCtnYUJHcEM4R3BocjRSNk52eXl0UWJFUnZVb21iSWFSU25UMmZkMTJQbnZqNzViRnlmM0h3U3ExY1Byc1hxazl0NzdKeEV2U2wrVUJ5VzNIdW5SL3NvaXNEc3M4N0E3TFBPOEdpLzRPQmdYTEhvWWx5eDZHSzN0cjkwNFFXNGRPRUZMdGRGUncvRW0vOTUwZVc2dWJQUHhOelpaN1o3N0xqWUdOeDErMDF0cmwveGNmdVRIQkZEYnFkTmpCem11SCs0dHRqbE5uUGlVakVyeHRaZ1hJRm9WbXZWbm1xendURzV4SUNBRUR3KzhVbzh1dXRUN0t2cDJlbGh1NU85bHJIV1lzU0t3c3dPdG03dTN3Zlc0UFZEUDdTNWZ1ckFFYmhydEswTjFrK25kcmU3cld5amljU29zS1ltRDU3VXNIZUdwN1c0ZzRPYjVsSzNCMXlEMVlTWDlxL0dCS2YzM1lFYTErWFdDWTNMem80YXBYdUhuVm8wZEJxdVRyUjlnY1MwQ0hqdU9tR29RSzNGaUZCdEVGSWpXdGRNeEFhRzQ0V01HN0M3cWhBckNyZTErK1BBbXpSQ2FYZFd3dmJXZFpXcll5dmRQRU1ZRVpFdllzanRoRUZCRVk0Z1lsVE4yT2VpQTFGeWFDeHVHZGwwT2VUYms3bllWTEt2MVhhdWxKdHE4ZGNkSCtIeFNWY2lOakFDSWRwQVBEeGhNUjdQKzZ4UFR0bnJ5bytuOHZEcnBEUHh2eVByVVdkdGU2dy9WNXpIL0hYRjREVEVtRm0xb3NiaXVnTldlNXdEVldmYWtub2lRS05EWnZraHpJd1pnNEs2VW13cE85RG10a1AwQXpFcVBMN1pzbVAxcFhoNjl3b1VHU3B4NDRpNUFHeC9vOTFWaFM2UGNmUEllYmg1Wk9mR1ozVFhwVU5QYzR4VkxBRzhkZmpIVGg5cmIvVnhaRVNOd0lDQUVBelJEMngyWlNSRUd3UUJXN09VZmRVbittekkzVloyQ09FNjk0WXE2ZzBubk5vNkV4SDFWd3k1blRDM3NUYzlBT3lzUE5acVN0OXdYVEFlR0hlSlkzemJnN1ZGZVAzUU9vL09VZHBRZzcvbUxzZmprNjVFZEdBWWdqUTYvSFg4SWp5Wjl6bTIrMEM3eFRwTEE5NDgvQVBXRk8zd2RsRmNjdTZaM3RQdFFNc2FhckJzNzFmNDRPZ21oSFVRaEM0ZWt0R3NabTVEeVY2OHRIODFUS29GczJMR09HWUd5eWsvMnVaVTBqM0Z1Um1GYzhEOTE0RnY4WDNSVHJlT0lXRHJMRGc4SkFZVnBqcnNxVDZPclBMRHlJZ2FBY0EyY2NoeXA0NmF6c084bGZUaEpndXZIbHJyMGZhVEl4TlJaMjFvc3piZUxsUWJoQUVCSVc1ZkJTSWlvaVlNdVI3U0NRM214aldGM0Eybm1uZHFDbEMwK0hQcXBZaHA3TGxmWWFyRGszbGZkR3JnL1ZNTlZZNGEzYWlBVUFRb1d2d3A5VktmQ2Jxck8raHM1aTFKSWJFWTJqZ2tXNTJsQWJzcWU2ZDIvS1N4RWllTnJlYzhkN1k4ZnpObVJLY2dXQk9BRC9NM09RS2ZBb0hGVHJPcGZkL09qNGUyaGhCejFwbUFuT0RVakFKb0RMajd2OFgzeGEwRHJ2TXNvZ25CQTNESHFQbTI4WkJEQmpwR21IZy9meVAyVkI5SFp2bGgzQXhiQUQ0emRteXprQnZsTkJOYVVSL3BhTmRaV3FIZ3pOaXhXRGc0QTRraE1TaHRxTUU5MlcraHp0TDJsWTRiUjh6QldiSGpjTUpRZ2MybCs3R2w5RUNQTjY4aEl2SVhETGtlV3BBd3hWR2JWbTAyWUhOcDB3eVdHcUhnaitNdVJrcFlBZ0RiYkZSUDd2NEM1VzEwYXRKcm02WUZibXZxd2lKakpSN2UrVEdlbW53MTlKcEFSOUI5UE84ejdLZzhCc0FXdkxzNnphZHpHejZ0VUxvMGdZVlpXdnYwSkFVWERHNGFtSHR6MmY0Mmh6WnpoL1BVem1vNzAwKzZxNlNoR3Y4KzhCMHNVbTMyM3Jwd2NMb2ptSjh3VkxRYWZreENPcDdIa2RwVExvY1FhNHM3NzUzb3dEQ01DVTl3T2gvdzh2N1ZXRnU4Q3lOQzQ1QVVHb3VFNEFHSUR4NkFoT0FCR0JUVTFPTTVvWEZaUzJiVkZyUkxHMnF3c3pJZkV5TVRNVGc0Q2xPalJqaWFKVVE3RGZOVzFEZ0N4c01URmpmN3Uzc3F3cWsyL2RyaHMzQko0ekIrbmZGWndTL1kyazd6RThEV3J2amMrRW1ZTjJpQ296TW1ZUHViM2pSaUx2NjU3MnVYKzAyS1RIU01NcElRUEFDTGhrN0RvcUhUVU5wUWd5MWxCL0J6eVQ2UEozMGhJdXBQR0hJOUVLb053cUtoMHh5UHZ6bVo0NmdSMHdvTi9qRDJRcVFOU0FKZ200M3FtVDByY2FEbUpDSjBlbWlFZ2twVFhiTkF0Y0NwTTFKN293OFUxSmZoNmQwcjhOZnhsME1yRkVkdDhkOTNmb0k5MWNmeGg3RVhkZXZBOE5jT240VnJoOC9xOVA2dkhscmI1c1FXN1prZlA4bnhBNkk5emhOakpJZkc0Y3JFR1c0ZC83T0NYeEFiR041czZ0M1ZKenJ1Z1I2cDA2UGVhbkpNb1dzWEhSaUd5VTZUVzlSNzJQYTRMUnRhREhtV0ZCS0xhNU9hWG85M2pxeHZ0VTlCZlJrV2JYalc0M01GYVhTT0VSdnF6RzIvQjY4YmZxWWpERHNIWE1EMlBwNGJONzdEYzFta2lwT0dDaFRVbDZHZ3ZoUlpUa0g4NnhQYk1URXlFUUJ3YmRJczVGUWNnVVdxR0t5MzFSNmJwUlduakxaaDVrYUZEWUplRTlqNkJKM2dLbng3SWpKQTczSzVWbWh3MnNBUm1CTTNIbE9pa2xwMURpczJWdUhyRXpudDFzZ2ZxeS9GbTRkL3hNeVlGSXdPYTJxbkhSMFloZ3NUMG5CaFFocEtHcXF4NGRSZS9IUnFONDdWdHozOUtaR3ZXZjd1Njk0dUF2a0JobHdQL0NicExFZm5raHFMd1RGcWdFWW9lSEQ4WlpqYytDVnRDd0hmT21yVHBnd1lqcnRUem9jRVVHOXBnTkZxUXJBMkVIcW4ycWo5TmUzUGZyV2o4aGhlT2ZBdDdocTl3TEdzTDNWMDZRN254VTl1TmtTV081SkRZNUhzTkp4YmU3NDV2aDIzajU3dkNCeDVWWVU0MU1iSUdNNnVUejRiWjhXT1E2M0ZpQnFMRVExV1c2ZTRoT0FCam5iWEFIQ3dnL2FWblJFYkdJRUh4MThHbmJDMWg4MnR6RyszNDVvckVUbzlIcGw0QmVvc0RUQllUVEJZYklGZENJRnhFWU1kNzZQMm1sS3NPTDROcDBXUFJKQ2l3NXVIZjNBRVhNRFdMdDA1NUtxUUtESlVJcit1Rk1mcVMxQlFWNFpqOWFVNFlhaG9zNFovYTlrQjdLcytnWlR3QkF6VFIrT3UwUXZ3M3RHTm1CQnA2eUJZV0YvV3BScjMzcUJBWUh6a01NeU1HWTJaMFdNUW9tMGR4SGRWRmVETDQxbjRwZXhnaDgrbXdsU0hsY2N6c2ZKNEptSUR3ekV6Wmd6T2loMkxSS2YvSXpHQjRiaHM2R200Yk9ocHlLOHJ3VStuOW1CRHlSNlVOdFIwODdNakl2STlETGtlY0w2ay8xSCtaa2N2ZjZ0VThkM0pYSXdLSFFTOU5oQ3ZIUGdPNjV4Q2dIMVdKd0VnUkJ2WTZzdlBZRFhoNitNZDEzeXVLODVEWEZBazVnMmFnQ2Z5UG5jRXRBTTFSVkM2MkZ5aE8zVjJrb0lHYS91aktuUlZZa2cwVXB3dXViOTk1Q2UzOWp2ZWVKazhWQnVFVUcyUXkyMDJseDdBaVI2WVVHSnN4R0RINUEvVlpnT2ViK1BTZG51cXpQVVlFQkRTYkFJVFY3NDZudDNtdXNPMXAvQ1BQYXVRRVpXTVZjZXptcTNMclRpS1ZjZXpjTFN1QlBsMUpTaW9MMnRWNisyT2Z4MzREazlQdVFaQmlnNW54bzdGbWJGTjg3WGJtK1lBd0UxYi93UFJnME55ZWNJK0ErSEkwRUg0MjRUTEVlYmkvV0cwbXJHaFpBKytPcEhUNmZHRVR6VlU0L1BDWC9CNTRTOUlESW5CV2JGamNYWnNhck1ySDRraE1maDFVZ3hHaFEzQzBqMHJPL2VFaUlqOENFT3VCMTQ1c0FaRDlBTWhJUEJOaTh2eG0wdjM0MGh0TVVhR3hiZWFZYXZJV0FtajFReU5valFiVDlOb05XTjNkU0hlT2JMZTdjSHVQOGpmaEMrUFp6Y2JOdXVUZ2kxZGZHWjl3d081Ny9mNE9WNDl1QmEzakp5SDc0dDI0a0FIdGVkMlJZWUtxSkF1eHlNdGE2akIrcEk5K09Eb3B1NHVLZ0RiT01ERFEySndmc0lVUExYN2kwNVBlN3V2K2lUU1hGdzJWeUZSYkt6Q1o4ZTJkbGhEbkZWK3VGa1RBN3RLY3ozZU9OejJXTVh1T2xaZmltZjNyTUtTc1F1YjFaQmJwSXExVHFNMzFEc05JZGRYSEs0dFJyVzUzaEZ5SllEZFZZVllWN3dUbTByMmQrdDAzUGwxSmZqZmtSSzhlMlFEMHFLU2NjNmdDY2dZT01MeDJyWTFqVGdSVVgvVE42cERQSFRKK21lOGR0MXlRRUFJUXJWQlhSN1NSNEhvODVkZmU4Sk5JK1k2SmthNGF0UHpQVnB6MjViRnc2WmpaV0ZXcDRLSEF0RllveStnU3JWWFhrTUZBaVBEQm5YWXBNWGRZMm1FQW8xaSs3RmxVaTJ3OUxGT2dpTkM0M0JkMHBsSUNVOUFXVU1OM2pteW9jUE9YWDNCN0xoVVhKVTRFejhXNTJGZDhhNWVIUTFpWUVBbzVzZFBRbVJBQ1A1MTRMdGVPNjhyWDV5NXhDZS9WNmhOU3VOTkJ5QkFTdG4rRURIa3Q0UVFrUUJNQU13QTFNWmJuK2FUSDBiZURMbEVSSzdZUDB6Nys0Y1RRNjdmRVFBMGFBeTVxcXJ1RjBLNDF4R0MvSWFVOHBTaUtLUFJGSEt0OElHUHU3N1RrSk9JeUlkSitFOUhnYm9BQUJtNFNVUkJWTUFuUGxIblNRRFNaREx0Nm5CTDhqdU5yN3ZQZmN3eDVCSVJFWkU3cE1GZ1lNanRoeHBmZDU4S3VBQkRMaEVSRWJYUFhvTW5OMjdjK0I2QTdoa1VuSHlGYWYzNjllL0E2WDNnNWZLNGpTR1hpSWlJMmlQUjJOSG9vb3N1Mmw5YVd2cWl0d3RFdmFla3BHVHB4UmRmZkJCTm5jMFljb21JaU1qblNhZC9WUURXeXk2N2JKblpiTTcxWXBtb2w1ak41cDBUSjA1OEFiYU9aczRCMXllQ0xrTXVFUkVSdGNkK2lWb0ZZTjJ3WVlOaDQ4YU45OEVXZk1oL1dkZXZYMzkzVVZHUmZUUUZlOGoxaVlBTE1PUVNFUkZSeHh4TkZnQlk1c3laazUyV2xqYXNwS1RrUlREcytodHJTVW5KeTJscGFjUG16WnUzSFlBRlB0aFVBZUNNWjBSRVJOUStlN0JSNFJSb2MzSnlaR3hzN0NNclY2NzhOQzB0Ylc1NGVIaTZYcTlQMDJnMGc3eFRUT29zcTlWYVZGOWZuMTFkWFoyZG5aMzkvY0tGQy9OZ0M3ZjJtMC9XNURMa0VoRVJVVWVjZzY3ek1uWGh3b1U3QU9UQmRuVllPTjNJTnppUG1tRC9JZFB5NW5NQkYyRElKU0lpSXZmWVE1RDl2bk1UQml1YWgxdzdodDIrUzdhNDMvTDF0UDlyWCs1VEFSZGd5Q1VpSWlMMzJRT1BhTHl2T0QyMmgxeUE0ZGFYdEJ4Qnd6bnMrdHpZdU01OE11UktLWXVGRUhIZUxnY1JFVFdSVWhaN3V3elVLNXhEa1hQb1pTMnU3M0ZWbTlzeTJQcGt3QVY4Tk9SQ2lPMEE1bnU3R0VSRTVNVDIyVXo5UTh0d0JMQVcxNWU1Q3JRK0cyN3RmRFBrU215SFlNZ2xJdXBUSkJoeSs1K1dvVWpBRDhKUlArVjNyNXRQanBPcktNb2JVbkx1YkNLaXZrT2FwRTd6bXJkTFFWN242cEkzYjc1eDh6cytHWEkvbjNYZmZnRTg1ZTF5RUJHUmpaUjRhT1dNM3gvMGRqbUlpT3g4TXVRQ2dDNjY3Z2tKdWMvYjVTQWk2dStrUk02S00rdVhlcnNjUkVUT2ZEYmtmcHo2c0VrQmJ2RjJPWWlJK2pVSnE5REtHeUFlVmp2ZW1JaW85L2hzeUFXQXo4KzgvNmNDZlhnQWdDY2hPWGMyRVZHdmtiQktpYWNMUXNLRHY1aDVQenVjRVZHZjR6ZkRmRnk2NlpueHFrV2VKd1NtU3ltbUM0SEIzaTRURVpFL2tSTEhoWkJiVklpdEdnMisrWHpta2wzZUxoTVJVVnY4SnVRU2tXY3lNek12QWZBV2hJaHdMSlR5ZloxT2QvT2tTWlBxdkZjeUlpS2lybVBJSmVySGZ0bTVjNmhpTWkwSE1OMXBjVDZrdkRrakkrTTdiNVdMaUlpb3F4aHlpZm81S2FVbU16djc3d0w0RTVxMzAzOFBVdDZUa1pGUjZxMnlFUkVSZFJaRExoRUJBREl6TTg4QXNCeEN4TnVYU1NuTEZTSHVTMDlQZjh1TFJTTWlJdklZUXk0Uk9lVGs1RVJhVlBVRkFWelhZdFVHcWROZFAzWGl4TU5lS1JnUkVaR0hHSEtKcUpWdDJka0xvS3B2Q2lIaTdNdWtsRVpGaUVlbGxNOWtaR1NZdlZrK0lpS2lqakRrRXBGTE9UazVrVmFyOVI4UTRuY3RWdTJXaW5MUDFDbFQxbmlsWUVSRVJHNWd5Q1dpZG0zTHpwNG5wSHdiUUVLekZWSitEZUMrakl5TXZWNHBHQkVSVVRzWWNvbW9RM3YzN2cycnJhMWRCaUZ1ZEY0dXBiUkFpSC9yZzRJZVNrMU5MZmRXK1lpSWlGcGl5Q1VpdDIzTHlaa3BWUFY1QU9rdFZsVkNpRWVocWkreXZTNFJFZlVGRExsRTVCRXBwY2pNeWJsV1NQa2swR0w2YkNrUENTR1dwS2VuZis2ZDBoRVJFZGt3NUJKUnAyUm1adXFoS0grVXFycEVDQkhzdkU1S3VVbWpLSGVrcGFYbGVxdDhSRVRVdnpIa0VsR1g1T2JtRGpGYkxFOEJ1QnJOUDFNa2dMY2g1Wjh6TWpKT2VxZDBSRVRVWHpIa0VsRzN5TXpNbkFiZ2VRZ3h6WG01bE5JZ2dOZDBPdDNTU1pNbUZYcXBlUC9mM3AxSHgzV1dkeHovUFhjV0xWNGl4L0sreEhJUzZqaXhGWTBVTnd2RURTbVFwQ1dVSkRSdG9VdG91dENXNGhJNFFLRndnTkNHRmtLaGtKUzJKNGMySkFkQ2lCczdwWlJTREk0SmlUMGFiNUhqUkk1dDJWbmszVkpzU2FPWnVVLy9HRW1SWmUyeE5GcStuM1B1MGN5OTc1MTVaanhIL3ZuNm1mY0ZBRXd5aEZ3QTU5U1dWT3EzRllaZk5MTkZaeHh3ejBqNkR6TzdwN3E2ZWs5aHFnTUFUQmFFWEFEblhIMTlmZEhKNXVZL2t2dkh6R3hoajhPaFM0OUV6RDZmU0NSMkZhUkFBTUNFUjhnRk1HS1N5V1JNUWZDSENzTlB5R3h4ajhQdTBoTVJzODhsRW9sa1FRb0VBRXhZaEZ3QUkyNkRlM1I2S25XSFMzOHRhVWt2UTM0aTk3dHJhbW8yakhadEFJQ0ppWkFMWU5SMGhOM2ZkZmRQeXV6Q1hvWThiZElYcXF1cm54ajE0Z0FBRXdvaEY4Q29jL2RJY3V2Vzk1cjdweVJkM012eDV3T3pmdzZDNEZ0VlZWVW5DMUFpQUdDY0krUUNLQmgzRDJwcmEyOTJzelVtcmU3bGVLdk12aE1OZ3Z1cnFxcTJGS0pHQU1ENFJNZ0ZNQ2FrVXFubE9mZVBXSDVSaWFKZWh0UzYyZjJaV2JNZXZuclJvdGJScmc4QU1MNFFjZ0dNS2Nsa3NselNCeVI5UUdienpocmczaVRwM3owV3UrK0t5c3JuUjdzK0FNRDRRTWdGTUNZbGs4bVltZjFtS0sweHFhYTNNUzc5TEpEdWQvZkhhbXBxTXFOZEk0Q3prQ3VHeHd0ZHdFVEVoeEhBbUxkMTY5YXJjMkg0SVhlL3hjeWladzF3UHlxelJ5SkI4TkRsbDEvK0N6UGpMd3hnZEZndnQ4a1dRK005ZnZhOGpXSGlnd2hnM05oY1Z6ZlgydHArejl6dmtObXlQb2J0ZCtuaFFQcDJkWFgxYzZOYUlEQjVkQSswUGJlZVk5QzducUcyNTlaekRJYUlEeUNBY2FtMnR2WktsOTd2N3JlYjJmUStobTAzNlNFemV5aVJTTHd5cWdVQ0UxZjNRQnZzMzc5L3hadzVjOTRSalVaWFJTS1JWV1kydjhEMWpTdnUva291bDl1Y3pXYWZPWFRvMEkrV0xGbXlVL2x3RytyTXdJc2hJdVFDR05lZU9uaXdwT2p3NFZ0ZHVrUFNkZXI5OTVxN3RER1FIb3JGWW8rdVhMbnl4Q2lYQ1V3VUppbVFGTnh6enoybGE5YXMrWnVpb3FJMWtpSUZybXVpeUtYVDZYcy8vT0VQZis2KysrNUxLeDkwTzhNdWhvaVFDMkRDU0tWU0Y3ajdIN2owQitwOStXQkphcGY3ZjB0NmFPYk1tZXNyS2lyYVJyRkVZRHpyQ3JndnZ2amk1UlVWRmQ4MnN6Y1Z1cWlKS0F6RDdRY09IUGlUaW9xS2xBaTZ3MGJJQlREaHVMdWxVcW5yUXVrT3VkOXFaaVY5REQwdDZVY21yWFAzSjJwcWFvNk9acDNBT05MWm5oQzU5OTU3cDYxWnMyYUxtUzB0ZEZFVG1idnZ2ZlBPT3k5LzRJRUgyaVRsUk92Q2tCRnlBVXhvMjdkdm41TE5abi9kM1crVGRKUE1TdnNZR3JyMGpMbXZDNEpnWFNLUjJEV2FkUUpqV0ZmL3JhUm9TMHZMbDB0S1N2NnN3RFZOQ3EydHJmZVdscForVWxKVzlPZ09HU0VYd0tTeGI5Kys0dVBIajkvazdyZTU5T3RtTnEydnNlNisxOHpXbTdTdU9aSFllSjFaZGpSckJjYVF6b0FiMmI5Ly96VVhYSERCanp2dVkrU0ZEUTBOYjF1eVpNa201YS9tMHJZd0JJUmNBSk5TWFYxZHZLMnQ3ZTN1ZnB2TTNpV3ByTS9CN2sxdTlrTnpYeWZwdjJwcWFwcEdyVkNnOElLT0xacE9wNzhkajhkdkxYUkJrMGw3ZS90RFJVVkZkK3IxcTdsaGdVc2FOd2k1QUNhOURlN1I2YW5VOVIwdERiOGhzL0sreHJwNzFxUk5Db0wxc1Voa2JXVmw1YjVSTEJVWWJWMjl1SkppbVV6bW1XZzBlbG1CYTVwVXN0bHNNaGFMclphVUViMjVRMExJQllCdTNEM1l0bTNibGJsYzdrYVozU2dwb1g1K1Y3cjdQcGx0a05sUDQ1SEloc3JLeXBkR3IxcGd4SFgxNGtxS2hXSDRjai96VW1NRXVIdHpFQVFMbEErNTNYdHpNUUJDTGdEMEk1Vkt6Y3BKTjFnWTN1alMyODFzWnI4bnVMOG82YWRtdHNITU5yQUlCY2E1enBBYmt4Uno5K1lDMXpNcGRmekRJdE94RVhJSGlaQUxBSVBrN2tGdGJlMFZibmFqM0c4MHN4b04vQVdjZWtrL2RiTU5YbFMwWWRXbGx6YU9RcW5BdWRMWnFoQ1ZGSGQzK3RFTHdNek9rOVN1L0pYY3pwWUZESUNRQ3dERFZGZFhkMzVyYStzTmJuYWpTZStRTkd1Z2M5ejloVzd0RFQrcHJLdzhQQXFsQXNQVjFZK3JmTWc5V2VCNkppVXpLMU0rNUhidnk4VUFDTGtBY0E2NHU5WFcxbDdtWnF2TmZiWE1ycFUwZXhEbjdaWFpaa21iRlFTYnk2Wk9UVjU4OGNYcGthOFlHSlRPbVJVSXVRWFVJK1F5dzhJZ0VYSUJZSVFrazhsbDNVTHZha256QnpySDNiT1Nkc3Bzczh3Mkt4TFpYTE55NVM0ejR5ODFGQUloZHd3ZzVBNFBJUmNBUmtsdGJlMUZvZGxxdVhjRzM4V0RQUFdVM0pQZUVYdzlGdHU4YXNXS2d5TmFMSkJIeUIwRENMbkRROGdGZ0FKSnBWSVg1S1R1b2ZmQ3daN3I3bzBtUFdObW0wT3p6ZE5LUzU5WnRtelpheU5aTHlZbFF1NFlRTWdkSGtJdUFJd1JIZE9WMVpoVXJUQ3NjYW5hekJZTzhuUjM5LzBtN1pDMHc0TmdSeXdJZGxSV1Z1NmgxUUZ2QUNGM0RDRGtEZzhoRndER3NGUXFOU3RuZG9YbGN0V1NxcFdmdG16QllNOTM5MWFaMVVuYVllNDd6R3huTEJiYnVuTGx5aE1qVmpRbUVrTHVHRURJSFI1Q0xnQ01NN3QzNzU3VzB0SlM1ZTZKVUVySXZVclNKV1lXR2VSRGRGNzEzZVZtdTh5OUxoS0o3QXFDWUZkbFplWHBrYXdkNHc0aGR3d2c1QTRQSVJjQUpvQjkrL1lWSDIxcVdtbGhtUEI4NkUyWXRFSlMwUkFleGlXOTR0SWVjNjkzcy9wQXFnK2owZnJ5NmRQM1ZGUlV0STFNOVJqREptVEkvZXZQM0syNlhidjFybmZlcFBmLzN1OTA3ZC96NGw3ZDlmRlBTNUsrOWE5ZjE0eXlza0tWZUFaQzd2QkVDMTBBQU9DTjZ3aWdtenMyU1pLN1I1STdkbHdVWkxQTFEybTV1UzkzYWJta1h6S3prbDRleGlRdE1HbUJ6RmFiOHFuWHNsa2RPMzdjdHlTVEw1dlVHWDczdUh0OU5CcXRuekpseWg3bTlnVXcxaEJ5QVdDQ01yT2NwT2M3dHJXZCs5M2RranQzVmdTWnpPdmgxMnk1U1pkSW10cjN3OWxDU1F0TnVzN3plNVRONWRUVTNPeGJrc21Yekt6ZXBYcHpyL2NncUk5SWU0cUtpdlpjZXVtbDdTUDlXZ0dnSjBJdUFFd3ladWFTOW5ac1QzUS9sa3dtRjV2WjhsQzZwRnY0WFM2cHYvKzNOVE5iSkdtUlNXK1ZtY3hkb2FUV3RqWlBKcE9OTW10d3FVRlNReUFka05UZzdnMnhXR3d2ZmNBQVJnSWhGd0RRcGFhbTVvRHlJZlNIM2ZlblVxbFpZUmd1OVNCWUdyaFh1UHRTU1V0bHRsVFNCZjA4cE1sc25xUjVKbDBwNVZzZzhrZE1tV3hXVzVMSlpwTWFaTllnNllEY0Q1clpvZENzMGNMd1VCQUVqWWxFNHBWei9tSUJUR2lFWEFEQWdCS0p4QkZKUnlROTAvUFlCdmZvMUowN0Z5dWJYUnE0TDNYM3BUS3JjR21wM0plYTJmbjlQYmFaVFZmK1MzSXJPbmJrZTRIZEpUT0Y3a3JXMXJyY2o3blVLTE5ESmpYSy9aQ1pOWVptaHl3TUc4MnNNUjZQSDdyc3NzdU9NRGN3QUVJdUFPQU51YzRzcTlmYkg4NlNUQ1pMbzlIb3dtdzJ1OERNNW9mNUw3Zk5sL3NDTjV0ditYbC81MG1LOS9NMEpyTnlrOG9sWFpiZmMyWVlka25wOW5iVnBsTGhsbVR5cEprZGszUk03c2NrSFhPejQyWjJUR0Y0ek15NnRrdzBlaXhJcDQvVjFOUzBuTU8zQlc5UUxwZlRqMzY4UVQvNTJTWWRmT2xsaFdHb1JRc1g2TmR1ZUp2ZStpdHYwYnZlOHo1SjBxYytmcGV1cUs0NjYvenRPK3UwL3I5K3FOMHYxS3UxdFUyenltZnFtcXRXNlRkdi9ZMUIxM0R5WkpPKzk5amoybHk3VmNlUG45Q1UwbEpkZHVreTNYYkx1N1IwU1gvL2dZR3hnSkFMQUJoUkhlSHhoWTZ0VDl1M2I1OGRodUg4clB1OHdIMlJwSG51dmxEU2ZKa3RrRFJmMHF4QlBHWFFjZlg0ZkVrWHkvS3paWm9rZFF2RTdpNjVLMmh2bDh5VXJLMlYzRjkxNlpqeUFibFpVcE5KelhJL3JpQTRwVERNN3pQcittbG1UWkZJcElrRk5zNmRscFpXM1gzUGwxVDMzUE9TcEhnOHB1blRwbWwvUTRPKytvMXY2cVdYKys5ZWVmRGg3K3JSdGVzbFNVRmdLaXNyMCtFalIvWG8ydlY2dG03M29HcDQrWlZYOWFXdmZFTW5UcDVVV2RsNUtpMHRVVk56czM3K2k4MTZaa3V0UHZwWEg5U1ZxMnJlMkF2RmlDTGtBZ0RHaE1yS3lzT1NEa3ZhMXQrNDdkdTNMOHhtczNNa2xZZG1Dd0wzdWU0K1YyWnpYSm9qOTdrbXpaWFplVU11d215ZTVhOHE5OXpmRlpDbDEvdUtPNE55TGd6eklWazZMZmRtU1UwdU5adlpLWmZTNXA1MnM3UzVwMldXUG10ZkVPVHZ1NmM5Q05LQmV6bzBTd2NkKzRJZ2FIUDM5akFTU1VmQ01CMkdZVG9zS21vdkNzTjBKcE5KejV3NU16MlI1akcrNzE4ZVVOMXp6eXNlaittUDMvLzd1bTcxbXhXTlJ0WFdsdFpqanoraDd6NjZ0czl6LzIvRHhxNkErODZiM3FIYjMvTnVUWnM2VmRsc1ZqOTc4aW45MjdjZVZFdEw2NEExZlBtcjkybng0b1g2d21jL3FRWHo4eCtKK2oxN2RlL1g3dE1ycnpicUg3LytUZDMvdFl2R3pGeTZPQnNoRndBd3JsUldWcjRrNmFYQmpFMmxVaGVFWVRqWGcyQk9SeGllSTdPNUxzMDFhWmE3ejVCVVptWXpKRTA1QitWTmtka1U1YjlvSjZuakNySloxODllOTdtcmMxbzI2N2h0M2ZhRm5vL1Zsc3ZsVndFd1U5RGVya3pIN1dQSGozZUdiRWs2N2U1cGsvS0JPbis3M2MzU2tvWTBrMFdZeXlrWGhwYkpaQ3lUVG8vS0FsSU5CdzdxeVovL1FwTDA1Mzl5cDM3bDJtdTZqaFVYRitsM2JyOVY2WFJhLzduK0IyZWRtODNtOU9ERGowaVNmdld0cTNYbkhiL2JkU3dhamVyNjY2N1ZqQmxsK3V3WC9uN0FPczR2SzlPblAvRlJSYU92THlSNDhVVkw5WW1QcnRGZjN2VUp0YmEyNmtjLzNxRGJiM3Yzc0Y4clJoWWhGd0F3WVNVU2lRYmxweTRia0x0SE51L2VYUlk1ZmJyTXpNck1yQ3duemJBd0xKTlU1dmxWcDhwTUtwUDdERGZMMzg3Zkw1Tlo2VWkrbGlHWVl2bWdMVW15N3NGNmlNeE1nWmtpUVNDUGprNWsyUFRVMDVLa1dlVXp0Zm90Vi9jNjVwMDN2YVBYa0Z2MzNHNmRPSmxmbE8zMlBucHZFNWV2MUx5NWMvUnE0NkYrNjdqdGxwdlBDTGlkRmk5YXFPcEVwWksxMjdUajJWMkUzREdNa0FzQWdMb1d6empXc1EzTDd0MjdwMlV5bWRKc05sc1NobUdKcEZKM0wvRklwRVJTcWR4TEF2ZXUvWkpLSlpVb3Z3SmRxVXNseW0rbDVsN3Nac1VteGVVZTkvd1g4K0ptRmxlM2ZYMnNYamR1N2RtN1g1SzAvSkpsWFFHOXA1a3plNSt3NDhXOSt5Uko1ZVV6Tlh0MjMrM2I1ZVV6Qnd5NUYxWXM2ZlBZb2dVTGxLemRwcU5IaC8xUndTZ2c1QUlBY0k0c1c3YnNOVW12RmVLNTkrM2JWM3dvbTQxSG01cmlRUkRFelN4dVp2R01XZHd5bWJpWnhjTWdLQjdLWTdabk10YmUzaDZjUG5VcWN2TFlzWmg2TEI0eUVsNTdMZi8ybFowM3ZjOHhmWVhmNXViOHVlZE5uOWJ2Yy9SMWZuZXhlS3pQWTFPbTVDL2FaM081QVI4SGhVUElCUUJnQXVqNDR0bTUvdkpaMExIRkpNWGY5NzczbmVPSDcrVUpnMENTMU5UYzNPZVk5dlpNci91akhTMFZiVzNwZnAralBUM3dTdFB1ZlI4N2NTTGZFakY5V3Y5aEdvVVZGTG9BQUFDQVRyTm41ZHNNOXUwLzBPZVl2ZnYzOTM3dTdISkowcXVOaDNUNmRPL1RIbWN5R1RVY0hQaDdpMGVPSE8zejJMTzc4dE9RWGJpMDc1WUdGQjRoRndBQWpCbVhyOHl2OWRGdzRLQzIxRzd0ZGN6M0hudTgxLzJWSy9MbmhtR285VC80WWE5ajF2L2dmOVRhT3ZBVVluMmR2NlYycXhvT0hKUWt2Zm1xWHg3d2NWQTRoRndBQURCbVhQdm1xMVJlUGxPUzlOVnZmRlBKMm0zNStZZ2xuVGg1VWwvNXAvdTErL242WHMrZE0zdVdycmxxbFNUcE85OWJxOGNlZjBMdDdmbldoUGIyZGozMitCTjY4T0ZITkhYcXdMUEZQZm56cC9YUC8vWXRuVHFWbjNVdERFTnRldXBwZmZtcjkwbVNWbHkyWEpkWHJuaGpMeFlqaXA1Y0FBQXdac1RqY1gzc3d4L1VaKzcrb2w1NzdaUStmOCtYTktXMFZNWEZ4VHArNG9SaXNaZys5Zkc3OU9uUC9aMGt5WHBNanZhbmQ5NmhneSs5b2dNSFg5Sy9mL3M3ZXZpNzM5ZDU1MDFYVTFPek1wbU0zdnRidDJuYmptZFZ0NnYvbGMvZSsxdnYwVVBmK1o3KzUzOS9vdlBQbjZGVHAwNTE5ZnBlc0hpUlBycm1MMGJtRGNBNVE4Z0ZBQUJqeXBzdXZrai8rQTkvcTBlKy81OUtiZHVocHFabUZSWEZkZTJicjlaN2JybFpjK2ZNN2hwYlZGeDB4cm5UcDAvVDMzL2hNMXE3N2dmYTlOVFRPblQ0aU5yYTJuVEpzamZwNWwrN1FWZFVWMm5iam1jSHJPRnQxNi9XUlJkVzZORzE2N1IzNzM2Rm9hdGl5V0s5NVpxcjlNNmJibEM4bjlrWE1EYU15dW9sQUFCZ1hEcGpkZ1YzUDFuZ2VpVGx2MWoycHgrOFM1TDA5YTk4VVlzV0xpaHdSU1BMOGd1UnRFdktTQW83Tmd5QW5sd0FBREN1Yk4rWnZ4SmJYRnlrQmZQbkZiZ2FqRldFWEFBQU1LWmtzMzB2c25DNnBVWGZYN3Rla25UMWxhdTY1dFVGZXFJbkZ3QUFqQ2tmLzV2UGFsVk50ZDV5elpXYU4zZU9wSHp3M2JIeldUM3dIdy9yOEpHaktpa3AwZTIzdmJ2QWxXSXNveWNYQUFEMHBTQTl1WGQrNEVNNmN2U1lKS20wdEVURlJVVnFmdTJVc3Rtc0pHbmExS242MkVjK3BCV1hYaklhNVJRY1BibkRROGdGQUFCOUtVaklmZTc1Ri9TempUL1hydDB2NlBqeEV6cmQwcUlwVTBxMWNNRjhWVmRWNm9hM1g2OXBVNmVPUmlsakFpRjNlQWk1QUFDZ0wyTnlkb1hKaHBBN1BIUnJBd0FBWU1JaDVBSUFBR0RDSWVRQ0FBQmd3aUhrQWdBQVlNSWg1QUlBZ0w3NEdYZmNEeGVxa01tcWwvZmNleDJJc3hCeUFRREFRRnlTdDdlM1Axdm9RaWFianZmY1JiZ2RNa0l1QUFBWURHOXRiU1hranJLTzk1eUFPd3lFWEFBQTBKL09xNGkrYWRPbWh5U2xDMXpQWk5LK2NlUEdCOVh0ejZEQTlZd3JMQVlCQUFENlloMWJSQjBMUWh3NWN1U1Q1ZVhsSHlsc1daUERrU05IN3A0OWUvYVg5ZnBDRURrUmRnZU5LN2tBQUtBdjN1MW5LQ2wzeXkyMzNKdkw1ZllVc0taSklaUEo3Rnk1Y3VYWGxBKzJvYzc4czhBZ0VISUJBRUIvT3E4Y2hwSnlUejc1Wk92V3JWdTVranV5Y2hzM2J2eFFZMk5qNTlYYnpwQkx3QVVBQURoSFRQbUxZbEZKeFpLbVNwcFJWVlUxLy9EaHcxOXo5NnpqWE1rZVBuejQ2MVZWVmZNbHplaDRyNHM3M3Z0QXRKa09DVzhXQUFBWVNQZmUzSWp5b1NzcUticHUzYnBMRTRuRTlkT25UNjh1TFMxTlJDS1J1WVVzZEx6SjVYS05MUzB0cWVibTVsUXFsZnJ4elRmZlhDY3AyMjNMaVY3Y1lTSGtBZ0NBd2VpOG9odm85YkRiZmV1ODB0aTVZV0RkWjAwSTlYcWc3YjZGT3JNbkY0TVVMWFFCQUFCZ1hPZ01ZcDIzTys5M2hyUHVJYmNUWWJkMzN1TjJ6L2V5ODJmbmZnTHVNUERoQXdBQVE5SDlhbTNubFYzVG1UMmo1SXZCNlRsN1JmZXd5OXk0YnhBZlFnQUFNRlRkdzJ6UHJlY1k5SzYzcTdrOWd5MEI5dzNnQXdnQUFJYXJ0MUJMdGhpYTNnSXQ0ZlljNElNSUFBRE9GWExGOEJCcUFRQUFBQUFBQUFBQUFBQUFBQUFBQUFBQUFBQUFBQUFBQUFBQUFBQUFBQUFBQUFBQUFBQUFBQUFBQUFBQUFBQUFBQUFBQUFBQUFBQUFBQUFBQUFBQUFBQUFBQUFBQUFBQUFBQUFBQUFBQUFBQUFBQUFBQUFBQUFBQUFBQUFBQUFBQUFBQUFBQUFBQUFBQUFBQUFBQUFBQUFBQUFBQUFBQUFBQUFBQUFBQUFBQUFBQUFBQUFBQUFBQUFBQUFBQUFBQUFBQUFBQUFBQUFBQUFQVGovd0ZseVpHWUJKSGxFUUFBQUFCSlJVNUVya0pnZ2c9PSIsCgkiVGhlbWUiIDogIiIsCgkiVHlwZSIgOiAibWluZCIsCgkiVmVyc2lvbiIgOiAiIgp9Cg=="/>
    </extobj>
  </extobjs>
</s:customData>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11.xml>��
</file>

<file path=customXml/itemProps97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customXml/itemProps98.xml><?xml version="1.0" encoding="utf-8"?>
<ds:datastoreItem xmlns:ds="http://schemas.openxmlformats.org/officeDocument/2006/customXml" ds:itemID="{f7bc79f2-c455-434b-bca9-875aecb91bf3}">
  <ds:schemaRefs/>
</ds:datastoreItem>
</file>

<file path=customXml/itemProps99.xml><?xml version="1.0" encoding="utf-8"?>
<ds:datastoreItem xmlns:ds="http://schemas.openxmlformats.org/officeDocument/2006/customXml" ds:itemID="{3c132078-98b1-4deb-b4fd-a1bec46831f1}">
  <ds:schemaRefs/>
</ds:datastoreItem>
</file>

<file path=customXml/itemProps100.xml><?xml version="1.0" encoding="utf-8"?>
<ds:datastoreItem xmlns:ds="http://schemas.openxmlformats.org/officeDocument/2006/customXml" ds:itemID="{c5c661d3-4756-4449-af8a-01387bd7a269}">
  <ds:schemaRefs/>
</ds:datastoreItem>
</file>

<file path=customXml/itemProps101.xml><?xml version="1.0" encoding="utf-8"?>
<ds:datastoreItem xmlns:ds="http://schemas.openxmlformats.org/officeDocument/2006/customXml" ds:itemID="{58dabdbb-c60f-4057-89a4-b5f24a98f472}">
  <ds:schemaRefs/>
</ds:datastoreItem>
</file>

<file path=customXml/itemProps102.xml><?xml version="1.0" encoding="utf-8"?>
<ds:datastoreItem xmlns:ds="http://schemas.openxmlformats.org/officeDocument/2006/customXml" ds:itemID="{6ad86b82-52b5-47a8-ba6d-e9bbe075a083}">
  <ds:schemaRefs/>
</ds:datastoreItem>
</file>

<file path=customXml/itemProps103.xml><?xml version="1.0" encoding="utf-8"?>
<ds:datastoreItem xmlns:ds="http://schemas.openxmlformats.org/officeDocument/2006/customXml" ds:itemID="{8fd2a99b-51ca-42d4-8a98-ac38bf31ee8f}">
  <ds:schemaRefs/>
</ds:datastoreItem>
</file>

<file path=customXml/itemProps104.xml><?xml version="1.0" encoding="utf-8"?>
<ds:datastoreItem xmlns:ds="http://schemas.openxmlformats.org/officeDocument/2006/customXml" ds:itemID="{667e9340-f440-47f7-819a-cdc7dab5fa96}">
  <ds:schemaRefs/>
</ds:datastoreItem>
</file>

<file path=customXml/itemProps105.xml><?xml version="1.0" encoding="utf-8"?>
<ds:datastoreItem xmlns:ds="http://schemas.openxmlformats.org/officeDocument/2006/customXml" ds:itemID="{ae649005-3b55-4298-8017-458659bde268}">
  <ds:schemaRefs/>
</ds:datastoreItem>
</file>

<file path=customXml/itemProps106.xml><?xml version="1.0" encoding="utf-8"?>
<ds:datastoreItem xmlns:ds="http://schemas.openxmlformats.org/officeDocument/2006/customXml" ds:itemID="{eb8fafd0-aa01-4764-b4e6-708160bc6a19}">
  <ds:schemaRefs/>
</ds:datastoreItem>
</file>

<file path=customXml/itemProps107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2117</Words>
  <Application>WPS 演示</Application>
  <PresentationFormat/>
  <Paragraphs>148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30</vt:i4>
      </vt:variant>
    </vt:vector>
  </HeadingPairs>
  <TitlesOfParts>
    <vt:vector size="52" baseType="lpstr">
      <vt:lpstr>Arial</vt:lpstr>
      <vt:lpstr>宋体</vt:lpstr>
      <vt:lpstr>Wingdings</vt:lpstr>
      <vt:lpstr>FZYanSongS-EB-GB</vt:lpstr>
      <vt:lpstr>Segoe Print</vt:lpstr>
      <vt:lpstr>Gill Sans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微软雅黑</vt:lpstr>
      <vt:lpstr>星夜浪漫宇宙温柔</vt:lpstr>
      <vt:lpstr>Arial Unicode MS</vt:lpstr>
      <vt:lpstr>OPlusSans 3.0</vt:lpstr>
      <vt:lpstr>Malgun Gothic</vt:lpstr>
      <vt:lpstr>素材集市康康体</vt:lpstr>
      <vt:lpstr>1_New_Template7</vt:lpstr>
      <vt:lpstr>Paint.Picture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1331</cp:revision>
  <dcterms:created xsi:type="dcterms:W3CDTF">2019-02-26T11:09:00Z</dcterms:created>
  <dcterms:modified xsi:type="dcterms:W3CDTF">2024-09-20T08:06:36Z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