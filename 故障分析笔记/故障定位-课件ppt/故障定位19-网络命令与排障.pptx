
<file path=[Content_Types].xml><?xml version="1.0" encoding="utf-8"?>
<Types xmlns="http://schemas.openxmlformats.org/package/2006/content-types">
  <Default Extension="xml" ContentType="application/xml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169.xml" ContentType="application/vnd.openxmlformats-officedocument.customXmlProperties+xml"/>
  <Override PartName="/customXml/itemProps170.xml" ContentType="application/vnd.openxmlformats-officedocument.customXmlProperties+xml"/>
  <Override PartName="/customXml/itemProps171.xml" ContentType="application/vnd.openxmlformats-officedocument.customXmlProperties+xml"/>
  <Override PartName="/customXml/itemProps172.xml" ContentType="application/vnd.openxmlformats-officedocument.customXmlProperties+xml"/>
  <Override PartName="/customXml/itemProps173.xml" ContentType="application/vnd.openxmlformats-officedocument.customXmlProperties+xml"/>
  <Override PartName="/customXml/itemProps174.xml" ContentType="application/vnd.openxmlformats-officedocument.customXmlProperties+xml"/>
  <Override PartName="/customXml/itemProps175.xml" ContentType="application/vnd.openxmlformats-officedocument.customXmlProperties+xml"/>
  <Override PartName="/customXml/itemProps176.xml" ContentType="application/vnd.openxmlformats-officedocument.customXmlProperties+xml"/>
  <Override PartName="/customXml/itemProps177.xml" ContentType="application/vnd.openxmlformats-officedocument.customXmlProperties+xml"/>
  <Override PartName="/customXml/itemProps17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7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51"/>
  </p:handoutMasterIdLst>
  <p:sldIdLst>
    <p:sldId id="406" r:id="rId3"/>
    <p:sldId id="360" r:id="rId4"/>
    <p:sldId id="618" r:id="rId5"/>
    <p:sldId id="639" r:id="rId6"/>
    <p:sldId id="688" r:id="rId8"/>
    <p:sldId id="689" r:id="rId9"/>
    <p:sldId id="691" r:id="rId10"/>
    <p:sldId id="690" r:id="rId11"/>
    <p:sldId id="692" r:id="rId12"/>
    <p:sldId id="693" r:id="rId13"/>
    <p:sldId id="694" r:id="rId14"/>
    <p:sldId id="697" r:id="rId15"/>
    <p:sldId id="695" r:id="rId16"/>
    <p:sldId id="696" r:id="rId17"/>
    <p:sldId id="699" r:id="rId18"/>
    <p:sldId id="700" r:id="rId19"/>
    <p:sldId id="701" r:id="rId20"/>
    <p:sldId id="679" r:id="rId21"/>
    <p:sldId id="702" r:id="rId22"/>
    <p:sldId id="703" r:id="rId23"/>
    <p:sldId id="710" r:id="rId24"/>
    <p:sldId id="711" r:id="rId25"/>
    <p:sldId id="705" r:id="rId26"/>
    <p:sldId id="706" r:id="rId27"/>
    <p:sldId id="709" r:id="rId28"/>
    <p:sldId id="708" r:id="rId29"/>
    <p:sldId id="707" r:id="rId30"/>
    <p:sldId id="712" r:id="rId31"/>
    <p:sldId id="714" r:id="rId32"/>
    <p:sldId id="713" r:id="rId33"/>
    <p:sldId id="715" r:id="rId34"/>
    <p:sldId id="716" r:id="rId35"/>
    <p:sldId id="717" r:id="rId36"/>
    <p:sldId id="718" r:id="rId37"/>
    <p:sldId id="719" r:id="rId38"/>
    <p:sldId id="720" r:id="rId39"/>
    <p:sldId id="721" r:id="rId40"/>
    <p:sldId id="722" r:id="rId41"/>
    <p:sldId id="723" r:id="rId42"/>
    <p:sldId id="724" r:id="rId43"/>
    <p:sldId id="726" r:id="rId44"/>
    <p:sldId id="725" r:id="rId45"/>
    <p:sldId id="727" r:id="rId46"/>
    <p:sldId id="728" r:id="rId47"/>
    <p:sldId id="729" r:id="rId48"/>
    <p:sldId id="686" r:id="rId49"/>
    <p:sldId id="687" r:id="rId50"/>
  </p:sldIdLst>
  <p:sldSz cx="12192000" cy="6858000"/>
  <p:notesSz cx="6858000" cy="9144000"/>
  <p:custDataLst>
    <p:tags r:id="rId65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5" Type="http://schemas.openxmlformats.org/officeDocument/2006/relationships/tags" Target="tags/tag179.xml"/><Relationship Id="rId64" Type="http://schemas.openxmlformats.org/officeDocument/2006/relationships/customXml" Target="../customXml/item10.xml"/><Relationship Id="rId63" Type="http://schemas.openxmlformats.org/officeDocument/2006/relationships/customXml" Target="../customXml/item9.xml"/><Relationship Id="rId62" Type="http://schemas.openxmlformats.org/officeDocument/2006/relationships/customXml" Target="../customXml/item8.xml"/><Relationship Id="rId61" Type="http://schemas.openxmlformats.org/officeDocument/2006/relationships/customXml" Target="../customXml/item7.xml"/><Relationship Id="rId60" Type="http://schemas.openxmlformats.org/officeDocument/2006/relationships/customXml" Target="../customXml/item6.xml"/><Relationship Id="rId6" Type="http://schemas.openxmlformats.org/officeDocument/2006/relationships/slide" Target="slides/slide4.xml"/><Relationship Id="rId59" Type="http://schemas.openxmlformats.org/officeDocument/2006/relationships/customXml" Target="../customXml/item5.xml"/><Relationship Id="rId58" Type="http://schemas.openxmlformats.org/officeDocument/2006/relationships/customXml" Target="../customXml/item4.xml"/><Relationship Id="rId57" Type="http://schemas.openxmlformats.org/officeDocument/2006/relationships/customXml" Target="../customXml/item3.xml"/><Relationship Id="rId56" Type="http://schemas.openxmlformats.org/officeDocument/2006/relationships/customXml" Target="../customXml/item2.xml"/><Relationship Id="rId55" Type="http://schemas.openxmlformats.org/officeDocument/2006/relationships/customXml" Target="../customXml/item1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../media/image5.png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4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7.png"/><Relationship Id="rId7" Type="http://schemas.openxmlformats.org/officeDocument/2006/relationships/tags" Target="../tags/tag22.xml"/><Relationship Id="rId6" Type="http://schemas.openxmlformats.org/officeDocument/2006/relationships/image" Target="../media/image6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png"/><Relationship Id="rId7" Type="http://schemas.openxmlformats.org/officeDocument/2006/relationships/tags" Target="../tags/tag29.xml"/><Relationship Id="rId6" Type="http://schemas.openxmlformats.org/officeDocument/2006/relationships/image" Target="../media/image8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image" Target="../media/image11.png"/><Relationship Id="rId7" Type="http://schemas.openxmlformats.org/officeDocument/2006/relationships/tags" Target="../tags/tag35.xml"/><Relationship Id="rId6" Type="http://schemas.openxmlformats.org/officeDocument/2006/relationships/image" Target="../media/image10.png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8.xml"/><Relationship Id="rId4" Type="http://schemas.openxmlformats.org/officeDocument/2006/relationships/image" Target="../media/image14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image" Target="../media/image15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0.xml"/><Relationship Id="rId4" Type="http://schemas.openxmlformats.org/officeDocument/2006/relationships/image" Target="../media/image17.png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9.xml"/><Relationship Id="rId6" Type="http://schemas.openxmlformats.org/officeDocument/2006/relationships/image" Target="../media/image20.png"/><Relationship Id="rId5" Type="http://schemas.openxmlformats.org/officeDocument/2006/relationships/tags" Target="../tags/tag68.xml"/><Relationship Id="rId4" Type="http://schemas.openxmlformats.org/officeDocument/2006/relationships/image" Target="../media/image19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.png"/><Relationship Id="rId1" Type="http://schemas.openxmlformats.org/officeDocument/2006/relationships/tags" Target="../tags/tag7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image" Target="../media/image22.png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oleObject" Target="../embeddings/oleObject1.bin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25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1.xml"/><Relationship Id="rId4" Type="http://schemas.openxmlformats.org/officeDocument/2006/relationships/image" Target="../media/image29.png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.bin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image" Target="../media/image31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image" Target="../media/image32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image" Target="../media/image33.png"/><Relationship Id="rId1" Type="http://schemas.openxmlformats.org/officeDocument/2006/relationships/tags" Target="../tags/tag136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6.xml"/><Relationship Id="rId3" Type="http://schemas.openxmlformats.org/officeDocument/2006/relationships/image" Target="../media/image37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png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5.xml"/><Relationship Id="rId4" Type="http://schemas.openxmlformats.org/officeDocument/2006/relationships/image" Target="../media/image43.png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网络命令与排障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网络命令与排障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03790" cy="25292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互联网普及的今天，网络变得越来越重要，相对的，工程师面对的网络问题也越来越多，做为一名程序员，相信都遇到过如下这些场景。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RPC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调远程接口失败了，网络不通？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RPC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远程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接口超时了，是网络导致的？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RPC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调远程接口，调用端很慢，但服务端说它很快，如何界定问题在哪？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911860" y="3654425"/>
            <a:ext cx="10003790" cy="25292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因此，本篇文章，带大家了解如何应对上面问题，如下：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学习如何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，以及其它常用网络命令。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学习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如何使用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抓包工具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抓取并分析数据包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学习如何使用抓包工具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判别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RPC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调用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问题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，在调用端、还是服务端，还是网络侧。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66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DNS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0379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众所周知，网络分多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层，因此我们需要检测各层网络的连通性情况。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30" name="图片 12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3722370"/>
            <a:ext cx="2971800" cy="137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911860" y="306895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DNS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连通性检测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4368165" y="170116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dig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使用示例：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439920" y="2348865"/>
            <a:ext cx="7021830" cy="343725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440555" y="5805805"/>
            <a:ext cx="7075805" cy="4337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可以看到根据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DNS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查询到的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，以及耗时情况！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IP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连通性检测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0379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网络层连通情况，可以通过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ping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命令检测，如下：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911860" y="306895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IP连通性检测</a:t>
            </a:r>
            <a:endParaRPr kumimoji="0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368165" y="184467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ping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使用示例：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31" name="图片 130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83615" y="3716973"/>
            <a:ext cx="2571750" cy="752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368165" y="2564130"/>
            <a:ext cx="6756400" cy="19685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4368165" y="4653280"/>
            <a:ext cx="7075805" cy="43370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可以看到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icmp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网络包往返耗时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(rtt)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情况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路由情况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03790" cy="84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包是通过路由器逐步路由转发后，到达目标主机的，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因此当网络慢时，可能需要检测路由情况，做为反馈给网络运营商的证据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51815" y="2133600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路由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kumimoji="0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368165" y="184467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mtr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使用示例：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86580" y="2493010"/>
            <a:ext cx="7625080" cy="3331210"/>
          </a:xfrm>
          <a:prstGeom prst="rect">
            <a:avLst/>
          </a:prstGeom>
        </p:spPr>
      </p:pic>
      <p:pic>
        <p:nvPicPr>
          <p:cNvPr id="133" name="图片 13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1815" y="2708910"/>
            <a:ext cx="3743960" cy="30524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tcp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03790" cy="84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端口连通性，常用于检测后端进程是否存活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79425" y="205549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kumimoji="0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368165" y="184467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hping3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使用示例：</a:t>
            </a:r>
            <a:endParaRPr kumimoji="0" lang="zh-CN" altLang="en-US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35" name="图片 134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9425" y="2708910"/>
            <a:ext cx="3495675" cy="2286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039235" y="2708910"/>
            <a:ext cx="8077200" cy="19812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767080" y="5013325"/>
            <a:ext cx="10003790" cy="84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注：常规端口检测使用的是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握手包，而这个过程由操作系统完成，进程还没参与进来，因此端口检测的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rtt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与进程运行性能无关！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http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接口检测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003790" cy="84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接口层面，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协议可能直接通过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curl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命令检测，如下：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39470" y="2055495"/>
            <a:ext cx="2919730" cy="653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kumimoji="0" lang="zh-CN" altLang="en-US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协议接口</a:t>
            </a:r>
            <a:r>
              <a:rPr kumimoji="0" sz="2000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kumimoji="0" sz="2000" b="1" i="0" u="none" strike="noStrike" cap="none" spc="0" normalizeH="0" baseline="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67715" y="4365625"/>
            <a:ext cx="10003790" cy="84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注：其它协议接口，如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grpc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thrift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接口测试，目前还没有比较流行的工具，实在需要，可以去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github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上找找看。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36" name="图片 135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9470" y="2708910"/>
            <a:ext cx="5372100" cy="137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一键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053465"/>
            <a:ext cx="10003790" cy="8413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实际上，由于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curl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做为一个网络命令，也一定会经过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DNS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解析、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层、接口层，因此，通过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curl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就可以一键检测所有层连通性。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39" name="图片 138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712085" y="1916748"/>
            <a:ext cx="5772150" cy="4410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检测网络连通性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一键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检测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053465"/>
            <a:ext cx="10003790" cy="6299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curl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也可以一键检测各阶段耗时，如下：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0" name="图片 13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15865" y="1700848"/>
            <a:ext cx="7067550" cy="471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695325" y="2708910"/>
            <a:ext cx="4239260" cy="26485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time_namelookup</a:t>
            </a:r>
            <a:r>
              <a:rPr lang="zh-CN" alt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lang="en-US" altLang="zh-CN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DNS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查询完成时间</a:t>
            </a:r>
            <a:endParaRPr lang="zh-CN" altLang="en-US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time_connect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连接建立完成时间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time_starttransfer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接收到第一个响应数据包时间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time_total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响应数据全部接收完成的时间。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66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常用网络命令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统计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连接情况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053465"/>
            <a:ext cx="10003790" cy="9537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配合一些文本命令，可统计出各状态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socket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的数量，这有助于了解当前系统连接现状。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1" name="图片 14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7488" y="2204720"/>
            <a:ext cx="566737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911860" y="4256405"/>
            <a:ext cx="10587990" cy="13068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需格外关注TIME_WAIT与CLOSE_WAIT状态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endParaRPr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如果TIME_WAIT过多，可考虑优化内核网络参数或使用连接池</a:t>
            </a:r>
            <a:endParaRPr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如果CLOSE_WAIT过多，就需要检查程序代码中哪里出现了连接泄露，导致未关闭连接</a:t>
            </a:r>
            <a:endParaRPr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统计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连接情况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053465"/>
            <a:ext cx="10003790" cy="6597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有时，需要看看</a:t>
            </a:r>
            <a:r>
              <a:rPr 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连接的主要来源或去向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，也可通过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配合文本命令统计，如下：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2" name="图片 14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370" y="1772603"/>
            <a:ext cx="9772650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查看丢包情况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网卡层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053465"/>
            <a:ext cx="10003790" cy="6597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ifconfig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可查看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网卡层丢包情况，如下：</a:t>
            </a:r>
            <a:endParaRPr kumimoji="0" 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7080" y="1713230"/>
            <a:ext cx="8362950" cy="200025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767080" y="3789045"/>
            <a:ext cx="10003790" cy="6597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网卡详细统计数据，可通过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ethtool -S ens33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查看丢包情况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ip/tcp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981710"/>
            <a:ext cx="10003790" cy="50419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可查看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ip/tcp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层丢包重传等情况，如下：</a:t>
            </a:r>
            <a:endParaRPr kumimoji="0" 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767080" y="5792470"/>
            <a:ext cx="10003790" cy="39052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详细统计数据，可通过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nstat -a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4" name="图片 143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7080" y="1557020"/>
            <a:ext cx="8172450" cy="41643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查看丢包情况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内核丢包位置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981710"/>
            <a:ext cx="10003790" cy="1534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内核中，有很多种原因会导致丢包，如网卡缓冲区不够、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连接队列满等，因此，很多时候，需要找到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内核丢包的调用栈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，才能确定具体的丢包原因。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stackcount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追踪内核丢包函数</a:t>
            </a:r>
            <a:r>
              <a:rPr lang="zh-CN" altLang="en-US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kfree_skb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即可，如下：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5" name="图片 14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543" y="2853055"/>
            <a:ext cx="4467225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96000" y="2564765"/>
            <a:ext cx="3562350" cy="340995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22935" y="4440555"/>
            <a:ext cx="5333365" cy="15341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注：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还有一个工具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dropwatch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，也常用于跟踪丢包。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网络抓包工具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网络抓包工具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tcpdump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10458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对于线上环境的抓包，一般流程是使用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抓取网络包，然后下载后本地，使用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来分析。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717165" y="2393950"/>
            <a:ext cx="4969510" cy="890905"/>
            <a:chOff x="2280" y="4215"/>
            <a:chExt cx="7826" cy="1403"/>
          </a:xfrm>
        </p:grpSpPr>
        <p:grpSp>
          <p:nvGrpSpPr>
            <p:cNvPr id="9" name="组合 8"/>
            <p:cNvGrpSpPr/>
            <p:nvPr/>
          </p:nvGrpSpPr>
          <p:grpSpPr>
            <a:xfrm>
              <a:off x="2280" y="4276"/>
              <a:ext cx="2593" cy="1342"/>
              <a:chOff x="2280" y="4276"/>
              <a:chExt cx="2593" cy="1342"/>
            </a:xfrm>
          </p:grpSpPr>
          <p:sp>
            <p:nvSpPr>
              <p:cNvPr id="5" name="圆角矩形 4"/>
              <p:cNvSpPr/>
              <p:nvPr/>
            </p:nvSpPr>
            <p:spPr>
              <a:xfrm>
                <a:off x="2343" y="4276"/>
                <a:ext cx="2495" cy="1342"/>
              </a:xfrm>
              <a:prstGeom prst="roundRect">
                <a:avLst/>
              </a:prstGeom>
            </p:spPr>
            <p:style>
              <a:lnRef idx="2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FZYanSongS-EB-GB"/>
                  <a:ea typeface="FZYanSongS-EB-GB"/>
                  <a:cs typeface="FZYanSongS-EB-GB"/>
                  <a:sym typeface="FZYanSongS-EB-GB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343" y="4276"/>
                <a:ext cx="1795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线上环境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280" y="4833"/>
                <a:ext cx="2593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tcpdump</a:t>
                </a: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抓包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7446" y="4276"/>
              <a:ext cx="2661" cy="1342"/>
              <a:chOff x="2336" y="4276"/>
              <a:chExt cx="2661" cy="1342"/>
            </a:xfrm>
          </p:grpSpPr>
          <p:sp>
            <p:nvSpPr>
              <p:cNvPr id="11" name="圆角矩形 10"/>
              <p:cNvSpPr/>
              <p:nvPr>
                <p:custDataLst>
                  <p:tags r:id="rId4"/>
                </p:custDataLst>
              </p:nvPr>
            </p:nvSpPr>
            <p:spPr>
              <a:xfrm>
                <a:off x="2343" y="4276"/>
                <a:ext cx="2641" cy="1342"/>
              </a:xfrm>
              <a:prstGeom prst="roundRect">
                <a:avLst/>
              </a:prstGeom>
            </p:spPr>
            <p:style>
              <a:lnRef idx="2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no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altLang="zh-CN" sz="1800" b="0" i="0" u="none" strike="noStrike" cap="none" spc="0" normalizeH="0" baseline="0">
                  <a:ln>
                    <a:noFill/>
                  </a:ln>
                  <a:solidFill>
                    <a:srgbClr val="222222"/>
                  </a:solidFill>
                  <a:effectLst/>
                  <a:uFillTx/>
                  <a:latin typeface="FZYanSongS-EB-GB"/>
                  <a:ea typeface="FZYanSongS-EB-GB"/>
                  <a:cs typeface="FZYanSongS-EB-GB"/>
                  <a:sym typeface="FZYanSongS-EB-GB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343" y="4276"/>
                <a:ext cx="1795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本机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336" y="4843"/>
                <a:ext cx="2661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none"/>
            </p:style>
            <p:txBody>
              <a:bodyPr rot="0" vertOverflow="overflow" horzOverflow="overflow" vert="horz" wrap="square" lIns="50800" tIns="50800" rIns="50800" bIns="50800" numCol="1" spcCol="38100" rtlCol="0" anchor="ctr" forceAA="0" upright="0">
                <a:spAutoFit/>
              </a:bodyPr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wireshark</a:t>
                </a:r>
                <a:r>
                  <a:rPr kumimoji="0" lang="zh-CN" altLang="en-US" sz="1800" b="1" i="0" u="none" strike="noStrike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FillTx/>
                    <a:latin typeface="OPlusSans 3.0" panose="00000500000000000000" charset="-122"/>
                    <a:ea typeface="OPlusSans 3.0" panose="00000500000000000000" charset="-122"/>
                    <a:cs typeface="FZYanSongS-EB-GB"/>
                    <a:sym typeface="FZYanSongS-EB-GB"/>
                  </a:rPr>
                  <a:t>分析</a:t>
                </a:r>
                <a:endParaRPr kumimoji="0" lang="zh-CN" altLang="en-US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endParaRPr>
              </a:p>
            </p:txBody>
          </p:sp>
        </p:grpSp>
        <p:sp>
          <p:nvSpPr>
            <p:cNvPr id="14" name="右箭头 13"/>
            <p:cNvSpPr/>
            <p:nvPr/>
          </p:nvSpPr>
          <p:spPr>
            <a:xfrm>
              <a:off x="5178" y="4720"/>
              <a:ext cx="2041" cy="453"/>
            </a:xfrm>
            <a:prstGeom prst="rightArrow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FillTx/>
                <a:latin typeface="FZYanSongS-EB-GB"/>
                <a:ea typeface="FZYanSongS-EB-GB"/>
                <a:cs typeface="FZYanSongS-EB-GB"/>
                <a:sym typeface="FZYanSongS-EB-GB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5333" y="4215"/>
              <a:ext cx="1542" cy="505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no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sz="18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下载</a:t>
              </a:r>
              <a:endParaRPr kumimoji="0" lang="zh-CN" sz="18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781050" y="3580765"/>
            <a:ext cx="10003790" cy="404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的抓包的最常用选项，抓包文件若太大，可考虑压缩后再下载，如下：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48" name="图片 147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7353" y="4077335"/>
            <a:ext cx="11268075" cy="1981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网络抓包工具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wireshark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455910" cy="6330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是一个流量分析工具，它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支持大量的网络协议，如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协议，它的主界面如下：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515" y="1772920"/>
            <a:ext cx="9144000" cy="45275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12090" y="2047240"/>
            <a:ext cx="814070" cy="6623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显示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过滤器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cxnSp>
        <p:nvCxnSpPr>
          <p:cNvPr id="19" name="直接箭头连接符 18"/>
          <p:cNvCxnSpPr>
            <a:stCxn id="18" idx="3"/>
            <a:endCxn id="20" idx="1"/>
          </p:cNvCxnSpPr>
          <p:nvPr/>
        </p:nvCxnSpPr>
        <p:spPr>
          <a:xfrm>
            <a:off x="1026160" y="2378710"/>
            <a:ext cx="245745" cy="635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1271905" y="2277110"/>
            <a:ext cx="8784590" cy="215900"/>
          </a:xfrm>
          <a:prstGeom prst="rect">
            <a:avLst/>
          </a:prstGeom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FZYanSongS-EB-GB"/>
              <a:ea typeface="FZYanSongS-EB-GB"/>
              <a:cs typeface="FZYanSongS-EB-GB"/>
              <a:sym typeface="FZYanSongS-EB-GB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3055620" y="2014855"/>
            <a:ext cx="327660" cy="213995"/>
          </a:xfrm>
          <a:prstGeom prst="rect">
            <a:avLst/>
          </a:prstGeom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FZYanSongS-EB-GB"/>
              <a:ea typeface="FZYanSongS-EB-GB"/>
              <a:cs typeface="FZYanSongS-EB-GB"/>
              <a:sym typeface="FZYanSongS-EB-GB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1812925" y="1590675"/>
            <a:ext cx="905510" cy="2895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查找包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cxnSp>
        <p:nvCxnSpPr>
          <p:cNvPr id="23" name="直接箭头连接符 22"/>
          <p:cNvCxnSpPr>
            <a:stCxn id="22" idx="2"/>
            <a:endCxn id="21" idx="1"/>
          </p:cNvCxnSpPr>
          <p:nvPr>
            <p:custDataLst>
              <p:tags r:id="rId7"/>
            </p:custDataLst>
          </p:nvPr>
        </p:nvCxnSpPr>
        <p:spPr>
          <a:xfrm>
            <a:off x="2265680" y="1880235"/>
            <a:ext cx="789940" cy="24193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>
            <p:custDataLst>
              <p:tags r:id="rId8"/>
            </p:custDataLst>
          </p:nvPr>
        </p:nvSpPr>
        <p:spPr>
          <a:xfrm>
            <a:off x="1271905" y="2839720"/>
            <a:ext cx="8784590" cy="1598930"/>
          </a:xfrm>
          <a:prstGeom prst="rect">
            <a:avLst/>
          </a:prstGeom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FZYanSongS-EB-GB"/>
              <a:ea typeface="FZYanSongS-EB-GB"/>
              <a:cs typeface="FZYanSongS-EB-GB"/>
              <a:sym typeface="FZYanSongS-EB-GB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10379075" y="3494405"/>
            <a:ext cx="792480" cy="2895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包列表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cxnSp>
        <p:nvCxnSpPr>
          <p:cNvPr id="26" name="直接箭头连接符 25"/>
          <p:cNvCxnSpPr>
            <a:stCxn id="25" idx="1"/>
            <a:endCxn id="24" idx="3"/>
          </p:cNvCxnSpPr>
          <p:nvPr>
            <p:custDataLst>
              <p:tags r:id="rId10"/>
            </p:custDataLst>
          </p:nvPr>
        </p:nvCxnSpPr>
        <p:spPr>
          <a:xfrm flipH="1">
            <a:off x="10056495" y="3639185"/>
            <a:ext cx="32258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11"/>
            </p:custDataLst>
          </p:nvPr>
        </p:nvSpPr>
        <p:spPr>
          <a:xfrm>
            <a:off x="1199515" y="4641215"/>
            <a:ext cx="8784590" cy="1598930"/>
          </a:xfrm>
          <a:prstGeom prst="rect">
            <a:avLst/>
          </a:prstGeom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222222"/>
              </a:solidFill>
              <a:effectLst/>
              <a:uFillTx/>
              <a:latin typeface="FZYanSongS-EB-GB"/>
              <a:ea typeface="FZYanSongS-EB-GB"/>
              <a:cs typeface="FZYanSongS-EB-GB"/>
              <a:sym typeface="FZYanSongS-EB-GB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0379075" y="5295900"/>
            <a:ext cx="792480" cy="2895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包详情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cxnSp>
        <p:nvCxnSpPr>
          <p:cNvPr id="29" name="直接箭头连接符 28"/>
          <p:cNvCxnSpPr>
            <a:stCxn id="28" idx="1"/>
            <a:endCxn id="27" idx="3"/>
          </p:cNvCxnSpPr>
          <p:nvPr>
            <p:custDataLst>
              <p:tags r:id="rId13"/>
            </p:custDataLst>
          </p:nvPr>
        </p:nvCxnSpPr>
        <p:spPr>
          <a:xfrm flipH="1">
            <a:off x="9984105" y="5440680"/>
            <a:ext cx="39497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10272395" y="2348865"/>
            <a:ext cx="1363980" cy="546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rPr>
              <a:t>包列表显示字段与排序</a:t>
            </a:r>
            <a:endParaRPr kumimoji="0" lang="zh-CN" altLang="en-US" sz="1800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FZYanSongS-EB-GB"/>
              <a:sym typeface="FZYanSongS-EB-GB"/>
            </a:endParaRPr>
          </a:p>
        </p:txBody>
      </p:sp>
      <p:cxnSp>
        <p:nvCxnSpPr>
          <p:cNvPr id="31" name="直接箭头连接符 30"/>
          <p:cNvCxnSpPr>
            <a:stCxn id="30" idx="1"/>
          </p:cNvCxnSpPr>
          <p:nvPr>
            <p:custDataLst>
              <p:tags r:id="rId15"/>
            </p:custDataLst>
          </p:nvPr>
        </p:nvCxnSpPr>
        <p:spPr>
          <a:xfrm flipH="1">
            <a:off x="6816090" y="2621915"/>
            <a:ext cx="3456305" cy="1524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网络抓包工具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wireshark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268730"/>
            <a:ext cx="10003790" cy="272986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支持大量的用法，本篇主要介绍如下内容：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如何指定网络包解析协议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如何过滤网络包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如何查找网络包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如何添加自定义列及排序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调用端慢、服务端快的分析案例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简单的统计分析功能</a:t>
            </a:r>
            <a:endParaRPr kumimoji="0" lang="zh-CN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指定解析协议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7016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默认将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80/8080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端口包解析为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协议，将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3306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端口包解析为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协议，但我们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使用的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3961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端口，因此需要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告诉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协议解析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3961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端口流量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950" y="1988820"/>
            <a:ext cx="7099300" cy="4083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指定解析协议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3886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3961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端口的网络包，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选择使用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协议解析，如下：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9470" y="5877560"/>
            <a:ext cx="10003790" cy="3886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注：如果分析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流量，不是使用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80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端口的话，就需要选择端口以及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9470" y="1470660"/>
            <a:ext cx="7975600" cy="4425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过滤包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4305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选择完协议后，在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显示过滤器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中，就可以使用协议特定的字段来过滤数据包了。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3615" y="4147820"/>
            <a:ext cx="10007600" cy="16510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94715" y="3669665"/>
            <a:ext cx="10003790" cy="4013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mysql.query ~ 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"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^select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"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，可正则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过滤出查询类型的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839470" y="1765300"/>
            <a:ext cx="10003790" cy="4445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mysql.query contains 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"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id=24218</a:t>
            </a: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"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，可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过滤出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中包含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id=24218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的包，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11" name="对象 10"/>
          <p:cNvGraphicFramePr/>
          <p:nvPr>
            <p:custDataLst>
              <p:tags r:id="rId7"/>
            </p:custDataLst>
          </p:nvPr>
        </p:nvGraphicFramePr>
        <p:xfrm>
          <a:off x="983615" y="2241550"/>
          <a:ext cx="10037445" cy="1182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8" imgW="7981950" imgH="774700" progId="Paint.Picture">
                  <p:embed/>
                </p:oleObj>
              </mc:Choice>
              <mc:Fallback>
                <p:oleObj name="" r:id="rId8" imgW="7981950" imgH="774700" progId="Paint.Picture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83615" y="2241550"/>
                        <a:ext cx="10037445" cy="1182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过滤包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4305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对于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不支持解析的网络协议，我们也可以通过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tcp.payload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的过滤包，如下：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470" y="1628775"/>
            <a:ext cx="9956165" cy="4522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过滤包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4305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的显示过滤器，还支持很多其它语法，常用如下：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39470" y="1765300"/>
            <a:ext cx="10003790" cy="29127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：过滤出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协议的包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tcp.port == 80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：过滤出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80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端口的包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ip.addr == 192.168.61.1 and (tcp.port == 8080 or tcp.port == 3306)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：过滤出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地址是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192.168.61.1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，且端口是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8080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3306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的包。</a:t>
            </a:r>
            <a:endParaRPr lang="zh-CN" altLang="en-US" sz="200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en-US" altLang="zh-CN" sz="200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mysql.query contains "id=24218"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：过滤出包含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id=24218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的包。</a:t>
            </a:r>
            <a:endParaRPr lang="zh-CN" altLang="en-US" sz="2000">
              <a:ln w="31750">
                <a:noFill/>
              </a:ln>
              <a:solidFill>
                <a:srgbClr val="FF9A2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tcp.payload ~ "select"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：正则过滤出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包中包含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select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字符串的包。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查找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003790" cy="5492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除了过滤包外，还可以查找包。使用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显示过滤器查找包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470" y="1602105"/>
            <a:ext cx="9061450" cy="4711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查找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21080"/>
            <a:ext cx="10003790" cy="3886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也可以在包数据体中，使用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正则表达式查找包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860" y="1484630"/>
            <a:ext cx="9055100" cy="44704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94715" y="5985510"/>
            <a:ext cx="10003790" cy="3886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查找包与显示过滤器区别是，查找包只会定位到目标数据包，但不会过滤包列表。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添加列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21080"/>
            <a:ext cx="10298430" cy="5638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中默认列表头，显示了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、协议等信息，但有时为了方便分析，需要添加一些列，如下：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6" name="对象 5"/>
          <p:cNvGraphicFramePr/>
          <p:nvPr>
            <p:custDataLst>
              <p:tags r:id="rId3"/>
            </p:custDataLst>
          </p:nvPr>
        </p:nvGraphicFramePr>
        <p:xfrm>
          <a:off x="1199515" y="1701165"/>
          <a:ext cx="8985885" cy="4537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" imgW="8978900" imgH="4533900" progId="Paint.Picture">
                  <p:embed/>
                </p:oleObj>
              </mc:Choice>
              <mc:Fallback>
                <p:oleObj name="" r:id="rId4" imgW="8978900" imgH="45339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9515" y="1701165"/>
                        <a:ext cx="8985885" cy="4537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添加列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21080"/>
            <a:ext cx="10003790" cy="6286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流量，经常会添加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tcp.time_delta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tcp.analysis.ack_rtt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这两列，如下：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48300" y="1701165"/>
            <a:ext cx="6565900" cy="46863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623570" y="2421255"/>
            <a:ext cx="4745990" cy="19602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tcp.time_delta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：当前包与同连接中上一个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包的时间间隔。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tcp.analysis.ack_rtt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确认包与其被确认包的时间间隔。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包列表排序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21080"/>
            <a:ext cx="10003790" cy="6286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在表头点击列，即可按此列排序包，如下，按包大小倒序排列：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370" y="1844675"/>
            <a:ext cx="9105900" cy="30353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911860" y="4947920"/>
            <a:ext cx="10003790" cy="6286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这一般用来看最大值与最小值。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740775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调用端慢，服务端快？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案例：调用端慢，服务端快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715" y="1021080"/>
            <a:ext cx="10429240" cy="49250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有时会遇到这种情况，在全链路调用日志中发现，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调用端接口时耗时很高，但服务端处理的耗时又很短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，该如何分辨这个问题呢？是调用端问题、网络问题、还是服务端问题？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其实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全链路调用日志，记录的耗时有盲区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在调用端，请求耗时慢，可能会包含等待连接池、锁、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等的耗时，不一定是服务端处理慢。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在服务端，处理耗时快，可能会缺失请求已到达，但无空闲线程处理的耗时，不一定是服务端处理快。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因此，其实通过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网络抓包来分析耗时，是最准确的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，因为抓到请求发送的数据包，说明所有发请求的阻塞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代码已执行完，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请求在此刻发出去了，收包同理。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案例：调用端慢，服务端快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2" name="图片 151"/>
          <p:cNvPicPr/>
          <p:nvPr/>
        </p:nvPicPr>
        <p:blipFill>
          <a:blip r:embed="rId2"/>
          <a:stretch>
            <a:fillRect/>
          </a:stretch>
        </p:blipFill>
        <p:spPr>
          <a:xfrm>
            <a:off x="767715" y="2132965"/>
            <a:ext cx="10605770" cy="4070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67715" y="908685"/>
            <a:ext cx="10429240" cy="10731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响应数据包由进程处理完请求后回复，而请求的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包由操作系统内核回复，因此：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若是网络慢，则回复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与回复响应包都会慢。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若是网络快处理慢，则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回复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会很快，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回复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响应包会慢。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案例：调用端慢，服务端快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08685"/>
            <a:ext cx="10429240" cy="158496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其中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回复时间，对应着</a:t>
            </a:r>
            <a:r>
              <a:rPr lang="en-US" altLang="zh-CN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tcp.analysis.ack_rtt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，而响应包回复时间，对应着</a:t>
            </a:r>
            <a:r>
              <a:rPr lang="en-US" altLang="zh-CN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tcp.time_delta</a:t>
            </a:r>
            <a:r>
              <a:rPr lang="zh-CN" alt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因此我们在调用端抓包，然后分析如下：</a:t>
            </a:r>
            <a:endParaRPr lang="zh-CN" altLang="en-US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lang="zh-CN" altLang="en-US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过滤出响应包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，然后</a:t>
            </a:r>
            <a:r>
              <a:rPr lang="zh-CN" alt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按</a:t>
            </a:r>
            <a:r>
              <a:rPr lang="en-US" altLang="zh-CN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tcp.time_delta</a:t>
            </a:r>
            <a:r>
              <a:rPr lang="zh-CN" altLang="en-US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倒序排序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，则排在最前面的就是响应最慢的包。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3" name="图片 152"/>
          <p:cNvPicPr/>
          <p:nvPr/>
        </p:nvPicPr>
        <p:blipFill>
          <a:blip r:embed="rId3"/>
          <a:stretch>
            <a:fillRect/>
          </a:stretch>
        </p:blipFill>
        <p:spPr>
          <a:xfrm>
            <a:off x="197485" y="2708910"/>
            <a:ext cx="11797665" cy="3598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案例：调用端慢，服务端快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08685"/>
            <a:ext cx="10429240" cy="10731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选中慢包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清除掉显示过滤器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，再将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排序恢复为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No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升序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4" name="图片 153"/>
          <p:cNvPicPr/>
          <p:nvPr/>
        </p:nvPicPr>
        <p:blipFill>
          <a:blip r:embed="rId3"/>
          <a:stretch>
            <a:fillRect/>
          </a:stretch>
        </p:blipFill>
        <p:spPr>
          <a:xfrm>
            <a:off x="407035" y="1844675"/>
            <a:ext cx="11579225" cy="2451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案例：调用端慢，服务端快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08685"/>
            <a:ext cx="10429240" cy="518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3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然后选中慢包，右键选择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对话过滤器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-&gt; TCP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，以只看此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连接的数据包，如下：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5" name="图片 154"/>
          <p:cNvPicPr/>
          <p:nvPr/>
        </p:nvPicPr>
        <p:blipFill>
          <a:blip r:embed="rId3"/>
          <a:stretch>
            <a:fillRect/>
          </a:stretch>
        </p:blipFill>
        <p:spPr>
          <a:xfrm>
            <a:off x="407035" y="1513205"/>
            <a:ext cx="11471910" cy="50647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案例：调用端慢，服务端快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1052830"/>
            <a:ext cx="10832465" cy="518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4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对比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tcpDelta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ack_rtt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的值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，发现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ack_rtt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很小，而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tcpDelta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很大，而说明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是服务端慢，而不是网络慢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6" name="图片 155"/>
          <p:cNvPicPr/>
          <p:nvPr/>
        </p:nvPicPr>
        <p:blipFill>
          <a:blip r:embed="rId3"/>
          <a:stretch>
            <a:fillRect/>
          </a:stretch>
        </p:blipFill>
        <p:spPr>
          <a:xfrm>
            <a:off x="263525" y="1844675"/>
            <a:ext cx="11664950" cy="3375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767715" y="5300980"/>
            <a:ext cx="10429240" cy="5187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而如果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ack_rtt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tcpDelta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都很小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，则说明是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调用端慢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！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740775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流量统计分析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流量统计分析</a:t>
            </a:r>
            <a:endParaRPr lang="zh-CN" altLang="en-US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08685"/>
            <a:ext cx="10832465" cy="920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也可以对网络包做一些统计分析，它预设了一些统计图表，如按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会话、端点、分组长度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等统计，不过最常用的是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I/O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图表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，它可以做一些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自定义的统计分析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59560" y="2204720"/>
            <a:ext cx="7270750" cy="2755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图表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：统计每秒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收发包数量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08685"/>
            <a:ext cx="10832465" cy="4610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如下，新建了一个图表，名称为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QPS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，显示过滤器为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Y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轴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(Y Axis)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Packets(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包数量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71905" y="1435735"/>
            <a:ext cx="8985250" cy="5025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图表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：统计平均响应时间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836930"/>
            <a:ext cx="10832465" cy="6483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如下，新建了一个图表，名称为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Latency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，显示过滤器为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tcp.srcport &lt; 10000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，这表示响应包，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Y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轴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(Y Axis)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AVG(Y Field)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Y Field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为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tcp.time_delta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，这表示响应包平均耗时，如下：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370" y="1557020"/>
            <a:ext cx="8985250" cy="4979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740775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其它抓包命令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文本抓包命令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ngrep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81075"/>
            <a:ext cx="10832465" cy="6483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ngrep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是一个文本化的抓包命令，常用于包中有字符串的场景，如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等，如下：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58" name="图片 157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79650" y="1772920"/>
            <a:ext cx="6267450" cy="137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9" name="图片 158"/>
          <p:cNvPicPr/>
          <p:nvPr/>
        </p:nvPicPr>
        <p:blipFill>
          <a:blip r:embed="rId5"/>
          <a:srcRect t="-975" r="41714" b="48706"/>
          <a:stretch>
            <a:fillRect/>
          </a:stretch>
        </p:blipFill>
        <p:spPr>
          <a:xfrm>
            <a:off x="1919605" y="3356610"/>
            <a:ext cx="6911975" cy="1871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39470" y="5300980"/>
            <a:ext cx="10832465" cy="72898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ngrep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常用于确认请求数据的正确性，比如当代码中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查不到数据时，可用此确认发送给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MySQL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的最终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是否一致，避免系统中有未知的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SQL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改写代码，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ngrep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不可用时，可使用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 -A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代替。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8077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文本抓包命令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tshark</a:t>
            </a:r>
            <a:endParaRPr lang="en-US" alt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981075"/>
            <a:ext cx="10832465" cy="6483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tshark</a:t>
            </a:r>
            <a:r>
              <a:rPr kumimoji="0" 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的命令行版本，常见用法如下：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60" name="图片 15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1543" y="1701165"/>
            <a:ext cx="9267825" cy="320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39470" y="5013325"/>
            <a:ext cx="10832465" cy="64833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tcpdump+wireshark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是离线分析场景，</a:t>
            </a:r>
            <a:r>
              <a:rPr kumimoji="0" lang="en-US" altLang="zh-CN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tshark</a:t>
            </a:r>
            <a:r>
              <a:rPr kumimoji="0" lang="zh-CN" altLang="en-US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一般用于一些需要实时分析的场景。</a:t>
            </a:r>
            <a:endParaRPr kumimoji="0" lang="zh-CN" altLang="en-US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9980930" cy="48463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ping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mtr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hping3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curl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可以用于检测各层网络连通性，以及测试网络耗时。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基于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配合文本命令可统计网络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socket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分布情况，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ifconfig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netstat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则可以查看网络丢包情况，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lang="en-US" alt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stackcount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可用于定位内核丢包调用栈。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tcpdump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可用于抓包，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用于分析流量，借助</a:t>
            </a:r>
            <a:r>
              <a:rPr lang="en-US" altLang="zh-CN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tcp.analysis.ack_rtt</a:t>
            </a:r>
            <a:r>
              <a:rPr lang="zh-CN" altLang="en-US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lang="en-US" altLang="zh-CN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tcp.time_delta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可用于判断是网络慢、调用端慢、还是服务端慢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也可对流量做统计分析，比如包吞吐量、响应时间等。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其它抓包命令，如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ngrep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常用于文本抓包，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tshark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是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wireshark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的命令行版本等等。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9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0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1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2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3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4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5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6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7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8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169.xml><?xml version="1.0" encoding="utf-8"?>
<ds:datastoreItem xmlns:ds="http://schemas.openxmlformats.org/officeDocument/2006/customXml" ds:itemID="{f7bc79f2-c455-434b-bca9-875aecb91bf3}">
  <ds:schemaRefs/>
</ds:datastoreItem>
</file>

<file path=customXml/itemProps170.xml><?xml version="1.0" encoding="utf-8"?>
<ds:datastoreItem xmlns:ds="http://schemas.openxmlformats.org/officeDocument/2006/customXml" ds:itemID="{3c132078-98b1-4deb-b4fd-a1bec46831f1}">
  <ds:schemaRefs/>
</ds:datastoreItem>
</file>

<file path=customXml/itemProps171.xml><?xml version="1.0" encoding="utf-8"?>
<ds:datastoreItem xmlns:ds="http://schemas.openxmlformats.org/officeDocument/2006/customXml" ds:itemID="{c5c661d3-4756-4449-af8a-01387bd7a269}">
  <ds:schemaRefs/>
</ds:datastoreItem>
</file>

<file path=customXml/itemProps172.xml><?xml version="1.0" encoding="utf-8"?>
<ds:datastoreItem xmlns:ds="http://schemas.openxmlformats.org/officeDocument/2006/customXml" ds:itemID="{58dabdbb-c60f-4057-89a4-b5f24a98f472}">
  <ds:schemaRefs/>
</ds:datastoreItem>
</file>

<file path=customXml/itemProps173.xml><?xml version="1.0" encoding="utf-8"?>
<ds:datastoreItem xmlns:ds="http://schemas.openxmlformats.org/officeDocument/2006/customXml" ds:itemID="{6ad86b82-52b5-47a8-ba6d-e9bbe075a083}">
  <ds:schemaRefs/>
</ds:datastoreItem>
</file>

<file path=customXml/itemProps174.xml><?xml version="1.0" encoding="utf-8"?>
<ds:datastoreItem xmlns:ds="http://schemas.openxmlformats.org/officeDocument/2006/customXml" ds:itemID="{8fd2a99b-51ca-42d4-8a98-ac38bf31ee8f}">
  <ds:schemaRefs/>
</ds:datastoreItem>
</file>

<file path=customXml/itemProps175.xml><?xml version="1.0" encoding="utf-8"?>
<ds:datastoreItem xmlns:ds="http://schemas.openxmlformats.org/officeDocument/2006/customXml" ds:itemID="{667e9340-f440-47f7-819a-cdc7dab5fa96}">
  <ds:schemaRefs/>
</ds:datastoreItem>
</file>

<file path=customXml/itemProps176.xml><?xml version="1.0" encoding="utf-8"?>
<ds:datastoreItem xmlns:ds="http://schemas.openxmlformats.org/officeDocument/2006/customXml" ds:itemID="{ae649005-3b55-4298-8017-458659bde268}">
  <ds:schemaRefs/>
</ds:datastoreItem>
</file>

<file path=customXml/itemProps177.xml><?xml version="1.0" encoding="utf-8"?>
<ds:datastoreItem xmlns:ds="http://schemas.openxmlformats.org/officeDocument/2006/customXml" ds:itemID="{eb8fafd0-aa01-4764-b4e6-708160bc6a19}">
  <ds:schemaRefs/>
</ds:datastoreItem>
</file>

<file path=customXml/itemProps178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4526</Words>
  <Application>WPS 演示</Application>
  <PresentationFormat/>
  <Paragraphs>295</Paragraphs>
  <Slides>47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6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1_New_Template7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2075</cp:revision>
  <dcterms:created xsi:type="dcterms:W3CDTF">2019-02-26T11:09:00Z</dcterms:created>
  <dcterms:modified xsi:type="dcterms:W3CDTF">2024-09-24T16:38:42Z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